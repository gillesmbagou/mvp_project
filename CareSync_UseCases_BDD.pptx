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0"/>
            <a:ext cx="85953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64008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0E7C7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CARESYNC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Scénarios BDD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par l'exemple avec Cucumber / Gherkin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907792"/>
            <a:ext cx="77724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AECB"/>
                </a:solidFill>
              </a:rPr>
              <a:t>PROJET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310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CareSync v1.0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AECB"/>
                </a:solidFill>
              </a:rPr>
              <a:t>MÉTHODE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3310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BDD / Cucumber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AECB"/>
                </a:solidFill>
              </a:rPr>
              <a:t>SLIDES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3310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16 use cases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8FAE"/>
                </a:solidFill>
              </a:rPr>
              <a:t>♥  Coordination des Soins — Maladies Chroniques — Java 21 · Angular 18 · Spring Boot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des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804672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32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8A"/>
                </a:solidFill>
              </a:rPr>
              <a:t>UC-01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1A5C8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24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Sécurité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832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Authentification MFA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64008" cy="8046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837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</a:rPr>
              <a:t>UC-02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213055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Patient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" y="1837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Consultation Dossier Patient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64008" cy="804672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843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A0"/>
                </a:solidFill>
              </a:rPr>
              <a:t>UC-03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313639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6B3FA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136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Soins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" y="2843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Création Plan de Soins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7947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94760"/>
            <a:ext cx="6400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849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UC-04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414223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4142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Alertes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8912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Alertes Cliniques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7772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777240"/>
            <a:ext cx="64008" cy="80467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832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</a:rPr>
              <a:t>UC-05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19472" y="112471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D35400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1124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IoT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9472" y="832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Télésurveillance IoT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17830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783080"/>
            <a:ext cx="64008" cy="8046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1837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UC-06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19472" y="213055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1E8449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Pharma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19472" y="1837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Prescription Électronique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27889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788920"/>
            <a:ext cx="64008" cy="804672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2843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6608"/>
                </a:solidFill>
              </a:rPr>
              <a:t>UC-07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9472" y="313639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7D6608"/>
          </a:solidFill>
          <a:ln/>
        </p:spPr>
      </p:sp>
      <p:sp>
        <p:nvSpPr>
          <p:cNvPr id="44" name="Text 42"/>
          <p:cNvSpPr/>
          <p:nvPr/>
        </p:nvSpPr>
        <p:spPr>
          <a:xfrm>
            <a:off x="4919472" y="3136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Messagerie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19472" y="2843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Messagerie Sécurisée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754880" y="37947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794760"/>
            <a:ext cx="6400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4919472" y="3849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UC-08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19472" y="414223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4919472" y="4142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Analytics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19472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Tableaux de Bord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Stratégie de Test &amp; Intégration Cucumber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0" y="914400"/>
            <a:ext cx="4572000" cy="530352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9144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E2E Tests (Playwright)  —  ~30 scénarios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6400800" cy="530352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 Tests (Cucumber + Spring Boot Test)  —  ~120 scénarios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530352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945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 Tests (JUnit 5 + Mockito)  —  ~500+ scénarios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Pyramide de Tests CareSync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200400"/>
            <a:ext cx="2834640" cy="320040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Structure Feature Files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566160"/>
            <a:ext cx="2633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src/test/resources/features/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auth/        ← UC-01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patient/     ← UC-02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care-plan/   ← UC-03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alerts/      ← UC-04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iot/         ← UC-05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7832" y="320040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3200400"/>
            <a:ext cx="2834640" cy="320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pom.xml — Cucumber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2633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&lt;groupId&gt;io.cucumber&lt;/groupId&gt;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&lt;artifactId&gt;cucumber-spring&lt;/artifactId&gt;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&lt;version&gt;7.x&lt;/version&gt;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81344" y="320040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3200400"/>
            <a:ext cx="2834640" cy="3200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Tags &amp; Profils CI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91072" y="3566160"/>
            <a:ext cx="2633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@smoke     → pipeline PR (rapide)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@critical  → pipeline main branch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@regression → nightly build complet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@wip       → dev en cours (exclus CI)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MFA via Keycloak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Sécurité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D6E9F8"/>
          </a:solidFill>
          <a:ln w="12700">
            <a:solidFill>
              <a:srgbClr val="1A5C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Un professionnel de santé s'authentifie sur CareSync via Keycloak avec MFA (TOTP). L'accès est refusé sans second facteur valide.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Infirmier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Pharmacien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Administrateur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Keycloak realm 'caresync' actif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Compte utilisateur créé et activé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Application TOTP configurée (Google Authenticator)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Connexion réussie avec MFA valide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Refus si mot de passe incorrect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Refus si code TOTP expiré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Déconnexion et invalidation de session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UC-01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src/test/resources/features/auth/authentication.feature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Authentification MFA CareSync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161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professionnel de santé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533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veux m'authentifier de manière sécurisée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4904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d'accéder aux dossiers patients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7647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9019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realm Keycloak "caresync" est opérationnel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0391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l'utilisateur "dr.dupont" existe avec le rôle "MEDECIN"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3134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4505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Connexion réussie avec identifiants et TOTP valides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5877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sur la page de connexion CareSync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249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saisis le login "dr.dupont" et le mot de passe "Password1!"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8620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valide le code TOTP généré par mon application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9992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je suis redirigé vers le tableau de bord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1363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un token JWT valide est présent dans la session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2735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l'audit log enregistre la connexion réussie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5478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6850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Refus de connexion si code TOTP invalide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8221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sur la page de connexion CareSync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9593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saisis le login "dr.dupont" et le mot de passe "Password1!"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0965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saisis le code TOTP "000000" (invalide)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2336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 message d'erreur "Code invalide" s'affiche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3708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reste sur la page de connexion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5079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l'audit log enregistre la tentative échouée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UC-01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Blocage après 5 tentatives échouées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l'utilisateur "dr.dupont" a déjà échoué 4 fois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saisis un mot de passe incorrect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compte est temporairement verrouillé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un email d'alerte est envoyé à l'admin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Déconnexion et invalidation de session Keycloak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connecté en tant que "dr.dupont"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clique sur "Se déconnecter"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la session Keycloak est invalidée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cookie JSESSIONID est supprimé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suis redirigé vers /login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D4EEE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du Dossier Patient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Patient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D4EEEE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Un médecin consulte le dossier complet d'un patient dont il est responsable : antécédents, pathologies actives, traitements en cours et dernières observations.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traitant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spécialiste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Infirmier (lecture seule)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authentifié avec rôle MEDECIN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Patient existant en 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membre de l'équipe de soins du patient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Accès au dossier d'un patient suivi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Affichage de la liste des pathologies actives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Refus d'accès si patient non assigné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@regression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Recherche patient par INS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UC-02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src/test/resources/features/patient/dossier-patient.feature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Consultation Dossier Patient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161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médecin authentifié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533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veux consulter le dossier complet de mes patients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4904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d'assurer un suivi médical de qualité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7647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9019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connecté avec le rôle "MEDECIN"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0391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patient "Jean Martin" (INS: 123456789) existe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1762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suis son médecin traitant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4505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5877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Consultation du dossier complet d'un patient suivi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249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recherche le patient "Jean Martin"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8620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clique sur "Ouvrir le dossier"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9992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je vois la section "Identité" avec les données démographiques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1363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vois 3 pathologies actives dont "Diabète type 2"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2735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vois les 5 dernières observations biologiques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4107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l'accès au dossier est enregistré dans l'audit log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6850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8221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Refus d'accès à un dossier hors périmètre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9593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patient "Sophie Durand" n'est pas dans mes patients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0965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tente d'accéder directement à /api/v1/patients/{id}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2336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je reçois une erreur HTTP 403 Forbidden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3708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message "Accès non autorisé" s'affiche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5079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une alerte sécurité est générée dans l'audit log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UC-02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 Outline: Recherche patient par critères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recherche par &lt;critere&gt; avec la valeur "&lt;valeur&gt;"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patient "&lt;nom&gt;" apparaît dans les résultats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Examples: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critere | valeur      | nom        |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INS     | 123456789   | Jean Martin|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432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Nom     | Martin      | Jean Martin|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@UC-02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Timeline des événements cliniques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dossier du patient "Jean Martin" est ouvert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clique sur l'onglet "Timeline"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les événements sont affichés en ordre chronologique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chaque événement affiche la date et le professionnel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DE0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&amp; Suivi du Plan de Soins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Soins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EDE0F7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Un coordinateur de soins crée un plan de soins personnalisé pour un patient chronique, y affecte des tâches aux membres de l'équipe et suit l'avancement.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Coordinateur de soins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responsable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Infirmier assigné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Patient avec au moins une pathologie 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Équipe de soins constituée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Protocole HAS sélectionné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Création d'un plan de soins diabète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Assignation d'une tâche à un infirmier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Alerte si tâche critique en retard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@regression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Suivi de l'observance thérapeutique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UC-03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src/test/resources/features/care-plan/plan-soins.feature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Plan de Soins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01963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coordinateur de soins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24934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veux créer et gérer des plans de soins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447905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d'assurer un suivi structuré des patients chroniques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693847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816818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connecté avec le rôle "COORDINATEUR"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1939789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patient "Jean Martin" a une pathologie "Diabète type 2"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062760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l'équipe de soins inclut "inf.martin" (INFIRMIER)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308702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431673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Création d'un plan de soins basé sur protocole HAS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554644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navigue vers le dossier du patient "Jean Martin"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677615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clique sur "Nouveau plan de soins"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800586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sélectionne le protocole "HAS-Diabète-Type2-2024"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2923558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définis une date de début à aujourd'hui + 1 jour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046529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clique sur "Valider le plan"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169500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plan de soins est créé avec le statut "actif"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292471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5 tâches standards sont générées automatiquement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415442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l'équipe de soins est notifiée par messagerie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661384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784355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Assignation et complétion d'une tâche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3907326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plan "Plan Diabète Jean Martin" est actif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030297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j'assigne la tâche "Contrôle glycémique" à "inf.martin"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153268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"inf.martin" marque la tâche comme "terminée"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276239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statut de la tâche passe à "terminée"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399210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date de complétion est enregistrée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522181"/>
            <a:ext cx="8412480" cy="12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score d'observance du plan est mis à jour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UC-03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Alerte escalade si tâche critique en retard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la tâche "Injection insuline" est assignée à "inf.martin"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date d'échéance est dépassée de 2 heures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 moteur d'alertes s'exécute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une alerte de sévérité "urgente" est créée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médecin responsable est notifié par SMS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@UC-03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 Outline: Score d'observance calculé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un plan avec &lt;total&gt; tâches dont &lt;faites&gt; terminées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consulte le tableau de bord du plan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score d'observance affiché est &lt;score&gt;%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Examples: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total | faites | score |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2432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10    | 10     | 100   |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633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10    | 7      | 70    |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2834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10    | 0      | 0     |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Alertes Cliniques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Alertes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Le moteur d'alertes surveille en continu les données patients et génère des alertes contextuelles (biologiques, médicamenteuses, IoT) avec escalade automatique selon la sévérité.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Système (moteur d'alertes)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responsable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Infirmier de garde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Patient avec seuils d'alerte configurés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Observations récentes disponibles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Équipe de soins notifiable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Alerte glycémie critique déclenchée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Alerte interaction médicamenteuse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Acquittement d'une alerte par le médecin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@regression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Escalade automatique si alerte non acquittée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UC-04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src/test/resources/features/alerts/alertes-cliniques.feature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Alertes Cliniques CareSync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161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système de surveillance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533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dois détecter les anomalies cliniques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4904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de prévenir les complications évitables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7647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9019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patient "Jean Martin" a un seuil glycémie critique &gt; 3.5 g/L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0391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son médecin traitant est "dr.dupont"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3134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4505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Déclenchement alerte glycémie hors seuil critique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5877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une observation IoT est reçue pour "Jean Martin"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249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valeur de glycémie est "4.2 g/L"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8620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 moteur d'alertes analyse l'observation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9992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une alerte de type "biologique" est créée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1363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sévérité est "critique"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2735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"dr.dupont" reçoit une notification push immédiate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4107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l'alerte apparaît en rouge dans sa console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6850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8221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Détection d'une interaction médicamenteuse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95935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"Jean Martin" prend "Metformine 500mg"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09651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une ordonnance pour "Ibuprofen 400mg" est créée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23367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une alerte "médicamenteuse" de sévérité "urgente" est générée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37083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prescription est bloquée jusqu'à validation médecin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507992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message d'alerte contient la contre-indication détectée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UC-04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Acquittement d'une alerte active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l'alerte "Glycémie critique" est active pour "Jean Martin"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"dr.dupont" clique sur "Acquitter" avec le commentaire "Patient contacté"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l'alerte passe au statut "acquittée"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date et l'auteur de l'acquittement sont enregistrés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@UC-04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Escalade si alerte critique non traitée après 30 min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une alerte critique est créée à T0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elle n'est pas acquittée après 30 minutes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 planificateur d'escalade s'exécute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l'alerte est transmise au médecin de garde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une notification SMS est envoyée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AE5D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Télésurveillance IoT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FAE5D3"/>
          </a:solidFill>
          <a:ln w="12700">
            <a:solidFill>
              <a:srgbClr val="D35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Des dispositifs médicaux connectés (glucomètre, tensiomètre, oxymètre) transmettent leurs mesures en temps réel. Les données sont ingérées, validées et stockées au format FHIR.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Dispositif IoT (glucomètre, oxymètre...)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Service d'ingestion IoT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/ Infirmier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Dispositif IoT enregistré et attribué au patient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Connexion MQTT/BLE 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Seuils d'alerte configurés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Réception mesure glucomètre valide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Rejet mesure hors plage physiologique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Visualisation courbe SpO2 en temps réel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@regression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Gestion perte de connexion dispositif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UC-05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src/test/resources/features/iot/telesurveillance.feature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Télésurveillance IoT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2758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service d'ingestion IoT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7617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veux recevoir et valider les mesures des dispositifs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52476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de déclencher les alertes appropriées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82194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97053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glucomètre "GLU-001" est enregistré pour "Jean Martin"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11912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son seuil d'alerte glycémie haute est "2.5 g/L"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41630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56489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Ingestion d'une mesure glycémie normale via MQTT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71348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 glucomètre "GLU-001" envoie la mesure "1.1 g/L" à T0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86207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l'observation FHIR est créée avec le code LOINC "2345-7"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01066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valeur "1.1" et l'unité "g/L" sont enregistrées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15925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aucune alerte n'est déclenchée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30784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mesure apparaît dans la courbe du patient en temps réel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60502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75361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Rejet d'une mesure physiologiquement impossible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90220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 tensiomètre envoie une pression systolique de "350 mmHg"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05079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la mesure est rejetée avec le code erreur "INVALID_RANGE"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19938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un log d'anomalie est créé pour le dispositif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34797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aucune observation n'est créée en base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49656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technicien IoT est alerté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UC-05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Déclenchement alerte SpO2 sous seuil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seuil SpO2 de "Jean Martin" est 94%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l'oxymètre envoie une mesure SpO2 de "91%"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une alerte IoT de sévérité "urgente" est créée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mesure est affichée en rouge dans le dashboard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@UC-05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Détection perte de signal dispositif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glucomètre "GLU-001" envoie normalement toutes les heures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aucune mesure n'est reçue depuis 3 heures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une alerte "perte de signal" de sévérité "informative" est créée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l'infirmier responsable est notifié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Électronique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Pharma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Un médecin rédige une ordonnance électronique avec contrôle automatique des interactions médicamenteuses, la signe via eIDAS et la transmet directement à la pharmacie.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prescripteur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Système de contrôle interactions (Thériaque)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Pharmacien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authentifié avec certificat eIDAS valide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Patient avec médication active connue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Connexion à la base Thériaque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Rédaction et signature d'une ordonnance valide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Blocage si interaction médicamenteuse détectée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Transmission à la pharmacie partenaire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@regression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Renouvellement automatique d'ordonnance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UC-06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src/test/resources/features/prescription/ordonnance.feature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Prescription Électronique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110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médecin prescripteur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431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veux créer des ordonnances électroniques sécurisées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4752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de garantir la sécurité médicamenteuse du patient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7393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8714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connecté en tant que "dr.dupont" avec rôle "MEDECIN"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0035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patient "Jean Martin" prend "Metformine 500mg/j"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26771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3997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Création et signature d'une ordonnance sans interaction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5318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navigue vers "Nouvelle ordonnance" pour "Jean Martin"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6639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j'ajoute le médicament "Lisinopril 5mg" avec la posologie "1cp/j matin"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7960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définis une durée de "30 jours"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92811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aucune interaction médicamenteuse n'est détectée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0601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clique sur "Signer l'ordonnance"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1922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l'ordonnance est signée avec mon certificat eIDAS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3243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statut passe à "signée"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4564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l'ordonnance est archivée avec horodatage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7205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8526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Blocage ordonnance avec interaction critique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9847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j'ajoute "Glibenclamide 5mg" à l'ordonnance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1168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une alerte "Interaction critique Metformine/Glibenclamide" apparaît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24891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prescription est bloquée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3809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message "Risque d'hypoglycémie sévère" est affiché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5130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dois confirmer ou annuler manuellement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UC-06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Transmission électronique à la pharmacie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l'ordonnance "ORD-2024-001" est signée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pharmacie "PharmaCenter" est partenaire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clique sur "Envoyer à la pharmacie"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l'ordonnance est transmise via eFarma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statut passe à "transmise"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@UC-06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Renouvellement automatique avec confirmation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l'ordonnance "Metformine 500mg" expire dans 3 jours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le planificateur de renouvellement s'exécute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une demande de renouvellement est créée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"dr.dupont" reçoit une notification de confirmation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5EE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Sécurisée Inter-Professionnelle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Messagerie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F5EEF8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Les professionnels de santé échangent des messages chiffrés de bout en bout dans le cadre de la prise en charge d'un patient, en conformité MSSanté.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expéditeur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Infirmier / Pharmacien destinataire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Système de chiffrement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Les deux professionnels sont dans la même équipe de soins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Chiffrement E2E activé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Conformité MSSanté vérifiée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Envoi d'un message sécurisé à un collègue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Notification temps réel du destinataire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Partage de document dans un fil de discussion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@regression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Archivage automatique pour audit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UC-07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src/test/resources/features/messaging/messagerie-securisee.feature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Messagerie Sécurisée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110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professionnel de santé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431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veux envoyer des messages chiffrés à mes collègues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4752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de coordonner les soins de façon sécurisée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7393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8714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"dr.dupont" et "inf.martin" sont dans la même équipe de soins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0035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chiffrement E2E est activé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26771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3997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Envoi d'un message lié à un patient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5318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connecté en tant que "dr.dupont"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6639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rédige un message pour "inf.martin"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7960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j'associe le message au patient "Jean Martin"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92811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saisis "Merci de vérifier la glycémie ce soir"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0601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clique sur "Envoyer"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1922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message est chiffré et stocké en base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3243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"inf.martin" reçoit une notification en temps réel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4564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message est visible uniquement par les destinataires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7205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8526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Réception en temps réel via WebSocket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98475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"inf.martin" est connecté à CareSync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11683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"dr.dupont" envoie un message à "inf.martin"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24891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"inf.martin" voit apparaître le message en moins de 2 secondes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38099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la notification push est déclenchée sur son appareil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513072"/>
            <a:ext cx="841248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l'accusé de réception est enregistré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UC-07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Partage de document dans un message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joins le fichier "bilan-sanguin-martin.pdf" au message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clique sur "Envoyer"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fichier est chiffré et stocké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"inf.martin" peut le télécharger depuis le message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@UC-07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Archivage pour audit RGPD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message "MSG-001" a été envoyé il y a 30 jours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l'auditeur consulte les logs du message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les métadonnées (expéditeur, destinataire, date) sont visibles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contenu reste chiffré dans l'audit log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DF"/>
                </a:solidFill>
              </a:rPr>
              <a:t>UC-08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Analytics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Analytics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📋  Le directeur médical et les médecins accèdent à des tableaux de bord analytiques multi-niveaux : opérationnel (temps réel), tactique (hebdo) et stratégique (mensuel/annuel).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ACTEURS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Directeur médical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Médecin DIM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Coordinateur qualité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PRÉCONDITIONS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Données patients disponibles sur 30 jours minimum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Rôle ADMIN ou COORDINATEUR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Service analytics opérationnel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SCÉNARIOS BDD / GHERKIN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7856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490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Affichage du tableau de bord opérationnel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965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@smoke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Calcul du taux d'observance mensuel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07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354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@regression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Export rapport PDF indicateurs qualité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7183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18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@critical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234440" y="4681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Filtre par pathologie et période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🥒  UC-08 · Scénario nominal — Gherkin / Cucumber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4980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74980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74980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583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src/test/resources/features/analytics/dashboard.feature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Tableaux de Bord Analytics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22758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tant que directeur médical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7617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 veux visualiser les indicateurs de qualité de soins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52476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Afin de piloter l'activité et améliorer les pratiques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82194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97053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je suis connecté avec le rôle "ADMIN"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11912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des données existent pour les 30 derniers jours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41630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56489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Affichage du dashboard opérationnel temps réel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71348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navigue vers "Tableau de bord &gt; Opérationnel"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86207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je vois le nombre de patients actifs aujourd'hui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01066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vois les alertes non acquittées des dernières 24h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15925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vois la charge de travail par professionnel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30784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les données sont rafraîchies toutes les 30 secondes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60502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@UC-08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75361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Calcul du taux d'observance sur 30 jours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90220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sélectionne "Rapport Mensuel" pour le mois en cours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05079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filtre par pathologie "Diabète type 2"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19938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le taux d'observance global est affiché en pourcentage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34797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graphique d'évolution sur 12 mois est visible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496562"/>
            <a:ext cx="841248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les patients avec observance &lt; 70% sont mis en évidence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UC-08 · Scénarios alternatifs &amp; cas d'erreur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@critical @UC-08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Filtrage multi-critères du dashboard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filtre par pathologie "Insuffisance cardiaque"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je filtre par période "Janvier 2025 - Mars 2025"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seuls les patients correspondants sont inclus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les KPIs sont recalculés dynamiquement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658368"/>
            <a:ext cx="4297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658368"/>
            <a:ext cx="42976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731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731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312664" y="731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@UC-08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225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Export rapport PDF indicateurs IPAQSS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426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le rapport mensuel Mars 2025 est disponible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je clique sur "Exporter en PDF"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un fichier PDF est généré avec les indicateurs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il contient le logo CareSync et la date d'export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le téléchargement démarre automatiquement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0C8E0"/>
                </a:solidFill>
              </a:rPr>
              <a:t>8 Use Cases · 32 Scénarios BDD · Stack Java 21 / Angular 18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1828800" cy="1371600"/>
          </a:xfrm>
          <a:prstGeom prst="rect">
            <a:avLst/>
          </a:prstGeom>
          <a:solidFill>
            <a:srgbClr val="132030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Use Cases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détaillés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2057400"/>
            <a:ext cx="1828800" cy="1371600"/>
          </a:xfrm>
          <a:prstGeom prst="rect">
            <a:avLst/>
          </a:prstGeom>
          <a:solidFill>
            <a:srgbClr val="132030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32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Scénarios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Gherkin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1828800" cy="1371600"/>
          </a:xfrm>
          <a:prstGeom prst="rect">
            <a:avLst/>
          </a:prstGeom>
          <a:solidFill>
            <a:srgbClr val="132030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7548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Tags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priorité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057400"/>
            <a:ext cx="1828800" cy="1371600"/>
          </a:xfrm>
          <a:prstGeom prst="rect">
            <a:avLst/>
          </a:prstGeom>
          <a:solidFill>
            <a:srgbClr val="132030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16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76656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C8"/>
                </a:solidFill>
              </a:rPr>
              <a:t>Files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A8C0"/>
                </a:solidFill>
              </a:rPr>
              <a:t>Prochaine étape : implémentation des Step Definitions Java + Testcontainers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4160520"/>
            <a:ext cx="36576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6A7A"/>
                </a:solidFill>
              </a:rPr>
              <a:t>♥  CareSync — Coordination des Soins ·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CareSync — Use Cases &amp; BDD Cucumber</dc:title>
  <dc:subject>PptxGenJS Presentation</dc:subject>
  <dc:creator>CareSync Product Team</dc:creator>
  <cp:lastModifiedBy>CareSync Product Team</cp:lastModifiedBy>
  <cp:revision>1</cp:revision>
  <dcterms:created xsi:type="dcterms:W3CDTF">2026-04-24T07:04:18Z</dcterms:created>
  <dcterms:modified xsi:type="dcterms:W3CDTF">2026-04-24T07:04:18Z</dcterms:modified>
</cp:coreProperties>
</file>