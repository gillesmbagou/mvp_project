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_rels/slide4.xml.rels" ContentType="application/vnd.openxmlformats-package.relationships+xml"/>
  <Override PartName="/ppt/slides/_rels/slide20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17.xml.rels" ContentType="application/vnd.openxmlformats-package.relationships+xml"/>
  <Override PartName="/ppt/slides/_rels/slide2.xml.rels" ContentType="application/vnd.openxmlformats-package.relationships+xml"/>
  <Override PartName="/ppt/slides/_rels/slide14.xml.rels" ContentType="application/vnd.openxmlformats-package.relationships+xml"/>
  <Override PartName="/ppt/slides/_rels/slide26.xml.rels" ContentType="application/vnd.openxmlformats-package.relationships+xml"/>
  <Override PartName="/ppt/slides/_rels/slide15.xml.rels" ContentType="application/vnd.openxmlformats-package.relationships+xml"/>
  <Override PartName="/ppt/slides/_rels/slide27.xml.rels" ContentType="application/vnd.openxmlformats-package.relationships+xml"/>
  <Override PartName="/ppt/slides/_rels/slide16.xml.rels" ContentType="application/vnd.openxmlformats-package.relationships+xml"/>
  <Override PartName="/ppt/slides/_rels/slide1.xml.rels" ContentType="application/vnd.openxmlformats-package.relationships+xml"/>
  <Override PartName="/ppt/slides/_rels/slide28.xml.rels" ContentType="application/vnd.openxmlformats-package.relationships+xml"/>
  <Override PartName="/ppt/slides/_rels/slide21.xml.rels" ContentType="application/vnd.openxmlformats-package.relationships+xml"/>
  <Override PartName="/ppt/slides/_rels/slide19.xml.rels" ContentType="application/vnd.openxmlformats-package.relationships+xml"/>
  <Override PartName="/ppt/slides/_rels/slide13.xml.rels" ContentType="application/vnd.openxmlformats-package.relationships+xml"/>
  <Override PartName="/ppt/slides/_rels/slide25.xml.rels" ContentType="application/vnd.openxmlformats-package.relationships+xml"/>
  <Override PartName="/ppt/slides/_rels/slide12.xml.rels" ContentType="application/vnd.openxmlformats-package.relationships+xml"/>
  <Override PartName="/ppt/slides/_rels/slide24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23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22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25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24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1.xml" ContentType="application/vnd.openxmlformats-officedocument.presentationml.slide+xml"/>
  <Override PartName="/ppt/slides/slide28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notesSlides/_rels/notesSlide15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3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4.xml.rels" ContentType="application/vnd.openxmlformats-package.relationships+xml"/>
  <Override PartName="/ppt/notesSlides/_rels/notesSlide18.xml.rels" ContentType="application/vnd.openxmlformats-package.relationships+xml"/>
  <Override PartName="/ppt/notesSlides/_rels/notesSlide20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9.xml.rels" ContentType="application/vnd.openxmlformats-package.relationships+xml"/>
  <Override PartName="/ppt/notesSlides/_rels/notesSlide21.xml.rels" ContentType="application/vnd.openxmlformats-package.relationships+xml"/>
  <Override PartName="/ppt/notesSlides/_rels/notesSlide6.xml.rels" ContentType="application/vnd.openxmlformats-package.relationships+xml"/>
  <Override PartName="/ppt/notesSlides/_rels/notesSlide22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25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28.xml.rels" ContentType="application/vnd.openxmlformats-package.relationships+xml"/>
  <Override PartName="/ppt/notesSlides/_rels/notesSlide24.xml.rels" ContentType="application/vnd.openxmlformats-package.relationships+xml"/>
  <Override PartName="/ppt/notesSlides/_rels/notesSlide9.xml.rels" ContentType="application/vnd.openxmlformats-package.relationships+xml"/>
  <Override PartName="/ppt/notesSlides/_rels/notesSlide27.xml.rels" ContentType="application/vnd.openxmlformats-package.relationships+xml"/>
  <Override PartName="/ppt/notesSlides/_rels/notesSlide23.xml.rels" ContentType="application/vnd.openxmlformats-package.relationships+xml"/>
  <Override PartName="/ppt/notesSlides/_rels/notesSlide8.xml.rels" ContentType="application/vnd.openxmlformats-package.relationships+xml"/>
  <Override PartName="/ppt/notesSlides/_rels/notesSlide26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.xml.rels" ContentType="application/vnd.openxmlformats-package.relationships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5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fr-BE" sz="1800" spc="-1" strike="noStrike">
                <a:solidFill>
                  <a:schemeClr val="dk1"/>
                </a:solidFill>
                <a:latin typeface="Calibri"/>
              </a:rPr>
              <a:t>Cliquez pour déplacer la diapo</a:t>
            </a:r>
            <a:endParaRPr b="0" lang="fr-BE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fr-BE" sz="2000" spc="-1" strike="noStrike">
                <a:solidFill>
                  <a:srgbClr val="000000"/>
                </a:solidFill>
                <a:latin typeface="Arial"/>
              </a:rPr>
              <a:t>Cliquez pour modifier le format des notes</a:t>
            </a:r>
            <a:endParaRPr b="0" lang="fr-BE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fr-BE" sz="1400" spc="-1" strike="noStrike">
                <a:solidFill>
                  <a:srgbClr val="000000"/>
                </a:solidFill>
                <a:latin typeface="Times New Roman"/>
              </a:rPr>
              <a:t>&lt;en-tête&gt;</a:t>
            </a:r>
            <a:endParaRPr b="0" lang="fr-BE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fr-BE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fr-BE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BE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fr-BE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BE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BE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fr-BE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5B85C418-BA72-44A1-AD60-8254B9E67B46}" type="slidenum">
              <a:rPr b="0" lang="fr-BE" sz="1400" spc="-1" strike="noStrike">
                <a:solidFill>
                  <a:srgbClr val="000000"/>
                </a:solidFill>
                <a:latin typeface="Times New Roman"/>
              </a:rPr>
              <a:t>&lt;numéro&gt;</a:t>
            </a:fld>
            <a:endParaRPr b="0" lang="fr-BE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9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5C9AB36-0E33-40DB-9044-005EE570BEA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BE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2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035590F-435B-4075-B3B2-2C3FAB3E6FF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BE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5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9B51F02-6F03-4E36-A239-A3E28562994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BE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8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C9B3001-9D93-430A-800A-119393561CF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BE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1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323D7EA-3063-4BD7-AC14-0E23CBA4FFB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BE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4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A3BA875-6B7E-4B02-8686-4568274A7BB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BE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7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A38E71E-02D9-4B1A-8EC9-00C07AB6223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BE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0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A4E9DD3-BB58-443D-9066-2615E027F6D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BE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3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C515FBD-61EF-428A-AD87-51F3E13BA87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BE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6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3C94EAA-4424-4B7E-8E4C-B9E6E0796C2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BE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6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9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E02C079-50DB-4ABC-BB22-AED7691E759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BE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7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2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E6586F5-D9DB-44E4-8503-2276F2310A2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BE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7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5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2045826-35AA-4F34-9AA7-727D780A1B8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BE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7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8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60A7764-4F30-4B7A-9C7B-C5DFA5DB57E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BE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8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1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4B2B74F-2DAC-41AD-8BA7-A44E5432810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BE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8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4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5E2D82E-9A04-40A4-846A-90B6C339A81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BE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8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7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09C7D08-9FB3-4264-85CD-D5CEDD688A1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BE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0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0A76FAE-CC27-43F3-B068-124237FB0A5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BE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3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7238059-F87A-4BAD-9348-94204A5335D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BE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6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A567DD0-E267-4FB1-9E57-EA014F01992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BE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9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D93DCAD-3A6B-42C2-96A6-F02FC7563CD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BE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0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2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B8A217D-2C18-4614-89DB-DB3AF7375AC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BE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0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5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16E4328-5204-4381-9795-FF24CEFAA4A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BE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8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A89EAEA-0FC8-4030-AEA6-73008B6080D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BE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1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76F84E9-3EA5-49C7-BA86-7E775AC6518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BE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4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34D5CBF-0F7C-4BAE-9DC3-73A29C67581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BE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7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7D83378-ECD2-4F36-B38A-48567F9D8D5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BE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0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23135F9-B607-4F64-85ED-A81EF7FD7DA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BE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BE" sz="1800" spc="-1" strike="noStrike">
                <a:solidFill>
                  <a:schemeClr val="dk1"/>
                </a:solidFill>
                <a:latin typeface="Calibri"/>
              </a:rPr>
              <a:t>Cliquez pour </a:t>
            </a:r>
            <a:r>
              <a:rPr b="0" lang="fr-BE" sz="1800" spc="-1" strike="noStrike">
                <a:solidFill>
                  <a:schemeClr val="dk1"/>
                </a:solidFill>
                <a:latin typeface="Calibri"/>
              </a:rPr>
              <a:t>éditer le format du </a:t>
            </a:r>
            <a:r>
              <a:rPr b="0" lang="fr-BE" sz="1800" spc="-1" strike="noStrike">
                <a:solidFill>
                  <a:schemeClr val="dk1"/>
                </a:solidFill>
                <a:latin typeface="Calibri"/>
              </a:rPr>
              <a:t>texte-titre</a:t>
            </a:r>
            <a:endParaRPr b="0" lang="fr-BE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9053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BE" sz="3200" spc="-1" strike="noStrike">
                <a:solidFill>
                  <a:schemeClr val="dk1"/>
                </a:solidFill>
                <a:latin typeface="Calibri"/>
              </a:rPr>
              <a:t>Cliquez pour éditer le format du plan de texte</a:t>
            </a:r>
            <a:endParaRPr b="0" lang="fr-BE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BE" sz="2400" spc="-1" strike="noStrike">
                <a:solidFill>
                  <a:schemeClr val="dk1"/>
                </a:solidFill>
                <a:latin typeface="Calibri"/>
              </a:rPr>
              <a:t>Second niveau de plan</a:t>
            </a:r>
            <a:endParaRPr b="0" lang="fr-BE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BE" sz="2000" spc="-1" strike="noStrike">
                <a:solidFill>
                  <a:schemeClr val="dk1"/>
                </a:solidFill>
                <a:latin typeface="Calibri"/>
              </a:rPr>
              <a:t>Troisième niveau de plan</a:t>
            </a:r>
            <a:endParaRPr b="0" lang="fr-BE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BE" sz="2000" spc="-1" strike="noStrike">
                <a:solidFill>
                  <a:schemeClr val="dk1"/>
                </a:solidFill>
                <a:latin typeface="Calibri"/>
              </a:rPr>
              <a:t>Quatrième niveau de plan</a:t>
            </a:r>
            <a:endParaRPr b="0" lang="fr-BE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BE" sz="2000" spc="-1" strike="noStrike">
                <a:solidFill>
                  <a:schemeClr val="dk1"/>
                </a:solidFill>
                <a:latin typeface="Calibri"/>
              </a:rPr>
              <a:t>Cinquième niveau de plan</a:t>
            </a:r>
            <a:endParaRPr b="0" lang="fr-BE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BE" sz="2000" spc="-1" strike="noStrike">
                <a:solidFill>
                  <a:schemeClr val="dk1"/>
                </a:solidFill>
                <a:latin typeface="Calibri"/>
              </a:rPr>
              <a:t>Sixième niveau de plan</a:t>
            </a:r>
            <a:endParaRPr b="0" lang="fr-BE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BE" sz="2000" spc="-1" strike="noStrike">
                <a:solidFill>
                  <a:schemeClr val="dk1"/>
                </a:solidFill>
                <a:latin typeface="Calibri"/>
              </a:rPr>
              <a:t>Septième niveau de plan</a:t>
            </a:r>
            <a:endParaRPr b="0" lang="fr-BE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2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>
            <a:off x="0" y="0"/>
            <a:ext cx="319680" cy="5143320"/>
          </a:xfrm>
          <a:prstGeom prst="rect">
            <a:avLst/>
          </a:prstGeom>
          <a:solidFill>
            <a:srgbClr val="0e7c7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" name="Shape 1"/>
          <p:cNvSpPr/>
          <p:nvPr/>
        </p:nvSpPr>
        <p:spPr>
          <a:xfrm>
            <a:off x="320040" y="0"/>
            <a:ext cx="72720" cy="5143320"/>
          </a:xfrm>
          <a:prstGeom prst="rect">
            <a:avLst/>
          </a:prstGeom>
          <a:solidFill>
            <a:srgbClr val="02c39a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Shape 2"/>
          <p:cNvSpPr/>
          <p:nvPr/>
        </p:nvSpPr>
        <p:spPr>
          <a:xfrm>
            <a:off x="548640" y="0"/>
            <a:ext cx="8595000" cy="72720"/>
          </a:xfrm>
          <a:prstGeom prst="rect">
            <a:avLst/>
          </a:prstGeom>
          <a:solidFill>
            <a:srgbClr val="02c39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Shape 3"/>
          <p:cNvSpPr/>
          <p:nvPr/>
        </p:nvSpPr>
        <p:spPr>
          <a:xfrm>
            <a:off x="731520" y="640080"/>
            <a:ext cx="2011320" cy="411120"/>
          </a:xfrm>
          <a:prstGeom prst="roundRect">
            <a:avLst>
              <a:gd name="adj" fmla="val 22222"/>
            </a:avLst>
          </a:prstGeom>
          <a:solidFill>
            <a:srgbClr val="0e7c7b"/>
          </a:solidFill>
          <a:ln w="12700">
            <a:solidFill>
              <a:srgbClr val="02c3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Text 4"/>
          <p:cNvSpPr/>
          <p:nvPr/>
        </p:nvSpPr>
        <p:spPr>
          <a:xfrm>
            <a:off x="731520" y="640080"/>
            <a:ext cx="2011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CARESYNC</a:t>
            </a:r>
            <a:endParaRPr b="0" lang="fr-BE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Text 5"/>
          <p:cNvSpPr/>
          <p:nvPr/>
        </p:nvSpPr>
        <p:spPr>
          <a:xfrm>
            <a:off x="731520" y="1234440"/>
            <a:ext cx="77720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000" spc="-1" strike="noStrike">
                <a:solidFill>
                  <a:srgbClr val="ffffff"/>
                </a:solidFill>
                <a:latin typeface="Calibri"/>
                <a:ea typeface="Calibri"/>
              </a:rPr>
              <a:t>Use Cases &amp; Scénarios BDD</a:t>
            </a:r>
            <a:endParaRPr b="0" lang="fr-BE" sz="4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Text 6"/>
          <p:cNvSpPr/>
          <p:nvPr/>
        </p:nvSpPr>
        <p:spPr>
          <a:xfrm>
            <a:off x="731520" y="2286000"/>
            <a:ext cx="77720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800" spc="-1" strike="noStrike">
                <a:solidFill>
                  <a:srgbClr val="a0c8e0"/>
                </a:solidFill>
                <a:latin typeface="Calibri"/>
                <a:ea typeface="Calibri"/>
              </a:rPr>
              <a:t>Spécification par l'exemple avec Cucumber / Gherkin</a:t>
            </a:r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Shape 7"/>
          <p:cNvSpPr/>
          <p:nvPr/>
        </p:nvSpPr>
        <p:spPr>
          <a:xfrm>
            <a:off x="731520" y="2907720"/>
            <a:ext cx="7772040" cy="27000"/>
          </a:xfrm>
          <a:prstGeom prst="rect">
            <a:avLst/>
          </a:prstGeom>
          <a:solidFill>
            <a:srgbClr val="0e7c7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17640" bIns="-1764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Text 8"/>
          <p:cNvSpPr/>
          <p:nvPr/>
        </p:nvSpPr>
        <p:spPr>
          <a:xfrm>
            <a:off x="731520" y="3063240"/>
            <a:ext cx="25599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199" strike="noStrike">
                <a:solidFill>
                  <a:srgbClr val="7aaecb"/>
                </a:solidFill>
                <a:latin typeface="Calibri"/>
              </a:rPr>
              <a:t>PROJET</a:t>
            </a:r>
            <a:endParaRPr b="0" lang="fr-BE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Text 9"/>
          <p:cNvSpPr/>
          <p:nvPr/>
        </p:nvSpPr>
        <p:spPr>
          <a:xfrm>
            <a:off x="731520" y="3310200"/>
            <a:ext cx="25599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CareSync v1.0</a:t>
            </a:r>
            <a:endParaRPr b="0" lang="fr-BE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Text 10"/>
          <p:cNvSpPr/>
          <p:nvPr/>
        </p:nvSpPr>
        <p:spPr>
          <a:xfrm>
            <a:off x="3566160" y="3063240"/>
            <a:ext cx="25599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199" strike="noStrike">
                <a:solidFill>
                  <a:srgbClr val="7aaecb"/>
                </a:solidFill>
                <a:latin typeface="Calibri"/>
              </a:rPr>
              <a:t>MÉTHODE</a:t>
            </a:r>
            <a:endParaRPr b="0" lang="fr-BE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" name="Text 11"/>
          <p:cNvSpPr/>
          <p:nvPr/>
        </p:nvSpPr>
        <p:spPr>
          <a:xfrm>
            <a:off x="3566160" y="3310200"/>
            <a:ext cx="25599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BDD / Cucumber</a:t>
            </a:r>
            <a:endParaRPr b="0" lang="fr-BE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" name="Text 12"/>
          <p:cNvSpPr/>
          <p:nvPr/>
        </p:nvSpPr>
        <p:spPr>
          <a:xfrm>
            <a:off x="6400800" y="3063240"/>
            <a:ext cx="25599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199" strike="noStrike">
                <a:solidFill>
                  <a:srgbClr val="7aaecb"/>
                </a:solidFill>
                <a:latin typeface="Calibri"/>
              </a:rPr>
              <a:t>SLIDES</a:t>
            </a:r>
            <a:endParaRPr b="0" lang="fr-BE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Text 13"/>
          <p:cNvSpPr/>
          <p:nvPr/>
        </p:nvSpPr>
        <p:spPr>
          <a:xfrm>
            <a:off x="6400800" y="3310200"/>
            <a:ext cx="25599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16 use cases</a:t>
            </a:r>
            <a:endParaRPr b="0" lang="fr-BE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" name="Text 14"/>
          <p:cNvSpPr/>
          <p:nvPr/>
        </p:nvSpPr>
        <p:spPr>
          <a:xfrm>
            <a:off x="731520" y="4480560"/>
            <a:ext cx="8229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pc="-1" strike="noStrike">
                <a:solidFill>
                  <a:srgbClr val="5a8fae"/>
                </a:solidFill>
                <a:latin typeface="Calibri"/>
              </a:rPr>
              <a:t>♥  </a:t>
            </a:r>
            <a:r>
              <a:rPr b="0" i="1" lang="en-US" sz="1000" spc="-1" strike="noStrike">
                <a:solidFill>
                  <a:srgbClr val="5a8fae"/>
                </a:solidFill>
                <a:latin typeface="Calibri"/>
              </a:rPr>
              <a:t>Coordination des Soins — Maladies Chroniques — Java 25 · Angular 21 · Spring Boot </a:t>
            </a:r>
            <a:r>
              <a:rPr b="0" i="1" lang="en-US" sz="1000" spc="-1" strike="noStrike">
                <a:solidFill>
                  <a:srgbClr val="5a8fae"/>
                </a:solidFill>
                <a:latin typeface="Calibri"/>
                <a:ea typeface="JetBrains Mono"/>
              </a:rPr>
              <a:t>4.0.6</a:t>
            </a:r>
            <a:endParaRPr b="0" lang="fr-BE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0"/>
          <p:cNvSpPr/>
          <p:nvPr/>
        </p:nvSpPr>
        <p:spPr>
          <a:xfrm>
            <a:off x="0" y="0"/>
            <a:ext cx="9143640" cy="639720"/>
          </a:xfrm>
          <a:prstGeom prst="rect">
            <a:avLst/>
          </a:prstGeom>
          <a:solidFill>
            <a:srgbClr val="1a5c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" name="Text 1"/>
          <p:cNvSpPr/>
          <p:nvPr/>
        </p:nvSpPr>
        <p:spPr>
          <a:xfrm>
            <a:off x="365760" y="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Sommaire des Use Cases</a:t>
            </a:r>
            <a:endParaRPr b="0" lang="fr-BE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Shape 2"/>
          <p:cNvSpPr/>
          <p:nvPr/>
        </p:nvSpPr>
        <p:spPr>
          <a:xfrm>
            <a:off x="274320" y="777240"/>
            <a:ext cx="4205880" cy="804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df2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Shape 3"/>
          <p:cNvSpPr/>
          <p:nvPr/>
        </p:nvSpPr>
        <p:spPr>
          <a:xfrm>
            <a:off x="274320" y="777240"/>
            <a:ext cx="63720" cy="804240"/>
          </a:xfrm>
          <a:prstGeom prst="rect">
            <a:avLst/>
          </a:prstGeom>
          <a:solidFill>
            <a:srgbClr val="1a5c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" name="Text 4"/>
          <p:cNvSpPr/>
          <p:nvPr/>
        </p:nvSpPr>
        <p:spPr>
          <a:xfrm>
            <a:off x="438840" y="831960"/>
            <a:ext cx="7768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1a5c8a"/>
                </a:solidFill>
                <a:latin typeface="Calibri"/>
              </a:rPr>
              <a:t>UC-01</a:t>
            </a:r>
            <a:endParaRPr b="0" lang="fr-B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Shape 5"/>
          <p:cNvSpPr/>
          <p:nvPr/>
        </p:nvSpPr>
        <p:spPr>
          <a:xfrm>
            <a:off x="438840" y="1124640"/>
            <a:ext cx="1005480" cy="237240"/>
          </a:xfrm>
          <a:prstGeom prst="roundRect">
            <a:avLst>
              <a:gd name="adj" fmla="val 23077"/>
            </a:avLst>
          </a:prstGeom>
          <a:solidFill>
            <a:srgbClr val="1a5c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" name="Text 6"/>
          <p:cNvSpPr/>
          <p:nvPr/>
        </p:nvSpPr>
        <p:spPr>
          <a:xfrm>
            <a:off x="438840" y="1124640"/>
            <a:ext cx="10054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Calibri"/>
              </a:rPr>
              <a:t>Sécurité</a:t>
            </a:r>
            <a:endParaRPr b="0" lang="fr-BE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Text 7"/>
          <p:cNvSpPr/>
          <p:nvPr/>
        </p:nvSpPr>
        <p:spPr>
          <a:xfrm>
            <a:off x="438840" y="831960"/>
            <a:ext cx="35658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a1a2e"/>
                </a:solidFill>
                <a:latin typeface="Calibri"/>
              </a:rPr>
              <a:t>Authentification MFA</a:t>
            </a:r>
            <a:endParaRPr b="0" lang="fr-BE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Shape 8"/>
          <p:cNvSpPr/>
          <p:nvPr/>
        </p:nvSpPr>
        <p:spPr>
          <a:xfrm>
            <a:off x="274320" y="1783080"/>
            <a:ext cx="4205880" cy="804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df2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Shape 9"/>
          <p:cNvSpPr/>
          <p:nvPr/>
        </p:nvSpPr>
        <p:spPr>
          <a:xfrm>
            <a:off x="274320" y="1783080"/>
            <a:ext cx="63720" cy="804240"/>
          </a:xfrm>
          <a:prstGeom prst="rect">
            <a:avLst/>
          </a:prstGeom>
          <a:solidFill>
            <a:srgbClr val="0e7c7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" name="Text 10"/>
          <p:cNvSpPr/>
          <p:nvPr/>
        </p:nvSpPr>
        <p:spPr>
          <a:xfrm>
            <a:off x="438840" y="1837800"/>
            <a:ext cx="7768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0e7c7b"/>
                </a:solidFill>
                <a:latin typeface="Calibri"/>
              </a:rPr>
              <a:t>UC-02</a:t>
            </a:r>
            <a:endParaRPr b="0" lang="fr-B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Shape 11"/>
          <p:cNvSpPr/>
          <p:nvPr/>
        </p:nvSpPr>
        <p:spPr>
          <a:xfrm>
            <a:off x="438840" y="2130480"/>
            <a:ext cx="1005480" cy="237240"/>
          </a:xfrm>
          <a:prstGeom prst="roundRect">
            <a:avLst>
              <a:gd name="adj" fmla="val 23077"/>
            </a:avLst>
          </a:prstGeom>
          <a:solidFill>
            <a:srgbClr val="0e7c7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" name="Text 12"/>
          <p:cNvSpPr/>
          <p:nvPr/>
        </p:nvSpPr>
        <p:spPr>
          <a:xfrm>
            <a:off x="438840" y="2130480"/>
            <a:ext cx="10054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Calibri"/>
              </a:rPr>
              <a:t>Patient</a:t>
            </a:r>
            <a:endParaRPr b="0" lang="fr-BE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Text 13"/>
          <p:cNvSpPr/>
          <p:nvPr/>
        </p:nvSpPr>
        <p:spPr>
          <a:xfrm>
            <a:off x="438840" y="1837800"/>
            <a:ext cx="35658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a1a2e"/>
                </a:solidFill>
                <a:latin typeface="Calibri"/>
              </a:rPr>
              <a:t>Consultation Dossier Patient</a:t>
            </a:r>
            <a:endParaRPr b="0" lang="fr-BE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Shape 14"/>
          <p:cNvSpPr/>
          <p:nvPr/>
        </p:nvSpPr>
        <p:spPr>
          <a:xfrm>
            <a:off x="274320" y="2788920"/>
            <a:ext cx="4205880" cy="804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df2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Shape 15"/>
          <p:cNvSpPr/>
          <p:nvPr/>
        </p:nvSpPr>
        <p:spPr>
          <a:xfrm>
            <a:off x="274320" y="2788920"/>
            <a:ext cx="63720" cy="804240"/>
          </a:xfrm>
          <a:prstGeom prst="rect">
            <a:avLst/>
          </a:prstGeom>
          <a:solidFill>
            <a:srgbClr val="6b3f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" name="Text 16"/>
          <p:cNvSpPr/>
          <p:nvPr/>
        </p:nvSpPr>
        <p:spPr>
          <a:xfrm>
            <a:off x="438840" y="2843640"/>
            <a:ext cx="7768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6b3fa0"/>
                </a:solidFill>
                <a:latin typeface="Calibri"/>
              </a:rPr>
              <a:t>UC-03</a:t>
            </a:r>
            <a:endParaRPr b="0" lang="fr-B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Shape 17"/>
          <p:cNvSpPr/>
          <p:nvPr/>
        </p:nvSpPr>
        <p:spPr>
          <a:xfrm>
            <a:off x="438840" y="3136320"/>
            <a:ext cx="1005480" cy="237240"/>
          </a:xfrm>
          <a:prstGeom prst="roundRect">
            <a:avLst>
              <a:gd name="adj" fmla="val 23077"/>
            </a:avLst>
          </a:prstGeom>
          <a:solidFill>
            <a:srgbClr val="6b3f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" name="Text 18"/>
          <p:cNvSpPr/>
          <p:nvPr/>
        </p:nvSpPr>
        <p:spPr>
          <a:xfrm>
            <a:off x="438840" y="3136320"/>
            <a:ext cx="10054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Calibri"/>
              </a:rPr>
              <a:t>Soins</a:t>
            </a:r>
            <a:endParaRPr b="0" lang="fr-BE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Text 19"/>
          <p:cNvSpPr/>
          <p:nvPr/>
        </p:nvSpPr>
        <p:spPr>
          <a:xfrm>
            <a:off x="438840" y="2843640"/>
            <a:ext cx="35658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a1a2e"/>
                </a:solidFill>
                <a:latin typeface="Calibri"/>
              </a:rPr>
              <a:t>Création Plan de Soins</a:t>
            </a:r>
            <a:endParaRPr b="0" lang="fr-BE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Shape 20"/>
          <p:cNvSpPr/>
          <p:nvPr/>
        </p:nvSpPr>
        <p:spPr>
          <a:xfrm>
            <a:off x="274320" y="3794760"/>
            <a:ext cx="4205880" cy="804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df2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Shape 21"/>
          <p:cNvSpPr/>
          <p:nvPr/>
        </p:nvSpPr>
        <p:spPr>
          <a:xfrm>
            <a:off x="274320" y="3794760"/>
            <a:ext cx="63720" cy="804240"/>
          </a:xfrm>
          <a:prstGeom prst="rect">
            <a:avLst/>
          </a:prstGeom>
          <a:solidFill>
            <a:srgbClr val="c039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" name="Text 22"/>
          <p:cNvSpPr/>
          <p:nvPr/>
        </p:nvSpPr>
        <p:spPr>
          <a:xfrm>
            <a:off x="438840" y="3849480"/>
            <a:ext cx="7768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c0392b"/>
                </a:solidFill>
                <a:latin typeface="Calibri"/>
              </a:rPr>
              <a:t>UC-04</a:t>
            </a:r>
            <a:endParaRPr b="0" lang="fr-B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Shape 23"/>
          <p:cNvSpPr/>
          <p:nvPr/>
        </p:nvSpPr>
        <p:spPr>
          <a:xfrm>
            <a:off x="438840" y="4142160"/>
            <a:ext cx="1005480" cy="237240"/>
          </a:xfrm>
          <a:prstGeom prst="roundRect">
            <a:avLst>
              <a:gd name="adj" fmla="val 23077"/>
            </a:avLst>
          </a:prstGeom>
          <a:solidFill>
            <a:srgbClr val="c039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" name="Text 24"/>
          <p:cNvSpPr/>
          <p:nvPr/>
        </p:nvSpPr>
        <p:spPr>
          <a:xfrm>
            <a:off x="438840" y="4142160"/>
            <a:ext cx="10054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Calibri"/>
              </a:rPr>
              <a:t>Alertes</a:t>
            </a:r>
            <a:endParaRPr b="0" lang="fr-BE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Text 25"/>
          <p:cNvSpPr/>
          <p:nvPr/>
        </p:nvSpPr>
        <p:spPr>
          <a:xfrm>
            <a:off x="438840" y="3849480"/>
            <a:ext cx="35658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a1a2e"/>
                </a:solidFill>
                <a:latin typeface="Calibri"/>
              </a:rPr>
              <a:t>Alertes Cliniques</a:t>
            </a:r>
            <a:endParaRPr b="0" lang="fr-BE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Shape 26"/>
          <p:cNvSpPr/>
          <p:nvPr/>
        </p:nvSpPr>
        <p:spPr>
          <a:xfrm>
            <a:off x="4754880" y="777240"/>
            <a:ext cx="4205880" cy="804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df2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Shape 27"/>
          <p:cNvSpPr/>
          <p:nvPr/>
        </p:nvSpPr>
        <p:spPr>
          <a:xfrm>
            <a:off x="4754880" y="777240"/>
            <a:ext cx="63720" cy="804240"/>
          </a:xfrm>
          <a:prstGeom prst="rect">
            <a:avLst/>
          </a:prstGeom>
          <a:solidFill>
            <a:srgbClr val="d354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" name="Text 28"/>
          <p:cNvSpPr/>
          <p:nvPr/>
        </p:nvSpPr>
        <p:spPr>
          <a:xfrm>
            <a:off x="4919400" y="831960"/>
            <a:ext cx="7768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d35400"/>
                </a:solidFill>
                <a:latin typeface="Calibri"/>
              </a:rPr>
              <a:t>UC-05</a:t>
            </a:r>
            <a:endParaRPr b="0" lang="fr-B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Shape 29"/>
          <p:cNvSpPr/>
          <p:nvPr/>
        </p:nvSpPr>
        <p:spPr>
          <a:xfrm>
            <a:off x="4919400" y="1124640"/>
            <a:ext cx="1005480" cy="237240"/>
          </a:xfrm>
          <a:prstGeom prst="roundRect">
            <a:avLst>
              <a:gd name="adj" fmla="val 23077"/>
            </a:avLst>
          </a:prstGeom>
          <a:solidFill>
            <a:srgbClr val="d354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" name="Text 30"/>
          <p:cNvSpPr/>
          <p:nvPr/>
        </p:nvSpPr>
        <p:spPr>
          <a:xfrm>
            <a:off x="4919400" y="1124640"/>
            <a:ext cx="10054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Calibri"/>
              </a:rPr>
              <a:t>IoT</a:t>
            </a:r>
            <a:endParaRPr b="0" lang="fr-BE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Text 31"/>
          <p:cNvSpPr/>
          <p:nvPr/>
        </p:nvSpPr>
        <p:spPr>
          <a:xfrm>
            <a:off x="4919400" y="831960"/>
            <a:ext cx="35658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a1a2e"/>
                </a:solidFill>
                <a:latin typeface="Calibri"/>
              </a:rPr>
              <a:t>Télésurveillance IoT</a:t>
            </a:r>
            <a:endParaRPr b="0" lang="fr-BE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Shape 32"/>
          <p:cNvSpPr/>
          <p:nvPr/>
        </p:nvSpPr>
        <p:spPr>
          <a:xfrm>
            <a:off x="4754880" y="1783080"/>
            <a:ext cx="4205880" cy="804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df2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Shape 33"/>
          <p:cNvSpPr/>
          <p:nvPr/>
        </p:nvSpPr>
        <p:spPr>
          <a:xfrm>
            <a:off x="4754880" y="1783080"/>
            <a:ext cx="63720" cy="804240"/>
          </a:xfrm>
          <a:prstGeom prst="rect">
            <a:avLst/>
          </a:prstGeom>
          <a:solidFill>
            <a:srgbClr val="1e844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" name="Text 34"/>
          <p:cNvSpPr/>
          <p:nvPr/>
        </p:nvSpPr>
        <p:spPr>
          <a:xfrm>
            <a:off x="4919400" y="1837800"/>
            <a:ext cx="7768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1e8449"/>
                </a:solidFill>
                <a:latin typeface="Calibri"/>
              </a:rPr>
              <a:t>UC-06</a:t>
            </a:r>
            <a:endParaRPr b="0" lang="fr-B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Shape 35"/>
          <p:cNvSpPr/>
          <p:nvPr/>
        </p:nvSpPr>
        <p:spPr>
          <a:xfrm>
            <a:off x="4919400" y="2130480"/>
            <a:ext cx="1005480" cy="237240"/>
          </a:xfrm>
          <a:prstGeom prst="roundRect">
            <a:avLst>
              <a:gd name="adj" fmla="val 23077"/>
            </a:avLst>
          </a:prstGeom>
          <a:solidFill>
            <a:srgbClr val="1e844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" name="Text 36"/>
          <p:cNvSpPr/>
          <p:nvPr/>
        </p:nvSpPr>
        <p:spPr>
          <a:xfrm>
            <a:off x="4919400" y="2130480"/>
            <a:ext cx="10054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Calibri"/>
              </a:rPr>
              <a:t>Pharma</a:t>
            </a:r>
            <a:endParaRPr b="0" lang="fr-BE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Text 37"/>
          <p:cNvSpPr/>
          <p:nvPr/>
        </p:nvSpPr>
        <p:spPr>
          <a:xfrm>
            <a:off x="4919400" y="1837800"/>
            <a:ext cx="35658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a1a2e"/>
                </a:solidFill>
                <a:latin typeface="Calibri"/>
              </a:rPr>
              <a:t>Prescription Électronique</a:t>
            </a:r>
            <a:endParaRPr b="0" lang="fr-BE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Shape 38"/>
          <p:cNvSpPr/>
          <p:nvPr/>
        </p:nvSpPr>
        <p:spPr>
          <a:xfrm>
            <a:off x="4754880" y="2788920"/>
            <a:ext cx="4205880" cy="804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df2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Shape 39"/>
          <p:cNvSpPr/>
          <p:nvPr/>
        </p:nvSpPr>
        <p:spPr>
          <a:xfrm>
            <a:off x="4754880" y="2788920"/>
            <a:ext cx="63720" cy="804240"/>
          </a:xfrm>
          <a:prstGeom prst="rect">
            <a:avLst/>
          </a:prstGeom>
          <a:solidFill>
            <a:srgbClr val="7d660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" name="Text 40"/>
          <p:cNvSpPr/>
          <p:nvPr/>
        </p:nvSpPr>
        <p:spPr>
          <a:xfrm>
            <a:off x="4919400" y="2843640"/>
            <a:ext cx="7768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7d6608"/>
                </a:solidFill>
                <a:latin typeface="Calibri"/>
              </a:rPr>
              <a:t>UC-07</a:t>
            </a:r>
            <a:endParaRPr b="0" lang="fr-B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Shape 41"/>
          <p:cNvSpPr/>
          <p:nvPr/>
        </p:nvSpPr>
        <p:spPr>
          <a:xfrm>
            <a:off x="4919400" y="3136320"/>
            <a:ext cx="1005480" cy="237240"/>
          </a:xfrm>
          <a:prstGeom prst="roundRect">
            <a:avLst>
              <a:gd name="adj" fmla="val 23077"/>
            </a:avLst>
          </a:prstGeom>
          <a:solidFill>
            <a:srgbClr val="7d660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" name="Text 42"/>
          <p:cNvSpPr/>
          <p:nvPr/>
        </p:nvSpPr>
        <p:spPr>
          <a:xfrm>
            <a:off x="4919400" y="3136320"/>
            <a:ext cx="10054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Calibri"/>
              </a:rPr>
              <a:t>Messagerie</a:t>
            </a:r>
            <a:endParaRPr b="0" lang="fr-BE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Text 43"/>
          <p:cNvSpPr/>
          <p:nvPr/>
        </p:nvSpPr>
        <p:spPr>
          <a:xfrm>
            <a:off x="4919400" y="2843640"/>
            <a:ext cx="35658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a1a2e"/>
                </a:solidFill>
                <a:latin typeface="Calibri"/>
              </a:rPr>
              <a:t>Messagerie Sécurisée</a:t>
            </a:r>
            <a:endParaRPr b="0" lang="fr-BE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Shape 44"/>
          <p:cNvSpPr/>
          <p:nvPr/>
        </p:nvSpPr>
        <p:spPr>
          <a:xfrm>
            <a:off x="4754880" y="3794760"/>
            <a:ext cx="4205880" cy="804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df2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Shape 45"/>
          <p:cNvSpPr/>
          <p:nvPr/>
        </p:nvSpPr>
        <p:spPr>
          <a:xfrm>
            <a:off x="4754880" y="3794760"/>
            <a:ext cx="63720" cy="804240"/>
          </a:xfrm>
          <a:prstGeom prst="rect">
            <a:avLst/>
          </a:prstGeom>
          <a:solidFill>
            <a:srgbClr val="c039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" name="Text 46"/>
          <p:cNvSpPr/>
          <p:nvPr/>
        </p:nvSpPr>
        <p:spPr>
          <a:xfrm>
            <a:off x="4919400" y="3849480"/>
            <a:ext cx="7768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c0392b"/>
                </a:solidFill>
                <a:latin typeface="Calibri"/>
              </a:rPr>
              <a:t>UC-08</a:t>
            </a:r>
            <a:endParaRPr b="0" lang="fr-B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Shape 47"/>
          <p:cNvSpPr/>
          <p:nvPr/>
        </p:nvSpPr>
        <p:spPr>
          <a:xfrm>
            <a:off x="4919400" y="4142160"/>
            <a:ext cx="1005480" cy="237240"/>
          </a:xfrm>
          <a:prstGeom prst="roundRect">
            <a:avLst>
              <a:gd name="adj" fmla="val 23077"/>
            </a:avLst>
          </a:prstGeom>
          <a:solidFill>
            <a:srgbClr val="c039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" name="Text 48"/>
          <p:cNvSpPr/>
          <p:nvPr/>
        </p:nvSpPr>
        <p:spPr>
          <a:xfrm>
            <a:off x="4919400" y="4142160"/>
            <a:ext cx="10054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Calibri"/>
              </a:rPr>
              <a:t>Analytics</a:t>
            </a:r>
            <a:endParaRPr b="0" lang="fr-BE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Text 49"/>
          <p:cNvSpPr/>
          <p:nvPr/>
        </p:nvSpPr>
        <p:spPr>
          <a:xfrm>
            <a:off x="4919400" y="3849480"/>
            <a:ext cx="35658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a1a2e"/>
                </a:solidFill>
                <a:latin typeface="Calibri"/>
              </a:rPr>
              <a:t>Tableaux de Bord Analytics</a:t>
            </a:r>
            <a:endParaRPr b="0" lang="fr-BE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Shape 0"/>
          <p:cNvSpPr/>
          <p:nvPr/>
        </p:nvSpPr>
        <p:spPr>
          <a:xfrm>
            <a:off x="0" y="0"/>
            <a:ext cx="9143640" cy="658080"/>
          </a:xfrm>
          <a:prstGeom prst="rect">
            <a:avLst/>
          </a:prstGeom>
          <a:solidFill>
            <a:srgbClr val="0a234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" name="Text 1"/>
          <p:cNvSpPr/>
          <p:nvPr/>
        </p:nvSpPr>
        <p:spPr>
          <a:xfrm>
            <a:off x="365760" y="0"/>
            <a:ext cx="84121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ffffff"/>
                </a:solidFill>
                <a:latin typeface="Calibri"/>
                <a:ea typeface="Calibri"/>
              </a:rPr>
              <a:t>🧪  </a:t>
            </a:r>
            <a:r>
              <a:rPr b="1" lang="en-US" sz="2100" spc="-1" strike="noStrike">
                <a:solidFill>
                  <a:srgbClr val="ffffff"/>
                </a:solidFill>
                <a:latin typeface="Calibri"/>
                <a:ea typeface="Calibri"/>
              </a:rPr>
              <a:t>Stratégie de Test &amp; Intégration Cucumber</a:t>
            </a:r>
            <a:endParaRPr b="0" lang="fr-BE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Shape 2"/>
          <p:cNvSpPr/>
          <p:nvPr/>
        </p:nvSpPr>
        <p:spPr>
          <a:xfrm>
            <a:off x="2286000" y="914400"/>
            <a:ext cx="4571640" cy="529920"/>
          </a:xfrm>
          <a:prstGeom prst="rect">
            <a:avLst/>
          </a:prstGeom>
          <a:solidFill>
            <a:srgbClr val="c0392b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" name="Text 3"/>
          <p:cNvSpPr/>
          <p:nvPr/>
        </p:nvSpPr>
        <p:spPr>
          <a:xfrm>
            <a:off x="2286000" y="914400"/>
            <a:ext cx="457164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E2E Tests (Playwright)  —  ~30 scénarios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Shape 4"/>
          <p:cNvSpPr/>
          <p:nvPr/>
        </p:nvSpPr>
        <p:spPr>
          <a:xfrm>
            <a:off x="1371600" y="1554480"/>
            <a:ext cx="6400440" cy="529920"/>
          </a:xfrm>
          <a:prstGeom prst="rect">
            <a:avLst/>
          </a:prstGeom>
          <a:solidFill>
            <a:srgbClr val="d35400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" name="Text 5"/>
          <p:cNvSpPr/>
          <p:nvPr/>
        </p:nvSpPr>
        <p:spPr>
          <a:xfrm>
            <a:off x="1371600" y="1554480"/>
            <a:ext cx="640044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Integration Tests (Cucumber + Spring Boot Test)  —  ~120 scénarios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Shape 6"/>
          <p:cNvSpPr/>
          <p:nvPr/>
        </p:nvSpPr>
        <p:spPr>
          <a:xfrm>
            <a:off x="457200" y="2194560"/>
            <a:ext cx="8229240" cy="529920"/>
          </a:xfrm>
          <a:prstGeom prst="rect">
            <a:avLst/>
          </a:prstGeom>
          <a:solidFill>
            <a:srgbClr val="1e8449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" name="Text 7"/>
          <p:cNvSpPr/>
          <p:nvPr/>
        </p:nvSpPr>
        <p:spPr>
          <a:xfrm>
            <a:off x="457200" y="2194560"/>
            <a:ext cx="822924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Unit Tests (JUnit 5 + Mockito)  —  ~500+ scénarios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Text 8"/>
          <p:cNvSpPr/>
          <p:nvPr/>
        </p:nvSpPr>
        <p:spPr>
          <a:xfrm>
            <a:off x="274320" y="2834640"/>
            <a:ext cx="85950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pc="-1" strike="noStrike">
                <a:solidFill>
                  <a:srgbClr val="64748b"/>
                </a:solidFill>
                <a:latin typeface="Calibri"/>
              </a:rPr>
              <a:t>Pyramide de Tests CareSync</a:t>
            </a:r>
            <a:endParaRPr b="0" lang="fr-B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Shape 9"/>
          <p:cNvSpPr/>
          <p:nvPr/>
        </p:nvSpPr>
        <p:spPr>
          <a:xfrm>
            <a:off x="274320" y="3200400"/>
            <a:ext cx="2834280" cy="1691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df2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Shape 10"/>
          <p:cNvSpPr/>
          <p:nvPr/>
        </p:nvSpPr>
        <p:spPr>
          <a:xfrm>
            <a:off x="274320" y="3200400"/>
            <a:ext cx="2834280" cy="319680"/>
          </a:xfrm>
          <a:prstGeom prst="rect">
            <a:avLst/>
          </a:prstGeom>
          <a:solidFill>
            <a:srgbClr val="1a5c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Text 11"/>
          <p:cNvSpPr/>
          <p:nvPr/>
        </p:nvSpPr>
        <p:spPr>
          <a:xfrm>
            <a:off x="365760" y="3200400"/>
            <a:ext cx="26514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</a:rPr>
              <a:t>Structure Feature Files</a:t>
            </a:r>
            <a:endParaRPr b="0" lang="fr-B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 12"/>
          <p:cNvSpPr/>
          <p:nvPr/>
        </p:nvSpPr>
        <p:spPr>
          <a:xfrm>
            <a:off x="384120" y="3566160"/>
            <a:ext cx="263304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1a1a2e"/>
                </a:solidFill>
                <a:latin typeface="Courier New"/>
                <a:ea typeface="Courier New"/>
              </a:rPr>
              <a:t>src/test/resources/features/</a:t>
            </a:r>
            <a:endParaRPr b="0" lang="fr-BE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1a1a2e"/>
                </a:solidFill>
                <a:latin typeface="Courier New"/>
                <a:ea typeface="Courier New"/>
              </a:rPr>
              <a:t>  ├── </a:t>
            </a:r>
            <a:r>
              <a:rPr b="0" lang="en-US" sz="850" spc="-1" strike="noStrike">
                <a:solidFill>
                  <a:srgbClr val="1a1a2e"/>
                </a:solidFill>
                <a:latin typeface="Courier New"/>
                <a:ea typeface="Courier New"/>
              </a:rPr>
              <a:t>auth/        ← UC-01</a:t>
            </a:r>
            <a:endParaRPr b="0" lang="fr-BE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1a1a2e"/>
                </a:solidFill>
                <a:latin typeface="Courier New"/>
                <a:ea typeface="Courier New"/>
              </a:rPr>
              <a:t>  ├── </a:t>
            </a:r>
            <a:r>
              <a:rPr b="0" lang="en-US" sz="850" spc="-1" strike="noStrike">
                <a:solidFill>
                  <a:srgbClr val="1a1a2e"/>
                </a:solidFill>
                <a:latin typeface="Courier New"/>
                <a:ea typeface="Courier New"/>
              </a:rPr>
              <a:t>patient/     ← UC-02</a:t>
            </a:r>
            <a:endParaRPr b="0" lang="fr-BE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1a1a2e"/>
                </a:solidFill>
                <a:latin typeface="Courier New"/>
                <a:ea typeface="Courier New"/>
              </a:rPr>
              <a:t>  ├── </a:t>
            </a:r>
            <a:r>
              <a:rPr b="0" lang="en-US" sz="850" spc="-1" strike="noStrike">
                <a:solidFill>
                  <a:srgbClr val="1a1a2e"/>
                </a:solidFill>
                <a:latin typeface="Courier New"/>
                <a:ea typeface="Courier New"/>
              </a:rPr>
              <a:t>care-plan/   ← UC-03</a:t>
            </a:r>
            <a:endParaRPr b="0" lang="fr-BE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1a1a2e"/>
                </a:solidFill>
                <a:latin typeface="Courier New"/>
                <a:ea typeface="Courier New"/>
              </a:rPr>
              <a:t>  ├── </a:t>
            </a:r>
            <a:r>
              <a:rPr b="0" lang="en-US" sz="850" spc="-1" strike="noStrike">
                <a:solidFill>
                  <a:srgbClr val="1a1a2e"/>
                </a:solidFill>
                <a:latin typeface="Courier New"/>
                <a:ea typeface="Courier New"/>
              </a:rPr>
              <a:t>alerts/      ← UC-04</a:t>
            </a:r>
            <a:endParaRPr b="0" lang="fr-BE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1a1a2e"/>
                </a:solidFill>
                <a:latin typeface="Courier New"/>
                <a:ea typeface="Courier New"/>
              </a:rPr>
              <a:t>  └── </a:t>
            </a:r>
            <a:r>
              <a:rPr b="0" lang="en-US" sz="850" spc="-1" strike="noStrike">
                <a:solidFill>
                  <a:srgbClr val="1a1a2e"/>
                </a:solidFill>
                <a:latin typeface="Courier New"/>
                <a:ea typeface="Courier New"/>
              </a:rPr>
              <a:t>iot/         ← UC-05</a:t>
            </a:r>
            <a:endParaRPr b="0" lang="fr-BE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Shape 13"/>
          <p:cNvSpPr/>
          <p:nvPr/>
        </p:nvSpPr>
        <p:spPr>
          <a:xfrm>
            <a:off x="3227760" y="3200400"/>
            <a:ext cx="2834280" cy="1691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df2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Shape 14"/>
          <p:cNvSpPr/>
          <p:nvPr/>
        </p:nvSpPr>
        <p:spPr>
          <a:xfrm>
            <a:off x="3227760" y="3200400"/>
            <a:ext cx="2834280" cy="319680"/>
          </a:xfrm>
          <a:prstGeom prst="rect">
            <a:avLst/>
          </a:prstGeom>
          <a:solidFill>
            <a:srgbClr val="0e7c7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Text 15"/>
          <p:cNvSpPr/>
          <p:nvPr/>
        </p:nvSpPr>
        <p:spPr>
          <a:xfrm>
            <a:off x="3319200" y="3200400"/>
            <a:ext cx="26514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</a:rPr>
              <a:t>pom.xml — Cucumber</a:t>
            </a:r>
            <a:endParaRPr b="0" lang="fr-B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Text 16"/>
          <p:cNvSpPr/>
          <p:nvPr/>
        </p:nvSpPr>
        <p:spPr>
          <a:xfrm>
            <a:off x="3337560" y="3566160"/>
            <a:ext cx="263304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1a1a2e"/>
                </a:solidFill>
                <a:latin typeface="Courier New"/>
                <a:ea typeface="Courier New"/>
              </a:rPr>
              <a:t>&lt;dependency&gt;</a:t>
            </a:r>
            <a:endParaRPr b="0" lang="fr-BE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1a1a2e"/>
                </a:solidFill>
                <a:latin typeface="Courier New"/>
                <a:ea typeface="Courier New"/>
              </a:rPr>
              <a:t>  </a:t>
            </a:r>
            <a:r>
              <a:rPr b="0" lang="en-US" sz="850" spc="-1" strike="noStrike">
                <a:solidFill>
                  <a:srgbClr val="1a1a2e"/>
                </a:solidFill>
                <a:latin typeface="Courier New"/>
                <a:ea typeface="Courier New"/>
              </a:rPr>
              <a:t>&lt;groupId&gt;io.cucumber&lt;/groupId&gt;</a:t>
            </a:r>
            <a:endParaRPr b="0" lang="fr-BE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1a1a2e"/>
                </a:solidFill>
                <a:latin typeface="Courier New"/>
                <a:ea typeface="Courier New"/>
              </a:rPr>
              <a:t>  </a:t>
            </a:r>
            <a:r>
              <a:rPr b="0" lang="en-US" sz="850" spc="-1" strike="noStrike">
                <a:solidFill>
                  <a:srgbClr val="1a1a2e"/>
                </a:solidFill>
                <a:latin typeface="Courier New"/>
                <a:ea typeface="Courier New"/>
              </a:rPr>
              <a:t>&lt;artifactId&gt;cucumber-spring&lt;/artifactId&gt;</a:t>
            </a:r>
            <a:endParaRPr b="0" lang="fr-BE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1a1a2e"/>
                </a:solidFill>
                <a:latin typeface="Courier New"/>
                <a:ea typeface="Courier New"/>
              </a:rPr>
              <a:t>  </a:t>
            </a:r>
            <a:r>
              <a:rPr b="0" lang="en-US" sz="850" spc="-1" strike="noStrike">
                <a:solidFill>
                  <a:srgbClr val="1a1a2e"/>
                </a:solidFill>
                <a:latin typeface="Courier New"/>
                <a:ea typeface="Courier New"/>
              </a:rPr>
              <a:t>&lt;version&gt;7.x&lt;/version&gt;</a:t>
            </a:r>
            <a:endParaRPr b="0" lang="fr-BE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1a1a2e"/>
                </a:solidFill>
                <a:latin typeface="Courier New"/>
                <a:ea typeface="Courier New"/>
              </a:rPr>
              <a:t>&lt;/dependency&gt;</a:t>
            </a:r>
            <a:endParaRPr b="0" lang="fr-BE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Shape 17"/>
          <p:cNvSpPr/>
          <p:nvPr/>
        </p:nvSpPr>
        <p:spPr>
          <a:xfrm>
            <a:off x="6181200" y="3200400"/>
            <a:ext cx="2834280" cy="1691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df2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Shape 18"/>
          <p:cNvSpPr/>
          <p:nvPr/>
        </p:nvSpPr>
        <p:spPr>
          <a:xfrm>
            <a:off x="6181200" y="3200400"/>
            <a:ext cx="2834280" cy="319680"/>
          </a:xfrm>
          <a:prstGeom prst="rect">
            <a:avLst/>
          </a:prstGeom>
          <a:solidFill>
            <a:srgbClr val="1e844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 19"/>
          <p:cNvSpPr/>
          <p:nvPr/>
        </p:nvSpPr>
        <p:spPr>
          <a:xfrm>
            <a:off x="6272640" y="3200400"/>
            <a:ext cx="26514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</a:rPr>
              <a:t>Tags &amp; Profils CI</a:t>
            </a:r>
            <a:endParaRPr b="0" lang="fr-B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Text 20"/>
          <p:cNvSpPr/>
          <p:nvPr/>
        </p:nvSpPr>
        <p:spPr>
          <a:xfrm>
            <a:off x="6291000" y="3566160"/>
            <a:ext cx="263304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1a1a2e"/>
                </a:solidFill>
                <a:latin typeface="Courier New"/>
                <a:ea typeface="Courier New"/>
              </a:rPr>
              <a:t>@smoke     → pipeline PR (rapide)</a:t>
            </a:r>
            <a:endParaRPr b="0" lang="fr-BE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1a1a2e"/>
                </a:solidFill>
                <a:latin typeface="Courier New"/>
                <a:ea typeface="Courier New"/>
              </a:rPr>
              <a:t>@critical  → pipeline main branch</a:t>
            </a:r>
            <a:endParaRPr b="0" lang="fr-BE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1a1a2e"/>
                </a:solidFill>
                <a:latin typeface="Courier New"/>
                <a:ea typeface="Courier New"/>
              </a:rPr>
              <a:t>@regression → nightly build complet</a:t>
            </a:r>
            <a:endParaRPr b="0" lang="fr-BE" sz="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1a1a2e"/>
                </a:solidFill>
                <a:latin typeface="Courier New"/>
                <a:ea typeface="Courier New"/>
              </a:rPr>
              <a:t>@wip       → dev en cours (exclus CI)</a:t>
            </a:r>
            <a:endParaRPr b="0" lang="fr-BE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Shape 0"/>
          <p:cNvSpPr/>
          <p:nvPr/>
        </p:nvSpPr>
        <p:spPr>
          <a:xfrm>
            <a:off x="0" y="0"/>
            <a:ext cx="9143640" cy="685440"/>
          </a:xfrm>
          <a:prstGeom prst="rect">
            <a:avLst/>
          </a:prstGeom>
          <a:solidFill>
            <a:srgbClr val="1a5c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" name="Shape 1"/>
          <p:cNvSpPr/>
          <p:nvPr/>
        </p:nvSpPr>
        <p:spPr>
          <a:xfrm>
            <a:off x="0" y="685800"/>
            <a:ext cx="9143640" cy="45360"/>
          </a:xfrm>
          <a:prstGeom prst="rect">
            <a:avLst/>
          </a:prstGeom>
          <a:solidFill>
            <a:srgbClr val="d6e9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Text 2"/>
          <p:cNvSpPr/>
          <p:nvPr/>
        </p:nvSpPr>
        <p:spPr>
          <a:xfrm>
            <a:off x="320040" y="0"/>
            <a:ext cx="10054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a0c8df"/>
                </a:solidFill>
                <a:latin typeface="Calibri"/>
              </a:rPr>
              <a:t>UC-01</a:t>
            </a:r>
            <a:endParaRPr b="0" lang="fr-BE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Text 3"/>
          <p:cNvSpPr/>
          <p:nvPr/>
        </p:nvSpPr>
        <p:spPr>
          <a:xfrm>
            <a:off x="1371600" y="0"/>
            <a:ext cx="68576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Authentification MFA via Keycloak</a:t>
            </a:r>
            <a:endParaRPr b="0" lang="fr-BE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Shape 4"/>
          <p:cNvSpPr/>
          <p:nvPr/>
        </p:nvSpPr>
        <p:spPr>
          <a:xfrm>
            <a:off x="7863840" y="109800"/>
            <a:ext cx="1005480" cy="456840"/>
          </a:xfrm>
          <a:prstGeom prst="roundRect">
            <a:avLst>
              <a:gd name="adj" fmla="val 16000"/>
            </a:avLst>
          </a:prstGeom>
          <a:solidFill>
            <a:srgbClr val="ffffff">
              <a:alpha val="8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Text 5"/>
          <p:cNvSpPr/>
          <p:nvPr/>
        </p:nvSpPr>
        <p:spPr>
          <a:xfrm>
            <a:off x="7863840" y="109800"/>
            <a:ext cx="1005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</a:rPr>
              <a:t>Sécurité</a:t>
            </a:r>
            <a:endParaRPr b="0" lang="fr-B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Shape 6"/>
          <p:cNvSpPr/>
          <p:nvPr/>
        </p:nvSpPr>
        <p:spPr>
          <a:xfrm>
            <a:off x="274320" y="868680"/>
            <a:ext cx="8595000" cy="776880"/>
          </a:xfrm>
          <a:prstGeom prst="rect">
            <a:avLst/>
          </a:prstGeom>
          <a:solidFill>
            <a:srgbClr val="d6e9f8"/>
          </a:solidFill>
          <a:ln w="12700">
            <a:solidFill>
              <a:srgbClr val="1a5c8a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Text 7"/>
          <p:cNvSpPr/>
          <p:nvPr/>
        </p:nvSpPr>
        <p:spPr>
          <a:xfrm>
            <a:off x="457200" y="896040"/>
            <a:ext cx="8229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📋  </a:t>
            </a: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Un professionnel de santé s'authentifie sur CareSync via Keycloak avec MFA (TOTP). L'accès est refusé sans second facteur valide.</a:t>
            </a:r>
            <a:endParaRPr b="0" lang="fr-BE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Shape 8"/>
          <p:cNvSpPr/>
          <p:nvPr/>
        </p:nvSpPr>
        <p:spPr>
          <a:xfrm>
            <a:off x="274320" y="1783080"/>
            <a:ext cx="4114440" cy="1462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df2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Shape 9"/>
          <p:cNvSpPr/>
          <p:nvPr/>
        </p:nvSpPr>
        <p:spPr>
          <a:xfrm>
            <a:off x="274320" y="1783080"/>
            <a:ext cx="4114440" cy="347040"/>
          </a:xfrm>
          <a:prstGeom prst="rect">
            <a:avLst/>
          </a:prstGeom>
          <a:solidFill>
            <a:srgbClr val="1a5c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" name="Text 10"/>
          <p:cNvSpPr/>
          <p:nvPr/>
        </p:nvSpPr>
        <p:spPr>
          <a:xfrm>
            <a:off x="274320" y="1783080"/>
            <a:ext cx="41144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6320" rIns="76320" tIns="76320" bIns="7632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👤  </a:t>
            </a: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ACTEURS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Text 11"/>
          <p:cNvSpPr/>
          <p:nvPr/>
        </p:nvSpPr>
        <p:spPr>
          <a:xfrm>
            <a:off x="411480" y="2176200"/>
            <a:ext cx="384012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Médecin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Infirmier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Pharmacien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Administrateur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Shape 12"/>
          <p:cNvSpPr/>
          <p:nvPr/>
        </p:nvSpPr>
        <p:spPr>
          <a:xfrm>
            <a:off x="4754880" y="1783080"/>
            <a:ext cx="4114440" cy="1462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df2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Shape 13"/>
          <p:cNvSpPr/>
          <p:nvPr/>
        </p:nvSpPr>
        <p:spPr>
          <a:xfrm>
            <a:off x="4754880" y="1783080"/>
            <a:ext cx="4114440" cy="347040"/>
          </a:xfrm>
          <a:prstGeom prst="rect">
            <a:avLst/>
          </a:prstGeom>
          <a:solidFill>
            <a:srgbClr val="64748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" name="Text 14"/>
          <p:cNvSpPr/>
          <p:nvPr/>
        </p:nvSpPr>
        <p:spPr>
          <a:xfrm>
            <a:off x="4754880" y="1783080"/>
            <a:ext cx="41144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6320" rIns="76320" tIns="76320" bIns="7632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⚙️  </a:t>
            </a: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PRÉCONDITIONS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Text 15"/>
          <p:cNvSpPr/>
          <p:nvPr/>
        </p:nvSpPr>
        <p:spPr>
          <a:xfrm>
            <a:off x="4892040" y="2176200"/>
            <a:ext cx="384012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Keycloak realm 'caresync' actif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Compte utilisateur créé et activé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Application TOTP configurée (Google Authenticator)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Shape 16"/>
          <p:cNvSpPr/>
          <p:nvPr/>
        </p:nvSpPr>
        <p:spPr>
          <a:xfrm>
            <a:off x="274320" y="3364920"/>
            <a:ext cx="8595000" cy="319680"/>
          </a:xfrm>
          <a:prstGeom prst="rect">
            <a:avLst/>
          </a:prstGeom>
          <a:solidFill>
            <a:srgbClr val="1a1a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" name="Text 17"/>
          <p:cNvSpPr/>
          <p:nvPr/>
        </p:nvSpPr>
        <p:spPr>
          <a:xfrm>
            <a:off x="274320" y="3364920"/>
            <a:ext cx="8595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rIns="101520" tIns="101520" bIns="10152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199" strike="noStrike">
                <a:solidFill>
                  <a:srgbClr val="ffffff"/>
                </a:solidFill>
                <a:latin typeface="Calibri"/>
              </a:rPr>
              <a:t>SCÉNARIOS BDD / GHERKIN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Shape 18"/>
          <p:cNvSpPr/>
          <p:nvPr/>
        </p:nvSpPr>
        <p:spPr>
          <a:xfrm>
            <a:off x="274320" y="3749040"/>
            <a:ext cx="8595000" cy="2556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Shape 19"/>
          <p:cNvSpPr/>
          <p:nvPr/>
        </p:nvSpPr>
        <p:spPr>
          <a:xfrm>
            <a:off x="320040" y="3785760"/>
            <a:ext cx="822600" cy="182520"/>
          </a:xfrm>
          <a:prstGeom prst="roundRect">
            <a:avLst>
              <a:gd name="adj" fmla="val 25000"/>
            </a:avLst>
          </a:prstGeom>
          <a:solidFill>
            <a:srgbClr val="1e844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Text 20"/>
          <p:cNvSpPr/>
          <p:nvPr/>
        </p:nvSpPr>
        <p:spPr>
          <a:xfrm>
            <a:off x="320040" y="3785760"/>
            <a:ext cx="822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ffffff"/>
                </a:solidFill>
                <a:latin typeface="Calibri"/>
              </a:rPr>
              <a:t>@smoke</a:t>
            </a:r>
            <a:endParaRPr b="0" lang="fr-BE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Text 21"/>
          <p:cNvSpPr/>
          <p:nvPr/>
        </p:nvSpPr>
        <p:spPr>
          <a:xfrm>
            <a:off x="1234440" y="3749040"/>
            <a:ext cx="74977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Connexion réussie avec MFA valide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Shape 22"/>
          <p:cNvSpPr/>
          <p:nvPr/>
        </p:nvSpPr>
        <p:spPr>
          <a:xfrm>
            <a:off x="274320" y="4060080"/>
            <a:ext cx="8595000" cy="255600"/>
          </a:xfrm>
          <a:prstGeom prst="roundRect">
            <a:avLst>
              <a:gd name="adj" fmla="val 14286"/>
            </a:avLst>
          </a:prstGeom>
          <a:solidFill>
            <a:srgbClr val="e8ed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Shape 23"/>
          <p:cNvSpPr/>
          <p:nvPr/>
        </p:nvSpPr>
        <p:spPr>
          <a:xfrm>
            <a:off x="320040" y="4096440"/>
            <a:ext cx="822600" cy="182520"/>
          </a:xfrm>
          <a:prstGeom prst="roundRect">
            <a:avLst>
              <a:gd name="adj" fmla="val 25000"/>
            </a:avLst>
          </a:prstGeom>
          <a:solidFill>
            <a:srgbClr val="c039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 24"/>
          <p:cNvSpPr/>
          <p:nvPr/>
        </p:nvSpPr>
        <p:spPr>
          <a:xfrm>
            <a:off x="320040" y="4096440"/>
            <a:ext cx="822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ffffff"/>
                </a:solidFill>
                <a:latin typeface="Calibri"/>
              </a:rPr>
              <a:t>@critical</a:t>
            </a:r>
            <a:endParaRPr b="0" lang="fr-BE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Text 25"/>
          <p:cNvSpPr/>
          <p:nvPr/>
        </p:nvSpPr>
        <p:spPr>
          <a:xfrm>
            <a:off x="1234440" y="4060080"/>
            <a:ext cx="74977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Refus si mot de passe incorrect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Shape 26"/>
          <p:cNvSpPr/>
          <p:nvPr/>
        </p:nvSpPr>
        <p:spPr>
          <a:xfrm>
            <a:off x="274320" y="4370760"/>
            <a:ext cx="8595000" cy="2556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Shape 27"/>
          <p:cNvSpPr/>
          <p:nvPr/>
        </p:nvSpPr>
        <p:spPr>
          <a:xfrm>
            <a:off x="320040" y="4407480"/>
            <a:ext cx="822600" cy="182520"/>
          </a:xfrm>
          <a:prstGeom prst="roundRect">
            <a:avLst>
              <a:gd name="adj" fmla="val 25000"/>
            </a:avLst>
          </a:prstGeom>
          <a:solidFill>
            <a:srgbClr val="c039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" name="Text 28"/>
          <p:cNvSpPr/>
          <p:nvPr/>
        </p:nvSpPr>
        <p:spPr>
          <a:xfrm>
            <a:off x="320040" y="4407480"/>
            <a:ext cx="822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ffffff"/>
                </a:solidFill>
                <a:latin typeface="Calibri"/>
              </a:rPr>
              <a:t>@critical</a:t>
            </a:r>
            <a:endParaRPr b="0" lang="fr-BE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Text 29"/>
          <p:cNvSpPr/>
          <p:nvPr/>
        </p:nvSpPr>
        <p:spPr>
          <a:xfrm>
            <a:off x="1234440" y="4370760"/>
            <a:ext cx="74977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Refus si code TOTP expiré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Shape 30"/>
          <p:cNvSpPr/>
          <p:nvPr/>
        </p:nvSpPr>
        <p:spPr>
          <a:xfrm>
            <a:off x="274320" y="4681800"/>
            <a:ext cx="8595000" cy="255600"/>
          </a:xfrm>
          <a:prstGeom prst="roundRect">
            <a:avLst>
              <a:gd name="adj" fmla="val 14286"/>
            </a:avLst>
          </a:prstGeom>
          <a:solidFill>
            <a:srgbClr val="e8ed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Shape 31"/>
          <p:cNvSpPr/>
          <p:nvPr/>
        </p:nvSpPr>
        <p:spPr>
          <a:xfrm>
            <a:off x="320040" y="4718160"/>
            <a:ext cx="822600" cy="182520"/>
          </a:xfrm>
          <a:prstGeom prst="roundRect">
            <a:avLst>
              <a:gd name="adj" fmla="val 25000"/>
            </a:avLst>
          </a:prstGeom>
          <a:solidFill>
            <a:srgbClr val="1e844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" name="Text 32"/>
          <p:cNvSpPr/>
          <p:nvPr/>
        </p:nvSpPr>
        <p:spPr>
          <a:xfrm>
            <a:off x="320040" y="4718160"/>
            <a:ext cx="822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ffffff"/>
                </a:solidFill>
                <a:latin typeface="Calibri"/>
              </a:rPr>
              <a:t>@smoke</a:t>
            </a:r>
            <a:endParaRPr b="0" lang="fr-BE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Text 33"/>
          <p:cNvSpPr/>
          <p:nvPr/>
        </p:nvSpPr>
        <p:spPr>
          <a:xfrm>
            <a:off x="1234440" y="4681800"/>
            <a:ext cx="74977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Déconnexion et invalidation de session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Shape 0"/>
          <p:cNvSpPr/>
          <p:nvPr/>
        </p:nvSpPr>
        <p:spPr>
          <a:xfrm>
            <a:off x="0" y="0"/>
            <a:ext cx="9143640" cy="548280"/>
          </a:xfrm>
          <a:prstGeom prst="rect">
            <a:avLst/>
          </a:prstGeom>
          <a:solidFill>
            <a:srgbClr val="1a5c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" name="Text 1"/>
          <p:cNvSpPr/>
          <p:nvPr/>
        </p:nvSpPr>
        <p:spPr>
          <a:xfrm>
            <a:off x="274320" y="0"/>
            <a:ext cx="85950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🥒  </a:t>
            </a: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UC-01 · Scénario nominal — Gherkin / Cucumber</a:t>
            </a:r>
            <a:endParaRPr b="0" lang="fr-BE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" name="Shape 2"/>
          <p:cNvSpPr/>
          <p:nvPr/>
        </p:nvSpPr>
        <p:spPr>
          <a:xfrm>
            <a:off x="228600" y="658440"/>
            <a:ext cx="8686440" cy="41144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" name="Shape 3"/>
          <p:cNvSpPr/>
          <p:nvPr/>
        </p:nvSpPr>
        <p:spPr>
          <a:xfrm>
            <a:off x="228600" y="658440"/>
            <a:ext cx="8686440" cy="328680"/>
          </a:xfrm>
          <a:prstGeom prst="rect">
            <a:avLst/>
          </a:prstGeom>
          <a:solidFill>
            <a:srgbClr val="21262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" name="Shape 4"/>
          <p:cNvSpPr/>
          <p:nvPr/>
        </p:nvSpPr>
        <p:spPr>
          <a:xfrm>
            <a:off x="457200" y="749880"/>
            <a:ext cx="145800" cy="14580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" name="Shape 5"/>
          <p:cNvSpPr/>
          <p:nvPr/>
        </p:nvSpPr>
        <p:spPr>
          <a:xfrm>
            <a:off x="713160" y="749880"/>
            <a:ext cx="145800" cy="14580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Shape 6"/>
          <p:cNvSpPr/>
          <p:nvPr/>
        </p:nvSpPr>
        <p:spPr>
          <a:xfrm>
            <a:off x="969120" y="749880"/>
            <a:ext cx="145800" cy="14580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" name="Text 7"/>
          <p:cNvSpPr/>
          <p:nvPr/>
        </p:nvSpPr>
        <p:spPr>
          <a:xfrm>
            <a:off x="1371600" y="658440"/>
            <a:ext cx="64004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8b949e"/>
                </a:solidFill>
                <a:latin typeface="Calibri"/>
              </a:rPr>
              <a:t>src/test/resources/features/auth/authentication.feature</a:t>
            </a:r>
            <a:endParaRPr b="0" lang="fr-BE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 8"/>
          <p:cNvSpPr/>
          <p:nvPr/>
        </p:nvSpPr>
        <p:spPr>
          <a:xfrm>
            <a:off x="365760" y="1078920"/>
            <a:ext cx="8412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Feature: Authentification MFA CareSync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" name="Text 9"/>
          <p:cNvSpPr/>
          <p:nvPr/>
        </p:nvSpPr>
        <p:spPr>
          <a:xfrm>
            <a:off x="365760" y="1216080"/>
            <a:ext cx="8412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edf3"/>
                </a:solidFill>
                <a:latin typeface="Courier New"/>
                <a:ea typeface="Courier New"/>
              </a:rPr>
              <a:t>  </a:t>
            </a:r>
            <a:r>
              <a:rPr b="0" lang="en-US" sz="950" spc="-1" strike="noStrike">
                <a:solidFill>
                  <a:srgbClr val="e6edf3"/>
                </a:solidFill>
                <a:latin typeface="Courier New"/>
                <a:ea typeface="Courier New"/>
              </a:rPr>
              <a:t>En tant que professionnel de santé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8" name="Text 10"/>
          <p:cNvSpPr/>
          <p:nvPr/>
        </p:nvSpPr>
        <p:spPr>
          <a:xfrm>
            <a:off x="365760" y="1353240"/>
            <a:ext cx="8412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edf3"/>
                </a:solidFill>
                <a:latin typeface="Courier New"/>
                <a:ea typeface="Courier New"/>
              </a:rPr>
              <a:t>  </a:t>
            </a:r>
            <a:r>
              <a:rPr b="0" lang="en-US" sz="950" spc="-1" strike="noStrike">
                <a:solidFill>
                  <a:srgbClr val="e6edf3"/>
                </a:solidFill>
                <a:latin typeface="Courier New"/>
                <a:ea typeface="Courier New"/>
              </a:rPr>
              <a:t>Je veux m'authentifier de manière sécurisée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" name="Text 11"/>
          <p:cNvSpPr/>
          <p:nvPr/>
        </p:nvSpPr>
        <p:spPr>
          <a:xfrm>
            <a:off x="365760" y="1490400"/>
            <a:ext cx="8412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edf3"/>
                </a:solidFill>
                <a:latin typeface="Courier New"/>
                <a:ea typeface="Courier New"/>
              </a:rPr>
              <a:t>  </a:t>
            </a:r>
            <a:r>
              <a:rPr b="0" lang="en-US" sz="950" spc="-1" strike="noStrike">
                <a:solidFill>
                  <a:srgbClr val="e6edf3"/>
                </a:solidFill>
                <a:latin typeface="Courier New"/>
                <a:ea typeface="Courier New"/>
              </a:rPr>
              <a:t>Afin d'accéder aux dossiers patients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Text 12"/>
          <p:cNvSpPr/>
          <p:nvPr/>
        </p:nvSpPr>
        <p:spPr>
          <a:xfrm>
            <a:off x="365760" y="1764720"/>
            <a:ext cx="8412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e3b341"/>
                </a:solidFill>
                <a:latin typeface="Courier New"/>
                <a:ea typeface="Courier New"/>
              </a:rPr>
              <a:t>  </a:t>
            </a:r>
            <a:r>
              <a:rPr b="1" lang="en-US" sz="950" spc="-1" strike="noStrike">
                <a:solidFill>
                  <a:srgbClr val="e3b341"/>
                </a:solidFill>
                <a:latin typeface="Courier New"/>
                <a:ea typeface="Courier New"/>
              </a:rPr>
              <a:t>Background: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" name="Text 13"/>
          <p:cNvSpPr/>
          <p:nvPr/>
        </p:nvSpPr>
        <p:spPr>
          <a:xfrm>
            <a:off x="365760" y="1901880"/>
            <a:ext cx="8412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7ee787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7ee787"/>
                </a:solidFill>
                <a:latin typeface="Courier New"/>
                <a:ea typeface="Courier New"/>
              </a:rPr>
              <a:t>Given le realm Keycloak "caresync" est opérationnel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Text 14"/>
          <p:cNvSpPr/>
          <p:nvPr/>
        </p:nvSpPr>
        <p:spPr>
          <a:xfrm>
            <a:off x="365760" y="2039040"/>
            <a:ext cx="8412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And l'utilisateur "dr.dupont" existe avec le rôle "MEDECIN"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" name="Text 15"/>
          <p:cNvSpPr/>
          <p:nvPr/>
        </p:nvSpPr>
        <p:spPr>
          <a:xfrm>
            <a:off x="365760" y="2313360"/>
            <a:ext cx="8412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f85149"/>
                </a:solidFill>
                <a:latin typeface="Courier New"/>
                <a:ea typeface="Courier New"/>
              </a:rPr>
              <a:t>  </a:t>
            </a:r>
            <a:r>
              <a:rPr b="1" lang="en-US" sz="950" spc="-1" strike="noStrike">
                <a:solidFill>
                  <a:srgbClr val="f85149"/>
                </a:solidFill>
                <a:latin typeface="Courier New"/>
                <a:ea typeface="Courier New"/>
              </a:rPr>
              <a:t>@smoke @UC-01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Text 16"/>
          <p:cNvSpPr/>
          <p:nvPr/>
        </p:nvSpPr>
        <p:spPr>
          <a:xfrm>
            <a:off x="365760" y="2450520"/>
            <a:ext cx="8412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79c0ff"/>
                </a:solidFill>
                <a:latin typeface="Courier New"/>
                <a:ea typeface="Courier New"/>
              </a:rPr>
              <a:t>  </a:t>
            </a:r>
            <a:r>
              <a:rPr b="1" lang="en-US" sz="950" spc="-1" strike="noStrike">
                <a:solidFill>
                  <a:srgbClr val="79c0ff"/>
                </a:solidFill>
                <a:latin typeface="Courier New"/>
                <a:ea typeface="Courier New"/>
              </a:rPr>
              <a:t>Scenario: Connexion réussie avec identifiants et TOTP valides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5" name="Text 17"/>
          <p:cNvSpPr/>
          <p:nvPr/>
        </p:nvSpPr>
        <p:spPr>
          <a:xfrm>
            <a:off x="365760" y="2587680"/>
            <a:ext cx="8412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7ee787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7ee787"/>
                </a:solidFill>
                <a:latin typeface="Courier New"/>
                <a:ea typeface="Courier New"/>
              </a:rPr>
              <a:t>Given je suis sur la page de connexion CareSync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" name="Text 18"/>
          <p:cNvSpPr/>
          <p:nvPr/>
        </p:nvSpPr>
        <p:spPr>
          <a:xfrm>
            <a:off x="365760" y="2724840"/>
            <a:ext cx="8412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56d364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56d364"/>
                </a:solidFill>
                <a:latin typeface="Courier New"/>
                <a:ea typeface="Courier New"/>
              </a:rPr>
              <a:t>When je saisis le login "dr.dupont" et le mot de passe "Password1!"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" name="Text 19"/>
          <p:cNvSpPr/>
          <p:nvPr/>
        </p:nvSpPr>
        <p:spPr>
          <a:xfrm>
            <a:off x="365760" y="2862000"/>
            <a:ext cx="8412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And je valide le code TOTP généré par mon application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" name="Text 20"/>
          <p:cNvSpPr/>
          <p:nvPr/>
        </p:nvSpPr>
        <p:spPr>
          <a:xfrm>
            <a:off x="365760" y="2999160"/>
            <a:ext cx="8412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79c0ff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79c0ff"/>
                </a:solidFill>
                <a:latin typeface="Courier New"/>
                <a:ea typeface="Courier New"/>
              </a:rPr>
              <a:t>Then je suis redirigé vers le tableau de bord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" name="Text 21"/>
          <p:cNvSpPr/>
          <p:nvPr/>
        </p:nvSpPr>
        <p:spPr>
          <a:xfrm>
            <a:off x="365760" y="3136320"/>
            <a:ext cx="8412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And un token JWT valide est présent dans la session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0" name="Text 22"/>
          <p:cNvSpPr/>
          <p:nvPr/>
        </p:nvSpPr>
        <p:spPr>
          <a:xfrm>
            <a:off x="365760" y="3273480"/>
            <a:ext cx="8412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And l'audit log enregistre la connexion réussie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" name="Text 23"/>
          <p:cNvSpPr/>
          <p:nvPr/>
        </p:nvSpPr>
        <p:spPr>
          <a:xfrm>
            <a:off x="365760" y="3547800"/>
            <a:ext cx="8412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f85149"/>
                </a:solidFill>
                <a:latin typeface="Courier New"/>
                <a:ea typeface="Courier New"/>
              </a:rPr>
              <a:t>  </a:t>
            </a:r>
            <a:r>
              <a:rPr b="1" lang="en-US" sz="950" spc="-1" strike="noStrike">
                <a:solidFill>
                  <a:srgbClr val="f85149"/>
                </a:solidFill>
                <a:latin typeface="Courier New"/>
                <a:ea typeface="Courier New"/>
              </a:rPr>
              <a:t>@critical @UC-01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" name="Text 24"/>
          <p:cNvSpPr/>
          <p:nvPr/>
        </p:nvSpPr>
        <p:spPr>
          <a:xfrm>
            <a:off x="365760" y="3684960"/>
            <a:ext cx="8412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79c0ff"/>
                </a:solidFill>
                <a:latin typeface="Courier New"/>
                <a:ea typeface="Courier New"/>
              </a:rPr>
              <a:t>  </a:t>
            </a:r>
            <a:r>
              <a:rPr b="1" lang="en-US" sz="950" spc="-1" strike="noStrike">
                <a:solidFill>
                  <a:srgbClr val="79c0ff"/>
                </a:solidFill>
                <a:latin typeface="Courier New"/>
                <a:ea typeface="Courier New"/>
              </a:rPr>
              <a:t>Scenario: Refus de connexion si code TOTP invalide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3" name="Text 25"/>
          <p:cNvSpPr/>
          <p:nvPr/>
        </p:nvSpPr>
        <p:spPr>
          <a:xfrm>
            <a:off x="365760" y="3822120"/>
            <a:ext cx="8412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7ee787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7ee787"/>
                </a:solidFill>
                <a:latin typeface="Courier New"/>
                <a:ea typeface="Courier New"/>
              </a:rPr>
              <a:t>Given je suis sur la page de connexion CareSync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" name="Text 26"/>
          <p:cNvSpPr/>
          <p:nvPr/>
        </p:nvSpPr>
        <p:spPr>
          <a:xfrm>
            <a:off x="365760" y="3959280"/>
            <a:ext cx="8412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56d364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56d364"/>
                </a:solidFill>
                <a:latin typeface="Courier New"/>
                <a:ea typeface="Courier New"/>
              </a:rPr>
              <a:t>When je saisis le login "dr.dupont" et le mot de passe "Password1!"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" name="Text 27"/>
          <p:cNvSpPr/>
          <p:nvPr/>
        </p:nvSpPr>
        <p:spPr>
          <a:xfrm>
            <a:off x="365760" y="4096440"/>
            <a:ext cx="8412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And je saisis le code TOTP "000000" (invalide)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" name="Text 28"/>
          <p:cNvSpPr/>
          <p:nvPr/>
        </p:nvSpPr>
        <p:spPr>
          <a:xfrm>
            <a:off x="365760" y="4233600"/>
            <a:ext cx="8412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79c0ff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79c0ff"/>
                </a:solidFill>
                <a:latin typeface="Courier New"/>
                <a:ea typeface="Courier New"/>
              </a:rPr>
              <a:t>Then un message d'erreur "Code invalide" s'affiche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" name="Text 29"/>
          <p:cNvSpPr/>
          <p:nvPr/>
        </p:nvSpPr>
        <p:spPr>
          <a:xfrm>
            <a:off x="365760" y="4370760"/>
            <a:ext cx="8412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And je reste sur la page de connexion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8" name="Text 30"/>
          <p:cNvSpPr/>
          <p:nvPr/>
        </p:nvSpPr>
        <p:spPr>
          <a:xfrm>
            <a:off x="365760" y="4507920"/>
            <a:ext cx="8412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And l'audit log enregistre la tentative échouée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Shape 0"/>
          <p:cNvSpPr/>
          <p:nvPr/>
        </p:nvSpPr>
        <p:spPr>
          <a:xfrm>
            <a:off x="0" y="0"/>
            <a:ext cx="9143640" cy="548280"/>
          </a:xfrm>
          <a:prstGeom prst="rect">
            <a:avLst/>
          </a:prstGeom>
          <a:solidFill>
            <a:srgbClr val="3a3a5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0" name="Text 1"/>
          <p:cNvSpPr/>
          <p:nvPr/>
        </p:nvSpPr>
        <p:spPr>
          <a:xfrm>
            <a:off x="274320" y="0"/>
            <a:ext cx="85950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⚡  </a:t>
            </a: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UC-01 · Scénarios alternatifs &amp; cas d'erreur</a:t>
            </a:r>
            <a:endParaRPr b="0" lang="fr-BE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" name="Shape 2"/>
          <p:cNvSpPr/>
          <p:nvPr/>
        </p:nvSpPr>
        <p:spPr>
          <a:xfrm>
            <a:off x="228600" y="658440"/>
            <a:ext cx="4297320" cy="41144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Shape 3"/>
          <p:cNvSpPr/>
          <p:nvPr/>
        </p:nvSpPr>
        <p:spPr>
          <a:xfrm>
            <a:off x="228600" y="658440"/>
            <a:ext cx="4297320" cy="292320"/>
          </a:xfrm>
          <a:prstGeom prst="rect">
            <a:avLst/>
          </a:prstGeom>
          <a:solidFill>
            <a:srgbClr val="21262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3" name="Shape 4"/>
          <p:cNvSpPr/>
          <p:nvPr/>
        </p:nvSpPr>
        <p:spPr>
          <a:xfrm>
            <a:off x="411480" y="731520"/>
            <a:ext cx="127800" cy="12780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4" name="Shape 5"/>
          <p:cNvSpPr/>
          <p:nvPr/>
        </p:nvSpPr>
        <p:spPr>
          <a:xfrm>
            <a:off x="621720" y="731520"/>
            <a:ext cx="127800" cy="12780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Shape 6"/>
          <p:cNvSpPr/>
          <p:nvPr/>
        </p:nvSpPr>
        <p:spPr>
          <a:xfrm>
            <a:off x="831960" y="731520"/>
            <a:ext cx="127800" cy="12780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Text 7"/>
          <p:cNvSpPr/>
          <p:nvPr/>
        </p:nvSpPr>
        <p:spPr>
          <a:xfrm>
            <a:off x="365760" y="102420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85149"/>
                </a:solidFill>
                <a:latin typeface="Courier New"/>
                <a:ea typeface="Courier New"/>
              </a:rPr>
              <a:t>  </a:t>
            </a:r>
            <a:r>
              <a:rPr b="1" lang="en-US" sz="850" spc="-1" strike="noStrike">
                <a:solidFill>
                  <a:srgbClr val="f85149"/>
                </a:solidFill>
                <a:latin typeface="Courier New"/>
                <a:ea typeface="Courier New"/>
              </a:rPr>
              <a:t>@critical @UC-01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7" name="Text 8"/>
          <p:cNvSpPr/>
          <p:nvPr/>
        </p:nvSpPr>
        <p:spPr>
          <a:xfrm>
            <a:off x="365760" y="122544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79c0ff"/>
                </a:solidFill>
                <a:latin typeface="Courier New"/>
                <a:ea typeface="Courier New"/>
              </a:rPr>
              <a:t>  </a:t>
            </a:r>
            <a:r>
              <a:rPr b="1" lang="en-US" sz="850" spc="-1" strike="noStrike">
                <a:solidFill>
                  <a:srgbClr val="79c0ff"/>
                </a:solidFill>
                <a:latin typeface="Courier New"/>
                <a:ea typeface="Courier New"/>
              </a:rPr>
              <a:t>Scenario: Blocage après 5 tentatives échouées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Text 9"/>
          <p:cNvSpPr/>
          <p:nvPr/>
        </p:nvSpPr>
        <p:spPr>
          <a:xfrm>
            <a:off x="365760" y="142632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7ee787"/>
                </a:solidFill>
                <a:latin typeface="Courier New"/>
                <a:ea typeface="Courier New"/>
              </a:rPr>
              <a:t>    </a:t>
            </a:r>
            <a:r>
              <a:rPr b="0" lang="en-US" sz="850" spc="-1" strike="noStrike">
                <a:solidFill>
                  <a:srgbClr val="7ee787"/>
                </a:solidFill>
                <a:latin typeface="Courier New"/>
                <a:ea typeface="Courier New"/>
              </a:rPr>
              <a:t>Given l'utilisateur "dr.dupont" a déjà échoué 4 fois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9" name="Text 10"/>
          <p:cNvSpPr/>
          <p:nvPr/>
        </p:nvSpPr>
        <p:spPr>
          <a:xfrm>
            <a:off x="365760" y="162756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56d364"/>
                </a:solidFill>
                <a:latin typeface="Courier New"/>
                <a:ea typeface="Courier New"/>
              </a:rPr>
              <a:t>    </a:t>
            </a:r>
            <a:r>
              <a:rPr b="0" lang="en-US" sz="850" spc="-1" strike="noStrike">
                <a:solidFill>
                  <a:srgbClr val="56d364"/>
                </a:solidFill>
                <a:latin typeface="Courier New"/>
                <a:ea typeface="Courier New"/>
              </a:rPr>
              <a:t>When je saisis un mot de passe incorrect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Text 11"/>
          <p:cNvSpPr/>
          <p:nvPr/>
        </p:nvSpPr>
        <p:spPr>
          <a:xfrm>
            <a:off x="365760" y="182880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79c0ff"/>
                </a:solidFill>
                <a:latin typeface="Courier New"/>
                <a:ea typeface="Courier New"/>
              </a:rPr>
              <a:t>    </a:t>
            </a:r>
            <a:r>
              <a:rPr b="0" lang="en-US" sz="850" spc="-1" strike="noStrike">
                <a:solidFill>
                  <a:srgbClr val="79c0ff"/>
                </a:solidFill>
                <a:latin typeface="Courier New"/>
                <a:ea typeface="Courier New"/>
              </a:rPr>
              <a:t>Then le compte est temporairement verrouillé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1" name="Text 12"/>
          <p:cNvSpPr/>
          <p:nvPr/>
        </p:nvSpPr>
        <p:spPr>
          <a:xfrm>
            <a:off x="365760" y="203004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d2a8ff"/>
                </a:solidFill>
                <a:latin typeface="Courier New"/>
                <a:ea typeface="Courier New"/>
              </a:rPr>
              <a:t>    </a:t>
            </a:r>
            <a:r>
              <a:rPr b="0" lang="en-US" sz="850" spc="-1" strike="noStrike">
                <a:solidFill>
                  <a:srgbClr val="d2a8ff"/>
                </a:solidFill>
                <a:latin typeface="Courier New"/>
                <a:ea typeface="Courier New"/>
              </a:rPr>
              <a:t>And un email d'alerte est envoyé à l'admin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2" name="Shape 13"/>
          <p:cNvSpPr/>
          <p:nvPr/>
        </p:nvSpPr>
        <p:spPr>
          <a:xfrm>
            <a:off x="4709160" y="658440"/>
            <a:ext cx="4297320" cy="41144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3" name="Shape 14"/>
          <p:cNvSpPr/>
          <p:nvPr/>
        </p:nvSpPr>
        <p:spPr>
          <a:xfrm>
            <a:off x="4709160" y="658440"/>
            <a:ext cx="4297320" cy="292320"/>
          </a:xfrm>
          <a:prstGeom prst="rect">
            <a:avLst/>
          </a:prstGeom>
          <a:solidFill>
            <a:srgbClr val="21262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4" name="Shape 15"/>
          <p:cNvSpPr/>
          <p:nvPr/>
        </p:nvSpPr>
        <p:spPr>
          <a:xfrm>
            <a:off x="4892040" y="731520"/>
            <a:ext cx="127800" cy="12780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5" name="Shape 16"/>
          <p:cNvSpPr/>
          <p:nvPr/>
        </p:nvSpPr>
        <p:spPr>
          <a:xfrm>
            <a:off x="5102280" y="731520"/>
            <a:ext cx="127800" cy="12780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Shape 17"/>
          <p:cNvSpPr/>
          <p:nvPr/>
        </p:nvSpPr>
        <p:spPr>
          <a:xfrm>
            <a:off x="5312520" y="731520"/>
            <a:ext cx="127800" cy="12780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" name="Text 18"/>
          <p:cNvSpPr/>
          <p:nvPr/>
        </p:nvSpPr>
        <p:spPr>
          <a:xfrm>
            <a:off x="4846320" y="102420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85149"/>
                </a:solidFill>
                <a:latin typeface="Courier New"/>
                <a:ea typeface="Courier New"/>
              </a:rPr>
              <a:t>  </a:t>
            </a:r>
            <a:r>
              <a:rPr b="1" lang="en-US" sz="850" spc="-1" strike="noStrike">
                <a:solidFill>
                  <a:srgbClr val="f85149"/>
                </a:solidFill>
                <a:latin typeface="Courier New"/>
                <a:ea typeface="Courier New"/>
              </a:rPr>
              <a:t>@smoke @UC-01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8" name="Text 19"/>
          <p:cNvSpPr/>
          <p:nvPr/>
        </p:nvSpPr>
        <p:spPr>
          <a:xfrm>
            <a:off x="4846320" y="122544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79c0ff"/>
                </a:solidFill>
                <a:latin typeface="Courier New"/>
                <a:ea typeface="Courier New"/>
              </a:rPr>
              <a:t>  </a:t>
            </a:r>
            <a:r>
              <a:rPr b="1" lang="en-US" sz="850" spc="-1" strike="noStrike">
                <a:solidFill>
                  <a:srgbClr val="79c0ff"/>
                </a:solidFill>
                <a:latin typeface="Courier New"/>
                <a:ea typeface="Courier New"/>
              </a:rPr>
              <a:t>Scenario: Déconnexion et invalidation de session Keycloak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9" name="Text 20"/>
          <p:cNvSpPr/>
          <p:nvPr/>
        </p:nvSpPr>
        <p:spPr>
          <a:xfrm>
            <a:off x="4846320" y="142632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7ee787"/>
                </a:solidFill>
                <a:latin typeface="Courier New"/>
                <a:ea typeface="Courier New"/>
              </a:rPr>
              <a:t>    </a:t>
            </a:r>
            <a:r>
              <a:rPr b="0" lang="en-US" sz="850" spc="-1" strike="noStrike">
                <a:solidFill>
                  <a:srgbClr val="7ee787"/>
                </a:solidFill>
                <a:latin typeface="Courier New"/>
                <a:ea typeface="Courier New"/>
              </a:rPr>
              <a:t>Given je suis connecté en tant que "dr.dupont"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0" name="Text 21"/>
          <p:cNvSpPr/>
          <p:nvPr/>
        </p:nvSpPr>
        <p:spPr>
          <a:xfrm>
            <a:off x="4846320" y="162756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56d364"/>
                </a:solidFill>
                <a:latin typeface="Courier New"/>
                <a:ea typeface="Courier New"/>
              </a:rPr>
              <a:t>    </a:t>
            </a:r>
            <a:r>
              <a:rPr b="0" lang="en-US" sz="850" spc="-1" strike="noStrike">
                <a:solidFill>
                  <a:srgbClr val="56d364"/>
                </a:solidFill>
                <a:latin typeface="Courier New"/>
                <a:ea typeface="Courier New"/>
              </a:rPr>
              <a:t>When je clique sur "Se déconnecter"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1" name="Text 22"/>
          <p:cNvSpPr/>
          <p:nvPr/>
        </p:nvSpPr>
        <p:spPr>
          <a:xfrm>
            <a:off x="4846320" y="182880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79c0ff"/>
                </a:solidFill>
                <a:latin typeface="Courier New"/>
                <a:ea typeface="Courier New"/>
              </a:rPr>
              <a:t>    </a:t>
            </a:r>
            <a:r>
              <a:rPr b="0" lang="en-US" sz="850" spc="-1" strike="noStrike">
                <a:solidFill>
                  <a:srgbClr val="79c0ff"/>
                </a:solidFill>
                <a:latin typeface="Courier New"/>
                <a:ea typeface="Courier New"/>
              </a:rPr>
              <a:t>Then la session Keycloak est invalidée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2" name="Text 23"/>
          <p:cNvSpPr/>
          <p:nvPr/>
        </p:nvSpPr>
        <p:spPr>
          <a:xfrm>
            <a:off x="4846320" y="203004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d2a8ff"/>
                </a:solidFill>
                <a:latin typeface="Courier New"/>
                <a:ea typeface="Courier New"/>
              </a:rPr>
              <a:t>    </a:t>
            </a:r>
            <a:r>
              <a:rPr b="0" lang="en-US" sz="850" spc="-1" strike="noStrike">
                <a:solidFill>
                  <a:srgbClr val="d2a8ff"/>
                </a:solidFill>
                <a:latin typeface="Courier New"/>
                <a:ea typeface="Courier New"/>
              </a:rPr>
              <a:t>And le cookie JSESSIONID est supprimé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3" name="Text 24"/>
          <p:cNvSpPr/>
          <p:nvPr/>
        </p:nvSpPr>
        <p:spPr>
          <a:xfrm>
            <a:off x="4846320" y="223128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d2a8ff"/>
                </a:solidFill>
                <a:latin typeface="Courier New"/>
                <a:ea typeface="Courier New"/>
              </a:rPr>
              <a:t>    </a:t>
            </a:r>
            <a:r>
              <a:rPr b="0" lang="en-US" sz="850" spc="-1" strike="noStrike">
                <a:solidFill>
                  <a:srgbClr val="d2a8ff"/>
                </a:solidFill>
                <a:latin typeface="Courier New"/>
                <a:ea typeface="Courier New"/>
              </a:rPr>
              <a:t>And je suis redirigé vers /login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Shape 0"/>
          <p:cNvSpPr/>
          <p:nvPr/>
        </p:nvSpPr>
        <p:spPr>
          <a:xfrm>
            <a:off x="0" y="0"/>
            <a:ext cx="9143640" cy="685440"/>
          </a:xfrm>
          <a:prstGeom prst="rect">
            <a:avLst/>
          </a:prstGeom>
          <a:solidFill>
            <a:srgbClr val="0e7c7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" name="Shape 1"/>
          <p:cNvSpPr/>
          <p:nvPr/>
        </p:nvSpPr>
        <p:spPr>
          <a:xfrm>
            <a:off x="0" y="685800"/>
            <a:ext cx="9143640" cy="45360"/>
          </a:xfrm>
          <a:prstGeom prst="rect">
            <a:avLst/>
          </a:prstGeom>
          <a:solidFill>
            <a:srgbClr val="d4eee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Text 2"/>
          <p:cNvSpPr/>
          <p:nvPr/>
        </p:nvSpPr>
        <p:spPr>
          <a:xfrm>
            <a:off x="320040" y="0"/>
            <a:ext cx="10054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a0c8df"/>
                </a:solidFill>
                <a:latin typeface="Calibri"/>
              </a:rPr>
              <a:t>UC-02</a:t>
            </a:r>
            <a:endParaRPr b="0" lang="fr-BE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Text 3"/>
          <p:cNvSpPr/>
          <p:nvPr/>
        </p:nvSpPr>
        <p:spPr>
          <a:xfrm>
            <a:off x="1371600" y="0"/>
            <a:ext cx="68576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Consultation du Dossier Patient</a:t>
            </a:r>
            <a:endParaRPr b="0" lang="fr-BE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Shape 4"/>
          <p:cNvSpPr/>
          <p:nvPr/>
        </p:nvSpPr>
        <p:spPr>
          <a:xfrm>
            <a:off x="7863840" y="109800"/>
            <a:ext cx="1005480" cy="456840"/>
          </a:xfrm>
          <a:prstGeom prst="roundRect">
            <a:avLst>
              <a:gd name="adj" fmla="val 16000"/>
            </a:avLst>
          </a:prstGeom>
          <a:solidFill>
            <a:srgbClr val="ffffff">
              <a:alpha val="8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Text 5"/>
          <p:cNvSpPr/>
          <p:nvPr/>
        </p:nvSpPr>
        <p:spPr>
          <a:xfrm>
            <a:off x="7863840" y="109800"/>
            <a:ext cx="1005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</a:rPr>
              <a:t>Patient</a:t>
            </a:r>
            <a:endParaRPr b="0" lang="fr-B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Shape 6"/>
          <p:cNvSpPr/>
          <p:nvPr/>
        </p:nvSpPr>
        <p:spPr>
          <a:xfrm>
            <a:off x="274320" y="868680"/>
            <a:ext cx="8595000" cy="776880"/>
          </a:xfrm>
          <a:prstGeom prst="rect">
            <a:avLst/>
          </a:prstGeom>
          <a:solidFill>
            <a:srgbClr val="d4eeee"/>
          </a:solidFill>
          <a:ln w="12700">
            <a:solidFill>
              <a:srgbClr val="0e7c7b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Text 7"/>
          <p:cNvSpPr/>
          <p:nvPr/>
        </p:nvSpPr>
        <p:spPr>
          <a:xfrm>
            <a:off x="457200" y="896040"/>
            <a:ext cx="8229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📋  </a:t>
            </a: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Un médecin consulte le dossier complet d'un patient dont il est responsable : antécédents, pathologies actives, traitements en cours et dernières observations.</a:t>
            </a:r>
            <a:endParaRPr b="0" lang="fr-BE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Shape 8"/>
          <p:cNvSpPr/>
          <p:nvPr/>
        </p:nvSpPr>
        <p:spPr>
          <a:xfrm>
            <a:off x="274320" y="1783080"/>
            <a:ext cx="4114440" cy="1462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df2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Shape 9"/>
          <p:cNvSpPr/>
          <p:nvPr/>
        </p:nvSpPr>
        <p:spPr>
          <a:xfrm>
            <a:off x="274320" y="1783080"/>
            <a:ext cx="4114440" cy="347040"/>
          </a:xfrm>
          <a:prstGeom prst="rect">
            <a:avLst/>
          </a:prstGeom>
          <a:solidFill>
            <a:srgbClr val="0e7c7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" name="Text 10"/>
          <p:cNvSpPr/>
          <p:nvPr/>
        </p:nvSpPr>
        <p:spPr>
          <a:xfrm>
            <a:off x="274320" y="1783080"/>
            <a:ext cx="41144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6320" rIns="76320" tIns="76320" bIns="7632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👤  </a:t>
            </a: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ACTEURS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Text 11"/>
          <p:cNvSpPr/>
          <p:nvPr/>
        </p:nvSpPr>
        <p:spPr>
          <a:xfrm>
            <a:off x="411480" y="2176200"/>
            <a:ext cx="384012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Médecin traitant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Médecin spécialiste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Infirmier (lecture seule)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Shape 12"/>
          <p:cNvSpPr/>
          <p:nvPr/>
        </p:nvSpPr>
        <p:spPr>
          <a:xfrm>
            <a:off x="4754880" y="1783080"/>
            <a:ext cx="4114440" cy="1462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df2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Shape 13"/>
          <p:cNvSpPr/>
          <p:nvPr/>
        </p:nvSpPr>
        <p:spPr>
          <a:xfrm>
            <a:off x="4754880" y="1783080"/>
            <a:ext cx="4114440" cy="347040"/>
          </a:xfrm>
          <a:prstGeom prst="rect">
            <a:avLst/>
          </a:prstGeom>
          <a:solidFill>
            <a:srgbClr val="64748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8" name="Text 14"/>
          <p:cNvSpPr/>
          <p:nvPr/>
        </p:nvSpPr>
        <p:spPr>
          <a:xfrm>
            <a:off x="4754880" y="1783080"/>
            <a:ext cx="41144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6320" rIns="76320" tIns="76320" bIns="7632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⚙️  </a:t>
            </a: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PRÉCONDITIONS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Text 15"/>
          <p:cNvSpPr/>
          <p:nvPr/>
        </p:nvSpPr>
        <p:spPr>
          <a:xfrm>
            <a:off x="4892040" y="2176200"/>
            <a:ext cx="384012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Médecin authentifié avec rôle MEDECIN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Patient existant en base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Médecin membre de l'équipe de soins du patient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Shape 16"/>
          <p:cNvSpPr/>
          <p:nvPr/>
        </p:nvSpPr>
        <p:spPr>
          <a:xfrm>
            <a:off x="274320" y="3364920"/>
            <a:ext cx="8595000" cy="319680"/>
          </a:xfrm>
          <a:prstGeom prst="rect">
            <a:avLst/>
          </a:prstGeom>
          <a:solidFill>
            <a:srgbClr val="1a1a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1" name="Text 17"/>
          <p:cNvSpPr/>
          <p:nvPr/>
        </p:nvSpPr>
        <p:spPr>
          <a:xfrm>
            <a:off x="274320" y="3364920"/>
            <a:ext cx="8595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rIns="101520" tIns="101520" bIns="10152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199" strike="noStrike">
                <a:solidFill>
                  <a:srgbClr val="ffffff"/>
                </a:solidFill>
                <a:latin typeface="Calibri"/>
              </a:rPr>
              <a:t>SCÉNARIOS BDD / GHERKIN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Shape 18"/>
          <p:cNvSpPr/>
          <p:nvPr/>
        </p:nvSpPr>
        <p:spPr>
          <a:xfrm>
            <a:off x="274320" y="3749040"/>
            <a:ext cx="8595000" cy="2556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Shape 19"/>
          <p:cNvSpPr/>
          <p:nvPr/>
        </p:nvSpPr>
        <p:spPr>
          <a:xfrm>
            <a:off x="320040" y="3785760"/>
            <a:ext cx="822600" cy="182520"/>
          </a:xfrm>
          <a:prstGeom prst="roundRect">
            <a:avLst>
              <a:gd name="adj" fmla="val 25000"/>
            </a:avLst>
          </a:prstGeom>
          <a:solidFill>
            <a:srgbClr val="1e844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4" name="Text 20"/>
          <p:cNvSpPr/>
          <p:nvPr/>
        </p:nvSpPr>
        <p:spPr>
          <a:xfrm>
            <a:off x="320040" y="3785760"/>
            <a:ext cx="822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ffffff"/>
                </a:solidFill>
                <a:latin typeface="Calibri"/>
              </a:rPr>
              <a:t>@smoke</a:t>
            </a:r>
            <a:endParaRPr b="0" lang="fr-BE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Text 21"/>
          <p:cNvSpPr/>
          <p:nvPr/>
        </p:nvSpPr>
        <p:spPr>
          <a:xfrm>
            <a:off x="1234440" y="3749040"/>
            <a:ext cx="74977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Accès au dossier d'un patient suivi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Shape 22"/>
          <p:cNvSpPr/>
          <p:nvPr/>
        </p:nvSpPr>
        <p:spPr>
          <a:xfrm>
            <a:off x="274320" y="4060080"/>
            <a:ext cx="8595000" cy="255600"/>
          </a:xfrm>
          <a:prstGeom prst="roundRect">
            <a:avLst>
              <a:gd name="adj" fmla="val 14286"/>
            </a:avLst>
          </a:prstGeom>
          <a:solidFill>
            <a:srgbClr val="e8ed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Shape 23"/>
          <p:cNvSpPr/>
          <p:nvPr/>
        </p:nvSpPr>
        <p:spPr>
          <a:xfrm>
            <a:off x="320040" y="4096440"/>
            <a:ext cx="822600" cy="182520"/>
          </a:xfrm>
          <a:prstGeom prst="roundRect">
            <a:avLst>
              <a:gd name="adj" fmla="val 25000"/>
            </a:avLst>
          </a:prstGeom>
          <a:solidFill>
            <a:srgbClr val="1e844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8" name="Text 24"/>
          <p:cNvSpPr/>
          <p:nvPr/>
        </p:nvSpPr>
        <p:spPr>
          <a:xfrm>
            <a:off x="320040" y="4096440"/>
            <a:ext cx="822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ffffff"/>
                </a:solidFill>
                <a:latin typeface="Calibri"/>
              </a:rPr>
              <a:t>@smoke</a:t>
            </a:r>
            <a:endParaRPr b="0" lang="fr-BE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Text 25"/>
          <p:cNvSpPr/>
          <p:nvPr/>
        </p:nvSpPr>
        <p:spPr>
          <a:xfrm>
            <a:off x="1234440" y="4060080"/>
            <a:ext cx="74977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Affichage de la liste des pathologies actives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Shape 26"/>
          <p:cNvSpPr/>
          <p:nvPr/>
        </p:nvSpPr>
        <p:spPr>
          <a:xfrm>
            <a:off x="274320" y="4370760"/>
            <a:ext cx="8595000" cy="2556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Shape 27"/>
          <p:cNvSpPr/>
          <p:nvPr/>
        </p:nvSpPr>
        <p:spPr>
          <a:xfrm>
            <a:off x="320040" y="4407480"/>
            <a:ext cx="822600" cy="182520"/>
          </a:xfrm>
          <a:prstGeom prst="roundRect">
            <a:avLst>
              <a:gd name="adj" fmla="val 25000"/>
            </a:avLst>
          </a:prstGeom>
          <a:solidFill>
            <a:srgbClr val="c039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2" name="Text 28"/>
          <p:cNvSpPr/>
          <p:nvPr/>
        </p:nvSpPr>
        <p:spPr>
          <a:xfrm>
            <a:off x="320040" y="4407480"/>
            <a:ext cx="822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ffffff"/>
                </a:solidFill>
                <a:latin typeface="Calibri"/>
              </a:rPr>
              <a:t>@critical</a:t>
            </a:r>
            <a:endParaRPr b="0" lang="fr-BE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Text 29"/>
          <p:cNvSpPr/>
          <p:nvPr/>
        </p:nvSpPr>
        <p:spPr>
          <a:xfrm>
            <a:off x="1234440" y="4370760"/>
            <a:ext cx="74977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Refus d'accès si patient non assigné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Shape 30"/>
          <p:cNvSpPr/>
          <p:nvPr/>
        </p:nvSpPr>
        <p:spPr>
          <a:xfrm>
            <a:off x="274320" y="4681800"/>
            <a:ext cx="8595000" cy="255600"/>
          </a:xfrm>
          <a:prstGeom prst="roundRect">
            <a:avLst>
              <a:gd name="adj" fmla="val 14286"/>
            </a:avLst>
          </a:prstGeom>
          <a:solidFill>
            <a:srgbClr val="e8ed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Shape 31"/>
          <p:cNvSpPr/>
          <p:nvPr/>
        </p:nvSpPr>
        <p:spPr>
          <a:xfrm>
            <a:off x="320040" y="4718160"/>
            <a:ext cx="822600" cy="182520"/>
          </a:xfrm>
          <a:prstGeom prst="roundRect">
            <a:avLst>
              <a:gd name="adj" fmla="val 25000"/>
            </a:avLst>
          </a:prstGeom>
          <a:solidFill>
            <a:srgbClr val="d354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6" name="Text 32"/>
          <p:cNvSpPr/>
          <p:nvPr/>
        </p:nvSpPr>
        <p:spPr>
          <a:xfrm>
            <a:off x="320040" y="4718160"/>
            <a:ext cx="822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ffffff"/>
                </a:solidFill>
                <a:latin typeface="Calibri"/>
              </a:rPr>
              <a:t>@regression</a:t>
            </a:r>
            <a:endParaRPr b="0" lang="fr-BE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Text 33"/>
          <p:cNvSpPr/>
          <p:nvPr/>
        </p:nvSpPr>
        <p:spPr>
          <a:xfrm>
            <a:off x="1234440" y="4681800"/>
            <a:ext cx="74977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Recherche patient par INS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Shape 0"/>
          <p:cNvSpPr/>
          <p:nvPr/>
        </p:nvSpPr>
        <p:spPr>
          <a:xfrm>
            <a:off x="0" y="0"/>
            <a:ext cx="9143640" cy="548280"/>
          </a:xfrm>
          <a:prstGeom prst="rect">
            <a:avLst/>
          </a:prstGeom>
          <a:solidFill>
            <a:srgbClr val="0e7c7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9" name="Text 1"/>
          <p:cNvSpPr/>
          <p:nvPr/>
        </p:nvSpPr>
        <p:spPr>
          <a:xfrm>
            <a:off x="274320" y="0"/>
            <a:ext cx="85950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🥒  </a:t>
            </a: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UC-02 · Scénario nominal — Gherkin / Cucumber</a:t>
            </a:r>
            <a:endParaRPr b="0" lang="fr-BE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" name="Shape 2"/>
          <p:cNvSpPr/>
          <p:nvPr/>
        </p:nvSpPr>
        <p:spPr>
          <a:xfrm>
            <a:off x="228600" y="658440"/>
            <a:ext cx="8686440" cy="41144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1" name="Shape 3"/>
          <p:cNvSpPr/>
          <p:nvPr/>
        </p:nvSpPr>
        <p:spPr>
          <a:xfrm>
            <a:off x="228600" y="658440"/>
            <a:ext cx="8686440" cy="328680"/>
          </a:xfrm>
          <a:prstGeom prst="rect">
            <a:avLst/>
          </a:prstGeom>
          <a:solidFill>
            <a:srgbClr val="21262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Shape 4"/>
          <p:cNvSpPr/>
          <p:nvPr/>
        </p:nvSpPr>
        <p:spPr>
          <a:xfrm>
            <a:off x="457200" y="749880"/>
            <a:ext cx="145800" cy="14580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3" name="Shape 5"/>
          <p:cNvSpPr/>
          <p:nvPr/>
        </p:nvSpPr>
        <p:spPr>
          <a:xfrm>
            <a:off x="713160" y="749880"/>
            <a:ext cx="145800" cy="14580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Shape 6"/>
          <p:cNvSpPr/>
          <p:nvPr/>
        </p:nvSpPr>
        <p:spPr>
          <a:xfrm>
            <a:off x="969120" y="749880"/>
            <a:ext cx="145800" cy="14580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5" name="Text 7"/>
          <p:cNvSpPr/>
          <p:nvPr/>
        </p:nvSpPr>
        <p:spPr>
          <a:xfrm>
            <a:off x="1371600" y="658440"/>
            <a:ext cx="64004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8b949e"/>
                </a:solidFill>
                <a:latin typeface="Calibri"/>
              </a:rPr>
              <a:t>src/test/resources/features/patient/dossier-patient.feature</a:t>
            </a:r>
            <a:endParaRPr b="0" lang="fr-BE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" name="Text 8"/>
          <p:cNvSpPr/>
          <p:nvPr/>
        </p:nvSpPr>
        <p:spPr>
          <a:xfrm>
            <a:off x="365760" y="1078920"/>
            <a:ext cx="8412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Feature: Consultation Dossier Patient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7" name="Text 9"/>
          <p:cNvSpPr/>
          <p:nvPr/>
        </p:nvSpPr>
        <p:spPr>
          <a:xfrm>
            <a:off x="365760" y="1216080"/>
            <a:ext cx="8412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edf3"/>
                </a:solidFill>
                <a:latin typeface="Courier New"/>
                <a:ea typeface="Courier New"/>
              </a:rPr>
              <a:t>  </a:t>
            </a:r>
            <a:r>
              <a:rPr b="0" lang="en-US" sz="950" spc="-1" strike="noStrike">
                <a:solidFill>
                  <a:srgbClr val="e6edf3"/>
                </a:solidFill>
                <a:latin typeface="Courier New"/>
                <a:ea typeface="Courier New"/>
              </a:rPr>
              <a:t>En tant que médecin authentifié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8" name="Text 10"/>
          <p:cNvSpPr/>
          <p:nvPr/>
        </p:nvSpPr>
        <p:spPr>
          <a:xfrm>
            <a:off x="365760" y="1353240"/>
            <a:ext cx="8412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edf3"/>
                </a:solidFill>
                <a:latin typeface="Courier New"/>
                <a:ea typeface="Courier New"/>
              </a:rPr>
              <a:t>  </a:t>
            </a:r>
            <a:r>
              <a:rPr b="0" lang="en-US" sz="950" spc="-1" strike="noStrike">
                <a:solidFill>
                  <a:srgbClr val="e6edf3"/>
                </a:solidFill>
                <a:latin typeface="Courier New"/>
                <a:ea typeface="Courier New"/>
              </a:rPr>
              <a:t>Je veux consulter le dossier complet de mes patients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9" name="Text 11"/>
          <p:cNvSpPr/>
          <p:nvPr/>
        </p:nvSpPr>
        <p:spPr>
          <a:xfrm>
            <a:off x="365760" y="1490400"/>
            <a:ext cx="8412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edf3"/>
                </a:solidFill>
                <a:latin typeface="Courier New"/>
                <a:ea typeface="Courier New"/>
              </a:rPr>
              <a:t>  </a:t>
            </a:r>
            <a:r>
              <a:rPr b="0" lang="en-US" sz="950" spc="-1" strike="noStrike">
                <a:solidFill>
                  <a:srgbClr val="e6edf3"/>
                </a:solidFill>
                <a:latin typeface="Courier New"/>
                <a:ea typeface="Courier New"/>
              </a:rPr>
              <a:t>Afin d'assurer un suivi médical de qualité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" name="Text 12"/>
          <p:cNvSpPr/>
          <p:nvPr/>
        </p:nvSpPr>
        <p:spPr>
          <a:xfrm>
            <a:off x="365760" y="1764720"/>
            <a:ext cx="8412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e3b341"/>
                </a:solidFill>
                <a:latin typeface="Courier New"/>
                <a:ea typeface="Courier New"/>
              </a:rPr>
              <a:t>  </a:t>
            </a:r>
            <a:r>
              <a:rPr b="1" lang="en-US" sz="950" spc="-1" strike="noStrike">
                <a:solidFill>
                  <a:srgbClr val="e3b341"/>
                </a:solidFill>
                <a:latin typeface="Courier New"/>
                <a:ea typeface="Courier New"/>
              </a:rPr>
              <a:t>Background: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1" name="Text 13"/>
          <p:cNvSpPr/>
          <p:nvPr/>
        </p:nvSpPr>
        <p:spPr>
          <a:xfrm>
            <a:off x="365760" y="1901880"/>
            <a:ext cx="8412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7ee787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7ee787"/>
                </a:solidFill>
                <a:latin typeface="Courier New"/>
                <a:ea typeface="Courier New"/>
              </a:rPr>
              <a:t>Given je suis connecté avec le rôle "MEDECIN"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2" name="Text 14"/>
          <p:cNvSpPr/>
          <p:nvPr/>
        </p:nvSpPr>
        <p:spPr>
          <a:xfrm>
            <a:off x="365760" y="2039040"/>
            <a:ext cx="8412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And le patient "Jean Martin" (INS: 123456789) existe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3" name="Text 15"/>
          <p:cNvSpPr/>
          <p:nvPr/>
        </p:nvSpPr>
        <p:spPr>
          <a:xfrm>
            <a:off x="365760" y="2176200"/>
            <a:ext cx="8412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And je suis son médecin traitant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4" name="Text 16"/>
          <p:cNvSpPr/>
          <p:nvPr/>
        </p:nvSpPr>
        <p:spPr>
          <a:xfrm>
            <a:off x="365760" y="2450520"/>
            <a:ext cx="8412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f85149"/>
                </a:solidFill>
                <a:latin typeface="Courier New"/>
                <a:ea typeface="Courier New"/>
              </a:rPr>
              <a:t>  </a:t>
            </a:r>
            <a:r>
              <a:rPr b="1" lang="en-US" sz="950" spc="-1" strike="noStrike">
                <a:solidFill>
                  <a:srgbClr val="f85149"/>
                </a:solidFill>
                <a:latin typeface="Courier New"/>
                <a:ea typeface="Courier New"/>
              </a:rPr>
              <a:t>@smoke @UC-02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5" name="Text 17"/>
          <p:cNvSpPr/>
          <p:nvPr/>
        </p:nvSpPr>
        <p:spPr>
          <a:xfrm>
            <a:off x="365760" y="2587680"/>
            <a:ext cx="8412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79c0ff"/>
                </a:solidFill>
                <a:latin typeface="Courier New"/>
                <a:ea typeface="Courier New"/>
              </a:rPr>
              <a:t>  </a:t>
            </a:r>
            <a:r>
              <a:rPr b="1" lang="en-US" sz="950" spc="-1" strike="noStrike">
                <a:solidFill>
                  <a:srgbClr val="79c0ff"/>
                </a:solidFill>
                <a:latin typeface="Courier New"/>
                <a:ea typeface="Courier New"/>
              </a:rPr>
              <a:t>Scenario: Consultation du dossier complet d'un patient suivi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6" name="Text 18"/>
          <p:cNvSpPr/>
          <p:nvPr/>
        </p:nvSpPr>
        <p:spPr>
          <a:xfrm>
            <a:off x="365760" y="2724840"/>
            <a:ext cx="8412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56d364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56d364"/>
                </a:solidFill>
                <a:latin typeface="Courier New"/>
                <a:ea typeface="Courier New"/>
              </a:rPr>
              <a:t>When je recherche le patient "Jean Martin"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" name="Text 19"/>
          <p:cNvSpPr/>
          <p:nvPr/>
        </p:nvSpPr>
        <p:spPr>
          <a:xfrm>
            <a:off x="365760" y="2862000"/>
            <a:ext cx="8412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And je clique sur "Ouvrir le dossier"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8" name="Text 20"/>
          <p:cNvSpPr/>
          <p:nvPr/>
        </p:nvSpPr>
        <p:spPr>
          <a:xfrm>
            <a:off x="365760" y="2999160"/>
            <a:ext cx="8412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79c0ff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79c0ff"/>
                </a:solidFill>
                <a:latin typeface="Courier New"/>
                <a:ea typeface="Courier New"/>
              </a:rPr>
              <a:t>Then je vois la section "Identité" avec les données démographiques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9" name="Text 21"/>
          <p:cNvSpPr/>
          <p:nvPr/>
        </p:nvSpPr>
        <p:spPr>
          <a:xfrm>
            <a:off x="365760" y="3136320"/>
            <a:ext cx="8412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And je vois 3 pathologies actives dont "Diabète type 2"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" name="Text 22"/>
          <p:cNvSpPr/>
          <p:nvPr/>
        </p:nvSpPr>
        <p:spPr>
          <a:xfrm>
            <a:off x="365760" y="3273480"/>
            <a:ext cx="8412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And je vois les 5 dernières observations biologiques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1" name="Text 23"/>
          <p:cNvSpPr/>
          <p:nvPr/>
        </p:nvSpPr>
        <p:spPr>
          <a:xfrm>
            <a:off x="365760" y="3410640"/>
            <a:ext cx="8412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And l'accès au dossier est enregistré dans l'audit log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2" name="Text 24"/>
          <p:cNvSpPr/>
          <p:nvPr/>
        </p:nvSpPr>
        <p:spPr>
          <a:xfrm>
            <a:off x="365760" y="3684960"/>
            <a:ext cx="8412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f85149"/>
                </a:solidFill>
                <a:latin typeface="Courier New"/>
                <a:ea typeface="Courier New"/>
              </a:rPr>
              <a:t>  </a:t>
            </a:r>
            <a:r>
              <a:rPr b="1" lang="en-US" sz="950" spc="-1" strike="noStrike">
                <a:solidFill>
                  <a:srgbClr val="f85149"/>
                </a:solidFill>
                <a:latin typeface="Courier New"/>
                <a:ea typeface="Courier New"/>
              </a:rPr>
              <a:t>@critical @UC-02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3" name="Text 25"/>
          <p:cNvSpPr/>
          <p:nvPr/>
        </p:nvSpPr>
        <p:spPr>
          <a:xfrm>
            <a:off x="365760" y="3822120"/>
            <a:ext cx="8412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79c0ff"/>
                </a:solidFill>
                <a:latin typeface="Courier New"/>
                <a:ea typeface="Courier New"/>
              </a:rPr>
              <a:t>  </a:t>
            </a:r>
            <a:r>
              <a:rPr b="1" lang="en-US" sz="950" spc="-1" strike="noStrike">
                <a:solidFill>
                  <a:srgbClr val="79c0ff"/>
                </a:solidFill>
                <a:latin typeface="Courier New"/>
                <a:ea typeface="Courier New"/>
              </a:rPr>
              <a:t>Scenario: Refus d'accès à un dossier hors périmètre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" name="Text 26"/>
          <p:cNvSpPr/>
          <p:nvPr/>
        </p:nvSpPr>
        <p:spPr>
          <a:xfrm>
            <a:off x="365760" y="3959280"/>
            <a:ext cx="8412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7ee787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7ee787"/>
                </a:solidFill>
                <a:latin typeface="Courier New"/>
                <a:ea typeface="Courier New"/>
              </a:rPr>
              <a:t>Given le patient "Sophie Durand" n'est pas dans mes patients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5" name="Text 27"/>
          <p:cNvSpPr/>
          <p:nvPr/>
        </p:nvSpPr>
        <p:spPr>
          <a:xfrm>
            <a:off x="365760" y="4096440"/>
            <a:ext cx="8412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56d364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56d364"/>
                </a:solidFill>
                <a:latin typeface="Courier New"/>
                <a:ea typeface="Courier New"/>
              </a:rPr>
              <a:t>When je tente d'accéder directement à /api/v1/patients/{id}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" name="Text 28"/>
          <p:cNvSpPr/>
          <p:nvPr/>
        </p:nvSpPr>
        <p:spPr>
          <a:xfrm>
            <a:off x="365760" y="4233600"/>
            <a:ext cx="8412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79c0ff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79c0ff"/>
                </a:solidFill>
                <a:latin typeface="Courier New"/>
                <a:ea typeface="Courier New"/>
              </a:rPr>
              <a:t>Then je reçois une erreur HTTP 403 Forbidden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7" name="Text 29"/>
          <p:cNvSpPr/>
          <p:nvPr/>
        </p:nvSpPr>
        <p:spPr>
          <a:xfrm>
            <a:off x="365760" y="4370760"/>
            <a:ext cx="8412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And le message "Accès non autorisé" s'affiche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" name="Text 30"/>
          <p:cNvSpPr/>
          <p:nvPr/>
        </p:nvSpPr>
        <p:spPr>
          <a:xfrm>
            <a:off x="365760" y="4507920"/>
            <a:ext cx="8412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And une alerte sécurité est générée dans l'audit log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Shape 0"/>
          <p:cNvSpPr/>
          <p:nvPr/>
        </p:nvSpPr>
        <p:spPr>
          <a:xfrm>
            <a:off x="0" y="0"/>
            <a:ext cx="9143640" cy="548280"/>
          </a:xfrm>
          <a:prstGeom prst="rect">
            <a:avLst/>
          </a:prstGeom>
          <a:solidFill>
            <a:srgbClr val="3a3a5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0" name="Text 1"/>
          <p:cNvSpPr/>
          <p:nvPr/>
        </p:nvSpPr>
        <p:spPr>
          <a:xfrm>
            <a:off x="274320" y="0"/>
            <a:ext cx="85950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⚡  </a:t>
            </a: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UC-02 · Scénarios alternatifs &amp; cas d'erreur</a:t>
            </a:r>
            <a:endParaRPr b="0" lang="fr-BE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1" name="Shape 2"/>
          <p:cNvSpPr/>
          <p:nvPr/>
        </p:nvSpPr>
        <p:spPr>
          <a:xfrm>
            <a:off x="228600" y="658440"/>
            <a:ext cx="4297320" cy="41144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2" name="Shape 3"/>
          <p:cNvSpPr/>
          <p:nvPr/>
        </p:nvSpPr>
        <p:spPr>
          <a:xfrm>
            <a:off x="228600" y="658440"/>
            <a:ext cx="4297320" cy="292320"/>
          </a:xfrm>
          <a:prstGeom prst="rect">
            <a:avLst/>
          </a:prstGeom>
          <a:solidFill>
            <a:srgbClr val="21262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3" name="Shape 4"/>
          <p:cNvSpPr/>
          <p:nvPr/>
        </p:nvSpPr>
        <p:spPr>
          <a:xfrm>
            <a:off x="411480" y="731520"/>
            <a:ext cx="127800" cy="12780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4" name="Shape 5"/>
          <p:cNvSpPr/>
          <p:nvPr/>
        </p:nvSpPr>
        <p:spPr>
          <a:xfrm>
            <a:off x="621720" y="731520"/>
            <a:ext cx="127800" cy="12780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Shape 6"/>
          <p:cNvSpPr/>
          <p:nvPr/>
        </p:nvSpPr>
        <p:spPr>
          <a:xfrm>
            <a:off x="831960" y="731520"/>
            <a:ext cx="127800" cy="12780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6" name="Text 7"/>
          <p:cNvSpPr/>
          <p:nvPr/>
        </p:nvSpPr>
        <p:spPr>
          <a:xfrm>
            <a:off x="365760" y="102420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85149"/>
                </a:solidFill>
                <a:latin typeface="Courier New"/>
                <a:ea typeface="Courier New"/>
              </a:rPr>
              <a:t>  </a:t>
            </a:r>
            <a:r>
              <a:rPr b="1" lang="en-US" sz="850" spc="-1" strike="noStrike">
                <a:solidFill>
                  <a:srgbClr val="f85149"/>
                </a:solidFill>
                <a:latin typeface="Courier New"/>
                <a:ea typeface="Courier New"/>
              </a:rPr>
              <a:t>@smoke @UC-02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7" name="Text 8"/>
          <p:cNvSpPr/>
          <p:nvPr/>
        </p:nvSpPr>
        <p:spPr>
          <a:xfrm>
            <a:off x="365760" y="122544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79c0ff"/>
                </a:solidFill>
                <a:latin typeface="Courier New"/>
                <a:ea typeface="Courier New"/>
              </a:rPr>
              <a:t>  </a:t>
            </a:r>
            <a:r>
              <a:rPr b="1" lang="en-US" sz="850" spc="-1" strike="noStrike">
                <a:solidFill>
                  <a:srgbClr val="79c0ff"/>
                </a:solidFill>
                <a:latin typeface="Courier New"/>
                <a:ea typeface="Courier New"/>
              </a:rPr>
              <a:t>Scenario Outline: Recherche patient par critères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8" name="Text 9"/>
          <p:cNvSpPr/>
          <p:nvPr/>
        </p:nvSpPr>
        <p:spPr>
          <a:xfrm>
            <a:off x="365760" y="142632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56d364"/>
                </a:solidFill>
                <a:latin typeface="Courier New"/>
                <a:ea typeface="Courier New"/>
              </a:rPr>
              <a:t>    </a:t>
            </a:r>
            <a:r>
              <a:rPr b="0" lang="en-US" sz="850" spc="-1" strike="noStrike">
                <a:solidFill>
                  <a:srgbClr val="56d364"/>
                </a:solidFill>
                <a:latin typeface="Courier New"/>
                <a:ea typeface="Courier New"/>
              </a:rPr>
              <a:t>When je recherche par &lt;critere&gt; avec la valeur "&lt;valeur&gt;"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9" name="Text 10"/>
          <p:cNvSpPr/>
          <p:nvPr/>
        </p:nvSpPr>
        <p:spPr>
          <a:xfrm>
            <a:off x="365760" y="162756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79c0ff"/>
                </a:solidFill>
                <a:latin typeface="Courier New"/>
                <a:ea typeface="Courier New"/>
              </a:rPr>
              <a:t>    </a:t>
            </a:r>
            <a:r>
              <a:rPr b="0" lang="en-US" sz="850" spc="-1" strike="noStrike">
                <a:solidFill>
                  <a:srgbClr val="79c0ff"/>
                </a:solidFill>
                <a:latin typeface="Courier New"/>
                <a:ea typeface="Courier New"/>
              </a:rPr>
              <a:t>Then le patient "&lt;nom&gt;" apparaît dans les résultats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0" name="Text 11"/>
          <p:cNvSpPr/>
          <p:nvPr/>
        </p:nvSpPr>
        <p:spPr>
          <a:xfrm>
            <a:off x="365760" y="182880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e3b341"/>
                </a:solidFill>
                <a:latin typeface="Courier New"/>
                <a:ea typeface="Courier New"/>
              </a:rPr>
              <a:t>    </a:t>
            </a:r>
            <a:r>
              <a:rPr b="1" lang="en-US" sz="850" spc="-1" strike="noStrike">
                <a:solidFill>
                  <a:srgbClr val="e3b341"/>
                </a:solidFill>
                <a:latin typeface="Courier New"/>
                <a:ea typeface="Courier New"/>
              </a:rPr>
              <a:t>Examples: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1" name="Text 12"/>
          <p:cNvSpPr/>
          <p:nvPr/>
        </p:nvSpPr>
        <p:spPr>
          <a:xfrm>
            <a:off x="365760" y="203004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ffa657"/>
                </a:solidFill>
                <a:latin typeface="Courier New"/>
                <a:ea typeface="Courier New"/>
              </a:rPr>
              <a:t>      </a:t>
            </a:r>
            <a:r>
              <a:rPr b="0" lang="en-US" sz="850" spc="-1" strike="noStrike">
                <a:solidFill>
                  <a:srgbClr val="ffa657"/>
                </a:solidFill>
                <a:latin typeface="Courier New"/>
                <a:ea typeface="Courier New"/>
              </a:rPr>
              <a:t>| critere | valeur      | nom        |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2" name="Text 13"/>
          <p:cNvSpPr/>
          <p:nvPr/>
        </p:nvSpPr>
        <p:spPr>
          <a:xfrm>
            <a:off x="365760" y="223128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ffa657"/>
                </a:solidFill>
                <a:latin typeface="Courier New"/>
                <a:ea typeface="Courier New"/>
              </a:rPr>
              <a:t>      </a:t>
            </a:r>
            <a:r>
              <a:rPr b="0" lang="en-US" sz="850" spc="-1" strike="noStrike">
                <a:solidFill>
                  <a:srgbClr val="ffa657"/>
                </a:solidFill>
                <a:latin typeface="Courier New"/>
                <a:ea typeface="Courier New"/>
              </a:rPr>
              <a:t>| INS     | 123456789   | Jean Martin|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3" name="Text 14"/>
          <p:cNvSpPr/>
          <p:nvPr/>
        </p:nvSpPr>
        <p:spPr>
          <a:xfrm>
            <a:off x="365760" y="243216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ffa657"/>
                </a:solidFill>
                <a:latin typeface="Courier New"/>
                <a:ea typeface="Courier New"/>
              </a:rPr>
              <a:t>      </a:t>
            </a:r>
            <a:r>
              <a:rPr b="0" lang="en-US" sz="850" spc="-1" strike="noStrike">
                <a:solidFill>
                  <a:srgbClr val="ffa657"/>
                </a:solidFill>
                <a:latin typeface="Courier New"/>
                <a:ea typeface="Courier New"/>
              </a:rPr>
              <a:t>| Nom     | Martin      | Jean Martin|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4" name="Shape 15"/>
          <p:cNvSpPr/>
          <p:nvPr/>
        </p:nvSpPr>
        <p:spPr>
          <a:xfrm>
            <a:off x="4709160" y="658440"/>
            <a:ext cx="4297320" cy="41144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5" name="Shape 16"/>
          <p:cNvSpPr/>
          <p:nvPr/>
        </p:nvSpPr>
        <p:spPr>
          <a:xfrm>
            <a:off x="4709160" y="658440"/>
            <a:ext cx="4297320" cy="292320"/>
          </a:xfrm>
          <a:prstGeom prst="rect">
            <a:avLst/>
          </a:prstGeom>
          <a:solidFill>
            <a:srgbClr val="21262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6" name="Shape 17"/>
          <p:cNvSpPr/>
          <p:nvPr/>
        </p:nvSpPr>
        <p:spPr>
          <a:xfrm>
            <a:off x="4892040" y="731520"/>
            <a:ext cx="127800" cy="12780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7" name="Shape 18"/>
          <p:cNvSpPr/>
          <p:nvPr/>
        </p:nvSpPr>
        <p:spPr>
          <a:xfrm>
            <a:off x="5102280" y="731520"/>
            <a:ext cx="127800" cy="12780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Shape 19"/>
          <p:cNvSpPr/>
          <p:nvPr/>
        </p:nvSpPr>
        <p:spPr>
          <a:xfrm>
            <a:off x="5312520" y="731520"/>
            <a:ext cx="127800" cy="12780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9" name="Text 20"/>
          <p:cNvSpPr/>
          <p:nvPr/>
        </p:nvSpPr>
        <p:spPr>
          <a:xfrm>
            <a:off x="4846320" y="102420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85149"/>
                </a:solidFill>
                <a:latin typeface="Courier New"/>
                <a:ea typeface="Courier New"/>
              </a:rPr>
              <a:t>  </a:t>
            </a:r>
            <a:r>
              <a:rPr b="1" lang="en-US" sz="850" spc="-1" strike="noStrike">
                <a:solidFill>
                  <a:srgbClr val="f85149"/>
                </a:solidFill>
                <a:latin typeface="Courier New"/>
                <a:ea typeface="Courier New"/>
              </a:rPr>
              <a:t>@regression @UC-02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" name="Text 21"/>
          <p:cNvSpPr/>
          <p:nvPr/>
        </p:nvSpPr>
        <p:spPr>
          <a:xfrm>
            <a:off x="4846320" y="122544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79c0ff"/>
                </a:solidFill>
                <a:latin typeface="Courier New"/>
                <a:ea typeface="Courier New"/>
              </a:rPr>
              <a:t>  </a:t>
            </a:r>
            <a:r>
              <a:rPr b="1" lang="en-US" sz="850" spc="-1" strike="noStrike">
                <a:solidFill>
                  <a:srgbClr val="79c0ff"/>
                </a:solidFill>
                <a:latin typeface="Courier New"/>
                <a:ea typeface="Courier New"/>
              </a:rPr>
              <a:t>Scenario: Timeline des événements cliniques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1" name="Text 22"/>
          <p:cNvSpPr/>
          <p:nvPr/>
        </p:nvSpPr>
        <p:spPr>
          <a:xfrm>
            <a:off x="4846320" y="142632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7ee787"/>
                </a:solidFill>
                <a:latin typeface="Courier New"/>
                <a:ea typeface="Courier New"/>
              </a:rPr>
              <a:t>    </a:t>
            </a:r>
            <a:r>
              <a:rPr b="0" lang="en-US" sz="850" spc="-1" strike="noStrike">
                <a:solidFill>
                  <a:srgbClr val="7ee787"/>
                </a:solidFill>
                <a:latin typeface="Courier New"/>
                <a:ea typeface="Courier New"/>
              </a:rPr>
              <a:t>Given le dossier du patient "Jean Martin" est ouvert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2" name="Text 23"/>
          <p:cNvSpPr/>
          <p:nvPr/>
        </p:nvSpPr>
        <p:spPr>
          <a:xfrm>
            <a:off x="4846320" y="162756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56d364"/>
                </a:solidFill>
                <a:latin typeface="Courier New"/>
                <a:ea typeface="Courier New"/>
              </a:rPr>
              <a:t>    </a:t>
            </a:r>
            <a:r>
              <a:rPr b="0" lang="en-US" sz="850" spc="-1" strike="noStrike">
                <a:solidFill>
                  <a:srgbClr val="56d364"/>
                </a:solidFill>
                <a:latin typeface="Courier New"/>
                <a:ea typeface="Courier New"/>
              </a:rPr>
              <a:t>When je clique sur l'onglet "Timeline"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3" name="Text 24"/>
          <p:cNvSpPr/>
          <p:nvPr/>
        </p:nvSpPr>
        <p:spPr>
          <a:xfrm>
            <a:off x="4846320" y="182880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79c0ff"/>
                </a:solidFill>
                <a:latin typeface="Courier New"/>
                <a:ea typeface="Courier New"/>
              </a:rPr>
              <a:t>    </a:t>
            </a:r>
            <a:r>
              <a:rPr b="0" lang="en-US" sz="850" spc="-1" strike="noStrike">
                <a:solidFill>
                  <a:srgbClr val="79c0ff"/>
                </a:solidFill>
                <a:latin typeface="Courier New"/>
                <a:ea typeface="Courier New"/>
              </a:rPr>
              <a:t>Then les événements sont affichés en ordre chronologique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4" name="Text 25"/>
          <p:cNvSpPr/>
          <p:nvPr/>
        </p:nvSpPr>
        <p:spPr>
          <a:xfrm>
            <a:off x="4846320" y="203004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d2a8ff"/>
                </a:solidFill>
                <a:latin typeface="Courier New"/>
                <a:ea typeface="Courier New"/>
              </a:rPr>
              <a:t>    </a:t>
            </a:r>
            <a:r>
              <a:rPr b="0" lang="en-US" sz="850" spc="-1" strike="noStrike">
                <a:solidFill>
                  <a:srgbClr val="d2a8ff"/>
                </a:solidFill>
                <a:latin typeface="Courier New"/>
                <a:ea typeface="Courier New"/>
              </a:rPr>
              <a:t>And chaque événement affiche la date et le professionnel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Shape 0"/>
          <p:cNvSpPr/>
          <p:nvPr/>
        </p:nvSpPr>
        <p:spPr>
          <a:xfrm>
            <a:off x="0" y="0"/>
            <a:ext cx="9143640" cy="685440"/>
          </a:xfrm>
          <a:prstGeom prst="rect">
            <a:avLst/>
          </a:prstGeom>
          <a:solidFill>
            <a:srgbClr val="6b3f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6" name="Shape 1"/>
          <p:cNvSpPr/>
          <p:nvPr/>
        </p:nvSpPr>
        <p:spPr>
          <a:xfrm>
            <a:off x="0" y="685800"/>
            <a:ext cx="9143640" cy="45360"/>
          </a:xfrm>
          <a:prstGeom prst="rect">
            <a:avLst/>
          </a:prstGeom>
          <a:solidFill>
            <a:srgbClr val="ede0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Text 2"/>
          <p:cNvSpPr/>
          <p:nvPr/>
        </p:nvSpPr>
        <p:spPr>
          <a:xfrm>
            <a:off x="320040" y="0"/>
            <a:ext cx="10054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a0c8df"/>
                </a:solidFill>
                <a:latin typeface="Calibri"/>
              </a:rPr>
              <a:t>UC-03</a:t>
            </a:r>
            <a:endParaRPr b="0" lang="fr-BE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Text 3"/>
          <p:cNvSpPr/>
          <p:nvPr/>
        </p:nvSpPr>
        <p:spPr>
          <a:xfrm>
            <a:off x="1371600" y="0"/>
            <a:ext cx="68576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Création &amp; Suivi du Plan de Soins</a:t>
            </a:r>
            <a:endParaRPr b="0" lang="fr-BE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Shape 4"/>
          <p:cNvSpPr/>
          <p:nvPr/>
        </p:nvSpPr>
        <p:spPr>
          <a:xfrm>
            <a:off x="7863840" y="109800"/>
            <a:ext cx="1005480" cy="456840"/>
          </a:xfrm>
          <a:prstGeom prst="roundRect">
            <a:avLst>
              <a:gd name="adj" fmla="val 16000"/>
            </a:avLst>
          </a:prstGeom>
          <a:solidFill>
            <a:srgbClr val="ffffff">
              <a:alpha val="8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Text 5"/>
          <p:cNvSpPr/>
          <p:nvPr/>
        </p:nvSpPr>
        <p:spPr>
          <a:xfrm>
            <a:off x="7863840" y="109800"/>
            <a:ext cx="1005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</a:rPr>
              <a:t>Soins</a:t>
            </a:r>
            <a:endParaRPr b="0" lang="fr-B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Shape 6"/>
          <p:cNvSpPr/>
          <p:nvPr/>
        </p:nvSpPr>
        <p:spPr>
          <a:xfrm>
            <a:off x="274320" y="868680"/>
            <a:ext cx="8595000" cy="776880"/>
          </a:xfrm>
          <a:prstGeom prst="rect">
            <a:avLst/>
          </a:prstGeom>
          <a:solidFill>
            <a:srgbClr val="ede0f7"/>
          </a:solidFill>
          <a:ln w="12700">
            <a:solidFill>
              <a:srgbClr val="6b3fa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Text 7"/>
          <p:cNvSpPr/>
          <p:nvPr/>
        </p:nvSpPr>
        <p:spPr>
          <a:xfrm>
            <a:off x="457200" y="896040"/>
            <a:ext cx="8229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📋  </a:t>
            </a: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Un coordinateur de soins crée un plan de soins personnalisé pour un patient chronique, y affecte des tâches aux membres de l'équipe et suit l'avancement.</a:t>
            </a:r>
            <a:endParaRPr b="0" lang="fr-BE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Shape 8"/>
          <p:cNvSpPr/>
          <p:nvPr/>
        </p:nvSpPr>
        <p:spPr>
          <a:xfrm>
            <a:off x="274320" y="1783080"/>
            <a:ext cx="4114440" cy="1462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df2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Shape 9"/>
          <p:cNvSpPr/>
          <p:nvPr/>
        </p:nvSpPr>
        <p:spPr>
          <a:xfrm>
            <a:off x="274320" y="1783080"/>
            <a:ext cx="4114440" cy="347040"/>
          </a:xfrm>
          <a:prstGeom prst="rect">
            <a:avLst/>
          </a:prstGeom>
          <a:solidFill>
            <a:srgbClr val="6b3f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5" name="Text 10"/>
          <p:cNvSpPr/>
          <p:nvPr/>
        </p:nvSpPr>
        <p:spPr>
          <a:xfrm>
            <a:off x="274320" y="1783080"/>
            <a:ext cx="41144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6320" rIns="76320" tIns="76320" bIns="7632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👤  </a:t>
            </a: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ACTEURS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Text 11"/>
          <p:cNvSpPr/>
          <p:nvPr/>
        </p:nvSpPr>
        <p:spPr>
          <a:xfrm>
            <a:off x="411480" y="2176200"/>
            <a:ext cx="384012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Coordinateur de soins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Médecin responsable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Infirmier assigné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" name="Shape 12"/>
          <p:cNvSpPr/>
          <p:nvPr/>
        </p:nvSpPr>
        <p:spPr>
          <a:xfrm>
            <a:off x="4754880" y="1783080"/>
            <a:ext cx="4114440" cy="1462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df2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Shape 13"/>
          <p:cNvSpPr/>
          <p:nvPr/>
        </p:nvSpPr>
        <p:spPr>
          <a:xfrm>
            <a:off x="4754880" y="1783080"/>
            <a:ext cx="4114440" cy="347040"/>
          </a:xfrm>
          <a:prstGeom prst="rect">
            <a:avLst/>
          </a:prstGeom>
          <a:solidFill>
            <a:srgbClr val="64748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9" name="Text 14"/>
          <p:cNvSpPr/>
          <p:nvPr/>
        </p:nvSpPr>
        <p:spPr>
          <a:xfrm>
            <a:off x="4754880" y="1783080"/>
            <a:ext cx="41144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6320" rIns="76320" tIns="76320" bIns="7632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⚙️  </a:t>
            </a: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PRÉCONDITIONS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Text 15"/>
          <p:cNvSpPr/>
          <p:nvPr/>
        </p:nvSpPr>
        <p:spPr>
          <a:xfrm>
            <a:off x="4892040" y="2176200"/>
            <a:ext cx="384012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Patient avec au moins une pathologie active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Équipe de soins constituée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Protocole HAS sélectionné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Shape 16"/>
          <p:cNvSpPr/>
          <p:nvPr/>
        </p:nvSpPr>
        <p:spPr>
          <a:xfrm>
            <a:off x="274320" y="3364920"/>
            <a:ext cx="8595000" cy="319680"/>
          </a:xfrm>
          <a:prstGeom prst="rect">
            <a:avLst/>
          </a:prstGeom>
          <a:solidFill>
            <a:srgbClr val="1a1a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2" name="Text 17"/>
          <p:cNvSpPr/>
          <p:nvPr/>
        </p:nvSpPr>
        <p:spPr>
          <a:xfrm>
            <a:off x="274320" y="3364920"/>
            <a:ext cx="8595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rIns="101520" tIns="101520" bIns="10152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199" strike="noStrike">
                <a:solidFill>
                  <a:srgbClr val="ffffff"/>
                </a:solidFill>
                <a:latin typeface="Calibri"/>
              </a:rPr>
              <a:t>SCÉNARIOS BDD / GHERKIN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Shape 18"/>
          <p:cNvSpPr/>
          <p:nvPr/>
        </p:nvSpPr>
        <p:spPr>
          <a:xfrm>
            <a:off x="274320" y="3749040"/>
            <a:ext cx="8595000" cy="2556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Shape 19"/>
          <p:cNvSpPr/>
          <p:nvPr/>
        </p:nvSpPr>
        <p:spPr>
          <a:xfrm>
            <a:off x="320040" y="3785760"/>
            <a:ext cx="822600" cy="182520"/>
          </a:xfrm>
          <a:prstGeom prst="roundRect">
            <a:avLst>
              <a:gd name="adj" fmla="val 25000"/>
            </a:avLst>
          </a:prstGeom>
          <a:solidFill>
            <a:srgbClr val="1e844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5" name="Text 20"/>
          <p:cNvSpPr/>
          <p:nvPr/>
        </p:nvSpPr>
        <p:spPr>
          <a:xfrm>
            <a:off x="320040" y="3785760"/>
            <a:ext cx="822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ffffff"/>
                </a:solidFill>
                <a:latin typeface="Calibri"/>
              </a:rPr>
              <a:t>@smoke</a:t>
            </a:r>
            <a:endParaRPr b="0" lang="fr-BE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Text 21"/>
          <p:cNvSpPr/>
          <p:nvPr/>
        </p:nvSpPr>
        <p:spPr>
          <a:xfrm>
            <a:off x="1234440" y="3749040"/>
            <a:ext cx="74977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Création d'un plan de soins diabète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Shape 22"/>
          <p:cNvSpPr/>
          <p:nvPr/>
        </p:nvSpPr>
        <p:spPr>
          <a:xfrm>
            <a:off x="274320" y="4060080"/>
            <a:ext cx="8595000" cy="255600"/>
          </a:xfrm>
          <a:prstGeom prst="roundRect">
            <a:avLst>
              <a:gd name="adj" fmla="val 14286"/>
            </a:avLst>
          </a:prstGeom>
          <a:solidFill>
            <a:srgbClr val="e8ed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Shape 23"/>
          <p:cNvSpPr/>
          <p:nvPr/>
        </p:nvSpPr>
        <p:spPr>
          <a:xfrm>
            <a:off x="320040" y="4096440"/>
            <a:ext cx="822600" cy="182520"/>
          </a:xfrm>
          <a:prstGeom prst="roundRect">
            <a:avLst>
              <a:gd name="adj" fmla="val 25000"/>
            </a:avLst>
          </a:prstGeom>
          <a:solidFill>
            <a:srgbClr val="1e844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9" name="Text 24"/>
          <p:cNvSpPr/>
          <p:nvPr/>
        </p:nvSpPr>
        <p:spPr>
          <a:xfrm>
            <a:off x="320040" y="4096440"/>
            <a:ext cx="822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ffffff"/>
                </a:solidFill>
                <a:latin typeface="Calibri"/>
              </a:rPr>
              <a:t>@smoke</a:t>
            </a:r>
            <a:endParaRPr b="0" lang="fr-BE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Text 25"/>
          <p:cNvSpPr/>
          <p:nvPr/>
        </p:nvSpPr>
        <p:spPr>
          <a:xfrm>
            <a:off x="1234440" y="4060080"/>
            <a:ext cx="74977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Assignation d'une tâche à un infirmier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Shape 26"/>
          <p:cNvSpPr/>
          <p:nvPr/>
        </p:nvSpPr>
        <p:spPr>
          <a:xfrm>
            <a:off x="274320" y="4370760"/>
            <a:ext cx="8595000" cy="2556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Shape 27"/>
          <p:cNvSpPr/>
          <p:nvPr/>
        </p:nvSpPr>
        <p:spPr>
          <a:xfrm>
            <a:off x="320040" y="4407480"/>
            <a:ext cx="822600" cy="182520"/>
          </a:xfrm>
          <a:prstGeom prst="roundRect">
            <a:avLst>
              <a:gd name="adj" fmla="val 25000"/>
            </a:avLst>
          </a:prstGeom>
          <a:solidFill>
            <a:srgbClr val="c039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3" name="Text 28"/>
          <p:cNvSpPr/>
          <p:nvPr/>
        </p:nvSpPr>
        <p:spPr>
          <a:xfrm>
            <a:off x="320040" y="4407480"/>
            <a:ext cx="822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ffffff"/>
                </a:solidFill>
                <a:latin typeface="Calibri"/>
              </a:rPr>
              <a:t>@critical</a:t>
            </a:r>
            <a:endParaRPr b="0" lang="fr-BE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Text 29"/>
          <p:cNvSpPr/>
          <p:nvPr/>
        </p:nvSpPr>
        <p:spPr>
          <a:xfrm>
            <a:off x="1234440" y="4370760"/>
            <a:ext cx="74977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Alerte si tâche critique en retard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Shape 30"/>
          <p:cNvSpPr/>
          <p:nvPr/>
        </p:nvSpPr>
        <p:spPr>
          <a:xfrm>
            <a:off x="274320" y="4681800"/>
            <a:ext cx="8595000" cy="255600"/>
          </a:xfrm>
          <a:prstGeom prst="roundRect">
            <a:avLst>
              <a:gd name="adj" fmla="val 14286"/>
            </a:avLst>
          </a:prstGeom>
          <a:solidFill>
            <a:srgbClr val="e8ed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Shape 31"/>
          <p:cNvSpPr/>
          <p:nvPr/>
        </p:nvSpPr>
        <p:spPr>
          <a:xfrm>
            <a:off x="320040" y="4718160"/>
            <a:ext cx="822600" cy="182520"/>
          </a:xfrm>
          <a:prstGeom prst="roundRect">
            <a:avLst>
              <a:gd name="adj" fmla="val 25000"/>
            </a:avLst>
          </a:prstGeom>
          <a:solidFill>
            <a:srgbClr val="d354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7" name="Text 32"/>
          <p:cNvSpPr/>
          <p:nvPr/>
        </p:nvSpPr>
        <p:spPr>
          <a:xfrm>
            <a:off x="320040" y="4718160"/>
            <a:ext cx="822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ffffff"/>
                </a:solidFill>
                <a:latin typeface="Calibri"/>
              </a:rPr>
              <a:t>@regression</a:t>
            </a:r>
            <a:endParaRPr b="0" lang="fr-BE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Text 33"/>
          <p:cNvSpPr/>
          <p:nvPr/>
        </p:nvSpPr>
        <p:spPr>
          <a:xfrm>
            <a:off x="1234440" y="4681800"/>
            <a:ext cx="74977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Suivi de l'observance thérapeutique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Shape 0"/>
          <p:cNvSpPr/>
          <p:nvPr/>
        </p:nvSpPr>
        <p:spPr>
          <a:xfrm>
            <a:off x="0" y="0"/>
            <a:ext cx="9143640" cy="548280"/>
          </a:xfrm>
          <a:prstGeom prst="rect">
            <a:avLst/>
          </a:prstGeom>
          <a:solidFill>
            <a:srgbClr val="6b3f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0" name="Text 1"/>
          <p:cNvSpPr/>
          <p:nvPr/>
        </p:nvSpPr>
        <p:spPr>
          <a:xfrm>
            <a:off x="274320" y="0"/>
            <a:ext cx="85950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🥒  </a:t>
            </a: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UC-03 · Scénario nominal — Gherkin / Cucumber</a:t>
            </a:r>
            <a:endParaRPr b="0" lang="fr-BE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1" name="Shape 2"/>
          <p:cNvSpPr/>
          <p:nvPr/>
        </p:nvSpPr>
        <p:spPr>
          <a:xfrm>
            <a:off x="228600" y="658440"/>
            <a:ext cx="8686440" cy="41144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2" name="Shape 3"/>
          <p:cNvSpPr/>
          <p:nvPr/>
        </p:nvSpPr>
        <p:spPr>
          <a:xfrm>
            <a:off x="228600" y="658440"/>
            <a:ext cx="8686440" cy="328680"/>
          </a:xfrm>
          <a:prstGeom prst="rect">
            <a:avLst/>
          </a:prstGeom>
          <a:solidFill>
            <a:srgbClr val="21262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3" name="Shape 4"/>
          <p:cNvSpPr/>
          <p:nvPr/>
        </p:nvSpPr>
        <p:spPr>
          <a:xfrm>
            <a:off x="457200" y="749880"/>
            <a:ext cx="145800" cy="14580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4" name="Shape 5"/>
          <p:cNvSpPr/>
          <p:nvPr/>
        </p:nvSpPr>
        <p:spPr>
          <a:xfrm>
            <a:off x="713160" y="749880"/>
            <a:ext cx="145800" cy="14580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Shape 6"/>
          <p:cNvSpPr/>
          <p:nvPr/>
        </p:nvSpPr>
        <p:spPr>
          <a:xfrm>
            <a:off x="969120" y="749880"/>
            <a:ext cx="145800" cy="14580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6" name="Text 7"/>
          <p:cNvSpPr/>
          <p:nvPr/>
        </p:nvSpPr>
        <p:spPr>
          <a:xfrm>
            <a:off x="1371600" y="658440"/>
            <a:ext cx="64004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8b949e"/>
                </a:solidFill>
                <a:latin typeface="Calibri"/>
              </a:rPr>
              <a:t>src/test/resources/features/care-plan/plan-soins.feature</a:t>
            </a:r>
            <a:endParaRPr b="0" lang="fr-BE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7" name="Text 8"/>
          <p:cNvSpPr/>
          <p:nvPr/>
        </p:nvSpPr>
        <p:spPr>
          <a:xfrm>
            <a:off x="365760" y="1078920"/>
            <a:ext cx="8412120" cy="12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Feature: Plan de Soins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8" name="Text 9"/>
          <p:cNvSpPr/>
          <p:nvPr/>
        </p:nvSpPr>
        <p:spPr>
          <a:xfrm>
            <a:off x="365760" y="1202040"/>
            <a:ext cx="8412120" cy="12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edf3"/>
                </a:solidFill>
                <a:latin typeface="Courier New"/>
                <a:ea typeface="Courier New"/>
              </a:rPr>
              <a:t>  </a:t>
            </a:r>
            <a:r>
              <a:rPr b="0" lang="en-US" sz="950" spc="-1" strike="noStrike">
                <a:solidFill>
                  <a:srgbClr val="e6edf3"/>
                </a:solidFill>
                <a:latin typeface="Courier New"/>
                <a:ea typeface="Courier New"/>
              </a:rPr>
              <a:t>En tant que coordinateur de soins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9" name="Text 10"/>
          <p:cNvSpPr/>
          <p:nvPr/>
        </p:nvSpPr>
        <p:spPr>
          <a:xfrm>
            <a:off x="365760" y="1324800"/>
            <a:ext cx="8412120" cy="12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edf3"/>
                </a:solidFill>
                <a:latin typeface="Courier New"/>
                <a:ea typeface="Courier New"/>
              </a:rPr>
              <a:t>  </a:t>
            </a:r>
            <a:r>
              <a:rPr b="0" lang="en-US" sz="950" spc="-1" strike="noStrike">
                <a:solidFill>
                  <a:srgbClr val="e6edf3"/>
                </a:solidFill>
                <a:latin typeface="Courier New"/>
                <a:ea typeface="Courier New"/>
              </a:rPr>
              <a:t>Je veux créer et gérer des plans de soins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0" name="Text 11"/>
          <p:cNvSpPr/>
          <p:nvPr/>
        </p:nvSpPr>
        <p:spPr>
          <a:xfrm>
            <a:off x="365760" y="1447920"/>
            <a:ext cx="8412120" cy="12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edf3"/>
                </a:solidFill>
                <a:latin typeface="Courier New"/>
                <a:ea typeface="Courier New"/>
              </a:rPr>
              <a:t>  </a:t>
            </a:r>
            <a:r>
              <a:rPr b="0" lang="en-US" sz="950" spc="-1" strike="noStrike">
                <a:solidFill>
                  <a:srgbClr val="e6edf3"/>
                </a:solidFill>
                <a:latin typeface="Courier New"/>
                <a:ea typeface="Courier New"/>
              </a:rPr>
              <a:t>Afin d'assurer un suivi structuré des patients chroniques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1" name="Text 12"/>
          <p:cNvSpPr/>
          <p:nvPr/>
        </p:nvSpPr>
        <p:spPr>
          <a:xfrm>
            <a:off x="365760" y="1693800"/>
            <a:ext cx="8412120" cy="12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e3b341"/>
                </a:solidFill>
                <a:latin typeface="Courier New"/>
                <a:ea typeface="Courier New"/>
              </a:rPr>
              <a:t>  </a:t>
            </a:r>
            <a:r>
              <a:rPr b="1" lang="en-US" sz="950" spc="-1" strike="noStrike">
                <a:solidFill>
                  <a:srgbClr val="e3b341"/>
                </a:solidFill>
                <a:latin typeface="Courier New"/>
                <a:ea typeface="Courier New"/>
              </a:rPr>
              <a:t>Background: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2" name="Text 13"/>
          <p:cNvSpPr/>
          <p:nvPr/>
        </p:nvSpPr>
        <p:spPr>
          <a:xfrm>
            <a:off x="365760" y="1816920"/>
            <a:ext cx="8412120" cy="12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7ee787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7ee787"/>
                </a:solidFill>
                <a:latin typeface="Courier New"/>
                <a:ea typeface="Courier New"/>
              </a:rPr>
              <a:t>Given je suis connecté avec le rôle "COORDINATEUR"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3" name="Text 14"/>
          <p:cNvSpPr/>
          <p:nvPr/>
        </p:nvSpPr>
        <p:spPr>
          <a:xfrm>
            <a:off x="365760" y="1939680"/>
            <a:ext cx="8412120" cy="12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And le patient "Jean Martin" a une pathologie "Diabète type 2"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4" name="Text 15"/>
          <p:cNvSpPr/>
          <p:nvPr/>
        </p:nvSpPr>
        <p:spPr>
          <a:xfrm>
            <a:off x="365760" y="2062800"/>
            <a:ext cx="8412120" cy="12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And l'équipe de soins inclut "inf.martin" (INFIRMIER)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5" name="Text 16"/>
          <p:cNvSpPr/>
          <p:nvPr/>
        </p:nvSpPr>
        <p:spPr>
          <a:xfrm>
            <a:off x="365760" y="2308680"/>
            <a:ext cx="8412120" cy="12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f85149"/>
                </a:solidFill>
                <a:latin typeface="Courier New"/>
                <a:ea typeface="Courier New"/>
              </a:rPr>
              <a:t>  </a:t>
            </a:r>
            <a:r>
              <a:rPr b="1" lang="en-US" sz="950" spc="-1" strike="noStrike">
                <a:solidFill>
                  <a:srgbClr val="f85149"/>
                </a:solidFill>
                <a:latin typeface="Courier New"/>
                <a:ea typeface="Courier New"/>
              </a:rPr>
              <a:t>@smoke @UC-03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6" name="Text 17"/>
          <p:cNvSpPr/>
          <p:nvPr/>
        </p:nvSpPr>
        <p:spPr>
          <a:xfrm>
            <a:off x="365760" y="2431800"/>
            <a:ext cx="8412120" cy="12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79c0ff"/>
                </a:solidFill>
                <a:latin typeface="Courier New"/>
                <a:ea typeface="Courier New"/>
              </a:rPr>
              <a:t>  </a:t>
            </a:r>
            <a:r>
              <a:rPr b="1" lang="en-US" sz="950" spc="-1" strike="noStrike">
                <a:solidFill>
                  <a:srgbClr val="79c0ff"/>
                </a:solidFill>
                <a:latin typeface="Courier New"/>
                <a:ea typeface="Courier New"/>
              </a:rPr>
              <a:t>Scenario: Création d'un plan de soins basé sur protocole HAS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7" name="Text 18"/>
          <p:cNvSpPr/>
          <p:nvPr/>
        </p:nvSpPr>
        <p:spPr>
          <a:xfrm>
            <a:off x="365760" y="2554560"/>
            <a:ext cx="8412120" cy="12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56d364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56d364"/>
                </a:solidFill>
                <a:latin typeface="Courier New"/>
                <a:ea typeface="Courier New"/>
              </a:rPr>
              <a:t>When je navigue vers le dossier du patient "Jean Martin"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8" name="Text 19"/>
          <p:cNvSpPr/>
          <p:nvPr/>
        </p:nvSpPr>
        <p:spPr>
          <a:xfrm>
            <a:off x="365760" y="2677680"/>
            <a:ext cx="8412120" cy="12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And je clique sur "Nouveau plan de soins"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9" name="Text 20"/>
          <p:cNvSpPr/>
          <p:nvPr/>
        </p:nvSpPr>
        <p:spPr>
          <a:xfrm>
            <a:off x="365760" y="2800440"/>
            <a:ext cx="8412120" cy="12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And je sélectionne le protocole "HAS-Diabète-Type2-2024"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0" name="Text 21"/>
          <p:cNvSpPr/>
          <p:nvPr/>
        </p:nvSpPr>
        <p:spPr>
          <a:xfrm>
            <a:off x="365760" y="2923560"/>
            <a:ext cx="8412120" cy="12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And je définis une date de début à aujourd'hui + 1 jour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1" name="Text 22"/>
          <p:cNvSpPr/>
          <p:nvPr/>
        </p:nvSpPr>
        <p:spPr>
          <a:xfrm>
            <a:off x="365760" y="3046680"/>
            <a:ext cx="8412120" cy="12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And je clique sur "Valider le plan"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2" name="Text 23"/>
          <p:cNvSpPr/>
          <p:nvPr/>
        </p:nvSpPr>
        <p:spPr>
          <a:xfrm>
            <a:off x="365760" y="3169440"/>
            <a:ext cx="8412120" cy="12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79c0ff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79c0ff"/>
                </a:solidFill>
                <a:latin typeface="Courier New"/>
                <a:ea typeface="Courier New"/>
              </a:rPr>
              <a:t>Then le plan de soins est créé avec le statut "actif"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3" name="Text 24"/>
          <p:cNvSpPr/>
          <p:nvPr/>
        </p:nvSpPr>
        <p:spPr>
          <a:xfrm>
            <a:off x="365760" y="3292560"/>
            <a:ext cx="8412120" cy="12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And 5 tâches standards sont générées automatiquement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4" name="Text 25"/>
          <p:cNvSpPr/>
          <p:nvPr/>
        </p:nvSpPr>
        <p:spPr>
          <a:xfrm>
            <a:off x="365760" y="3415320"/>
            <a:ext cx="8412120" cy="12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And l'équipe de soins est notifiée par messagerie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5" name="Text 26"/>
          <p:cNvSpPr/>
          <p:nvPr/>
        </p:nvSpPr>
        <p:spPr>
          <a:xfrm>
            <a:off x="365760" y="3661560"/>
            <a:ext cx="8412120" cy="12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f85149"/>
                </a:solidFill>
                <a:latin typeface="Courier New"/>
                <a:ea typeface="Courier New"/>
              </a:rPr>
              <a:t>  </a:t>
            </a:r>
            <a:r>
              <a:rPr b="1" lang="en-US" sz="950" spc="-1" strike="noStrike">
                <a:solidFill>
                  <a:srgbClr val="f85149"/>
                </a:solidFill>
                <a:latin typeface="Courier New"/>
                <a:ea typeface="Courier New"/>
              </a:rPr>
              <a:t>@smoke @UC-03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6" name="Text 27"/>
          <p:cNvSpPr/>
          <p:nvPr/>
        </p:nvSpPr>
        <p:spPr>
          <a:xfrm>
            <a:off x="365760" y="3784320"/>
            <a:ext cx="8412120" cy="12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79c0ff"/>
                </a:solidFill>
                <a:latin typeface="Courier New"/>
                <a:ea typeface="Courier New"/>
              </a:rPr>
              <a:t>  </a:t>
            </a:r>
            <a:r>
              <a:rPr b="1" lang="en-US" sz="950" spc="-1" strike="noStrike">
                <a:solidFill>
                  <a:srgbClr val="79c0ff"/>
                </a:solidFill>
                <a:latin typeface="Courier New"/>
                <a:ea typeface="Courier New"/>
              </a:rPr>
              <a:t>Scenario: Assignation et complétion d'une tâche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7" name="Text 28"/>
          <p:cNvSpPr/>
          <p:nvPr/>
        </p:nvSpPr>
        <p:spPr>
          <a:xfrm>
            <a:off x="365760" y="3907440"/>
            <a:ext cx="8412120" cy="12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7ee787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7ee787"/>
                </a:solidFill>
                <a:latin typeface="Courier New"/>
                <a:ea typeface="Courier New"/>
              </a:rPr>
              <a:t>Given le plan "Plan Diabète Jean Martin" est actif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8" name="Text 29"/>
          <p:cNvSpPr/>
          <p:nvPr/>
        </p:nvSpPr>
        <p:spPr>
          <a:xfrm>
            <a:off x="365760" y="4030200"/>
            <a:ext cx="8412120" cy="12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56d364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56d364"/>
                </a:solidFill>
                <a:latin typeface="Courier New"/>
                <a:ea typeface="Courier New"/>
              </a:rPr>
              <a:t>When j'assigne la tâche "Contrôle glycémique" à "inf.martin"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9" name="Text 30"/>
          <p:cNvSpPr/>
          <p:nvPr/>
        </p:nvSpPr>
        <p:spPr>
          <a:xfrm>
            <a:off x="365760" y="4153320"/>
            <a:ext cx="8412120" cy="12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And "inf.martin" marque la tâche comme "terminée"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0" name="Text 31"/>
          <p:cNvSpPr/>
          <p:nvPr/>
        </p:nvSpPr>
        <p:spPr>
          <a:xfrm>
            <a:off x="365760" y="4276080"/>
            <a:ext cx="8412120" cy="12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79c0ff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79c0ff"/>
                </a:solidFill>
                <a:latin typeface="Courier New"/>
                <a:ea typeface="Courier New"/>
              </a:rPr>
              <a:t>Then le statut de la tâche passe à "terminée"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1" name="Text 32"/>
          <p:cNvSpPr/>
          <p:nvPr/>
        </p:nvSpPr>
        <p:spPr>
          <a:xfrm>
            <a:off x="365760" y="4399200"/>
            <a:ext cx="8412120" cy="12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And la date de complétion est enregistrée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2" name="Text 33"/>
          <p:cNvSpPr/>
          <p:nvPr/>
        </p:nvSpPr>
        <p:spPr>
          <a:xfrm>
            <a:off x="365760" y="4522320"/>
            <a:ext cx="8412120" cy="12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And le score d'observance du plan est mis à jour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Shape 0"/>
          <p:cNvSpPr/>
          <p:nvPr/>
        </p:nvSpPr>
        <p:spPr>
          <a:xfrm>
            <a:off x="0" y="0"/>
            <a:ext cx="9143640" cy="548280"/>
          </a:xfrm>
          <a:prstGeom prst="rect">
            <a:avLst/>
          </a:prstGeom>
          <a:solidFill>
            <a:srgbClr val="3a3a5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4" name="Text 1"/>
          <p:cNvSpPr/>
          <p:nvPr/>
        </p:nvSpPr>
        <p:spPr>
          <a:xfrm>
            <a:off x="274320" y="0"/>
            <a:ext cx="85950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⚡  </a:t>
            </a: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UC-03 · Scénarios alternatifs &amp; cas d'erreur</a:t>
            </a:r>
            <a:endParaRPr b="0" lang="fr-BE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5" name="Shape 2"/>
          <p:cNvSpPr/>
          <p:nvPr/>
        </p:nvSpPr>
        <p:spPr>
          <a:xfrm>
            <a:off x="228600" y="658440"/>
            <a:ext cx="4297320" cy="41144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6" name="Shape 3"/>
          <p:cNvSpPr/>
          <p:nvPr/>
        </p:nvSpPr>
        <p:spPr>
          <a:xfrm>
            <a:off x="228600" y="658440"/>
            <a:ext cx="4297320" cy="292320"/>
          </a:xfrm>
          <a:prstGeom prst="rect">
            <a:avLst/>
          </a:prstGeom>
          <a:solidFill>
            <a:srgbClr val="21262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7" name="Shape 4"/>
          <p:cNvSpPr/>
          <p:nvPr/>
        </p:nvSpPr>
        <p:spPr>
          <a:xfrm>
            <a:off x="411480" y="731520"/>
            <a:ext cx="127800" cy="12780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8" name="Shape 5"/>
          <p:cNvSpPr/>
          <p:nvPr/>
        </p:nvSpPr>
        <p:spPr>
          <a:xfrm>
            <a:off x="621720" y="731520"/>
            <a:ext cx="127800" cy="12780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Shape 6"/>
          <p:cNvSpPr/>
          <p:nvPr/>
        </p:nvSpPr>
        <p:spPr>
          <a:xfrm>
            <a:off x="831960" y="731520"/>
            <a:ext cx="127800" cy="12780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0" name="Text 7"/>
          <p:cNvSpPr/>
          <p:nvPr/>
        </p:nvSpPr>
        <p:spPr>
          <a:xfrm>
            <a:off x="365760" y="102420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85149"/>
                </a:solidFill>
                <a:latin typeface="Courier New"/>
                <a:ea typeface="Courier New"/>
              </a:rPr>
              <a:t>  </a:t>
            </a:r>
            <a:r>
              <a:rPr b="1" lang="en-US" sz="850" spc="-1" strike="noStrike">
                <a:solidFill>
                  <a:srgbClr val="f85149"/>
                </a:solidFill>
                <a:latin typeface="Courier New"/>
                <a:ea typeface="Courier New"/>
              </a:rPr>
              <a:t>@critical @UC-03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1" name="Text 8"/>
          <p:cNvSpPr/>
          <p:nvPr/>
        </p:nvSpPr>
        <p:spPr>
          <a:xfrm>
            <a:off x="365760" y="122544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79c0ff"/>
                </a:solidFill>
                <a:latin typeface="Courier New"/>
                <a:ea typeface="Courier New"/>
              </a:rPr>
              <a:t>  </a:t>
            </a:r>
            <a:r>
              <a:rPr b="1" lang="en-US" sz="850" spc="-1" strike="noStrike">
                <a:solidFill>
                  <a:srgbClr val="79c0ff"/>
                </a:solidFill>
                <a:latin typeface="Courier New"/>
                <a:ea typeface="Courier New"/>
              </a:rPr>
              <a:t>Scenario: Alerte escalade si tâche critique en retard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2" name="Text 9"/>
          <p:cNvSpPr/>
          <p:nvPr/>
        </p:nvSpPr>
        <p:spPr>
          <a:xfrm>
            <a:off x="365760" y="142632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7ee787"/>
                </a:solidFill>
                <a:latin typeface="Courier New"/>
                <a:ea typeface="Courier New"/>
              </a:rPr>
              <a:t>    </a:t>
            </a:r>
            <a:r>
              <a:rPr b="0" lang="en-US" sz="850" spc="-1" strike="noStrike">
                <a:solidFill>
                  <a:srgbClr val="7ee787"/>
                </a:solidFill>
                <a:latin typeface="Courier New"/>
                <a:ea typeface="Courier New"/>
              </a:rPr>
              <a:t>Given la tâche "Injection insuline" est assignée à "inf.martin"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3" name="Text 10"/>
          <p:cNvSpPr/>
          <p:nvPr/>
        </p:nvSpPr>
        <p:spPr>
          <a:xfrm>
            <a:off x="365760" y="162756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d2a8ff"/>
                </a:solidFill>
                <a:latin typeface="Courier New"/>
                <a:ea typeface="Courier New"/>
              </a:rPr>
              <a:t>    </a:t>
            </a:r>
            <a:r>
              <a:rPr b="0" lang="en-US" sz="850" spc="-1" strike="noStrike">
                <a:solidFill>
                  <a:srgbClr val="d2a8ff"/>
                </a:solidFill>
                <a:latin typeface="Courier New"/>
                <a:ea typeface="Courier New"/>
              </a:rPr>
              <a:t>And la date d'échéance est dépassée de 2 heures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4" name="Text 11"/>
          <p:cNvSpPr/>
          <p:nvPr/>
        </p:nvSpPr>
        <p:spPr>
          <a:xfrm>
            <a:off x="365760" y="182880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56d364"/>
                </a:solidFill>
                <a:latin typeface="Courier New"/>
                <a:ea typeface="Courier New"/>
              </a:rPr>
              <a:t>    </a:t>
            </a:r>
            <a:r>
              <a:rPr b="0" lang="en-US" sz="850" spc="-1" strike="noStrike">
                <a:solidFill>
                  <a:srgbClr val="56d364"/>
                </a:solidFill>
                <a:latin typeface="Courier New"/>
                <a:ea typeface="Courier New"/>
              </a:rPr>
              <a:t>When le moteur d'alertes s'exécute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5" name="Text 12"/>
          <p:cNvSpPr/>
          <p:nvPr/>
        </p:nvSpPr>
        <p:spPr>
          <a:xfrm>
            <a:off x="365760" y="203004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79c0ff"/>
                </a:solidFill>
                <a:latin typeface="Courier New"/>
                <a:ea typeface="Courier New"/>
              </a:rPr>
              <a:t>    </a:t>
            </a:r>
            <a:r>
              <a:rPr b="0" lang="en-US" sz="850" spc="-1" strike="noStrike">
                <a:solidFill>
                  <a:srgbClr val="79c0ff"/>
                </a:solidFill>
                <a:latin typeface="Courier New"/>
                <a:ea typeface="Courier New"/>
              </a:rPr>
              <a:t>Then une alerte de sévérité "urgente" est créée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6" name="Text 13"/>
          <p:cNvSpPr/>
          <p:nvPr/>
        </p:nvSpPr>
        <p:spPr>
          <a:xfrm>
            <a:off x="365760" y="223128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d2a8ff"/>
                </a:solidFill>
                <a:latin typeface="Courier New"/>
                <a:ea typeface="Courier New"/>
              </a:rPr>
              <a:t>    </a:t>
            </a:r>
            <a:r>
              <a:rPr b="0" lang="en-US" sz="850" spc="-1" strike="noStrike">
                <a:solidFill>
                  <a:srgbClr val="d2a8ff"/>
                </a:solidFill>
                <a:latin typeface="Courier New"/>
                <a:ea typeface="Courier New"/>
              </a:rPr>
              <a:t>And le médecin responsable est notifié par SMS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7" name="Shape 14"/>
          <p:cNvSpPr/>
          <p:nvPr/>
        </p:nvSpPr>
        <p:spPr>
          <a:xfrm>
            <a:off x="4709160" y="658440"/>
            <a:ext cx="4297320" cy="41144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8" name="Shape 15"/>
          <p:cNvSpPr/>
          <p:nvPr/>
        </p:nvSpPr>
        <p:spPr>
          <a:xfrm>
            <a:off x="4709160" y="658440"/>
            <a:ext cx="4297320" cy="292320"/>
          </a:xfrm>
          <a:prstGeom prst="rect">
            <a:avLst/>
          </a:prstGeom>
          <a:solidFill>
            <a:srgbClr val="21262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9" name="Shape 16"/>
          <p:cNvSpPr/>
          <p:nvPr/>
        </p:nvSpPr>
        <p:spPr>
          <a:xfrm>
            <a:off x="4892040" y="731520"/>
            <a:ext cx="127800" cy="12780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0" name="Shape 17"/>
          <p:cNvSpPr/>
          <p:nvPr/>
        </p:nvSpPr>
        <p:spPr>
          <a:xfrm>
            <a:off x="5102280" y="731520"/>
            <a:ext cx="127800" cy="12780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Shape 18"/>
          <p:cNvSpPr/>
          <p:nvPr/>
        </p:nvSpPr>
        <p:spPr>
          <a:xfrm>
            <a:off x="5312520" y="731520"/>
            <a:ext cx="127800" cy="12780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2" name="Text 19"/>
          <p:cNvSpPr/>
          <p:nvPr/>
        </p:nvSpPr>
        <p:spPr>
          <a:xfrm>
            <a:off x="4846320" y="102420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85149"/>
                </a:solidFill>
                <a:latin typeface="Courier New"/>
                <a:ea typeface="Courier New"/>
              </a:rPr>
              <a:t>  </a:t>
            </a:r>
            <a:r>
              <a:rPr b="1" lang="en-US" sz="850" spc="-1" strike="noStrike">
                <a:solidFill>
                  <a:srgbClr val="f85149"/>
                </a:solidFill>
                <a:latin typeface="Courier New"/>
                <a:ea typeface="Courier New"/>
              </a:rPr>
              <a:t>@regression @UC-03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3" name="Text 20"/>
          <p:cNvSpPr/>
          <p:nvPr/>
        </p:nvSpPr>
        <p:spPr>
          <a:xfrm>
            <a:off x="4846320" y="122544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79c0ff"/>
                </a:solidFill>
                <a:latin typeface="Courier New"/>
                <a:ea typeface="Courier New"/>
              </a:rPr>
              <a:t>  </a:t>
            </a:r>
            <a:r>
              <a:rPr b="1" lang="en-US" sz="850" spc="-1" strike="noStrike">
                <a:solidFill>
                  <a:srgbClr val="79c0ff"/>
                </a:solidFill>
                <a:latin typeface="Courier New"/>
                <a:ea typeface="Courier New"/>
              </a:rPr>
              <a:t>Scenario Outline: Score d'observance calculé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4" name="Text 21"/>
          <p:cNvSpPr/>
          <p:nvPr/>
        </p:nvSpPr>
        <p:spPr>
          <a:xfrm>
            <a:off x="4846320" y="142632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7ee787"/>
                </a:solidFill>
                <a:latin typeface="Courier New"/>
                <a:ea typeface="Courier New"/>
              </a:rPr>
              <a:t>    </a:t>
            </a:r>
            <a:r>
              <a:rPr b="0" lang="en-US" sz="850" spc="-1" strike="noStrike">
                <a:solidFill>
                  <a:srgbClr val="7ee787"/>
                </a:solidFill>
                <a:latin typeface="Courier New"/>
                <a:ea typeface="Courier New"/>
              </a:rPr>
              <a:t>Given un plan avec &lt;total&gt; tâches dont &lt;faites&gt; terminées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5" name="Text 22"/>
          <p:cNvSpPr/>
          <p:nvPr/>
        </p:nvSpPr>
        <p:spPr>
          <a:xfrm>
            <a:off x="4846320" y="162756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56d364"/>
                </a:solidFill>
                <a:latin typeface="Courier New"/>
                <a:ea typeface="Courier New"/>
              </a:rPr>
              <a:t>    </a:t>
            </a:r>
            <a:r>
              <a:rPr b="0" lang="en-US" sz="850" spc="-1" strike="noStrike">
                <a:solidFill>
                  <a:srgbClr val="56d364"/>
                </a:solidFill>
                <a:latin typeface="Courier New"/>
                <a:ea typeface="Courier New"/>
              </a:rPr>
              <a:t>When je consulte le tableau de bord du plan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6" name="Text 23"/>
          <p:cNvSpPr/>
          <p:nvPr/>
        </p:nvSpPr>
        <p:spPr>
          <a:xfrm>
            <a:off x="4846320" y="182880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79c0ff"/>
                </a:solidFill>
                <a:latin typeface="Courier New"/>
                <a:ea typeface="Courier New"/>
              </a:rPr>
              <a:t>    </a:t>
            </a:r>
            <a:r>
              <a:rPr b="0" lang="en-US" sz="850" spc="-1" strike="noStrike">
                <a:solidFill>
                  <a:srgbClr val="79c0ff"/>
                </a:solidFill>
                <a:latin typeface="Courier New"/>
                <a:ea typeface="Courier New"/>
              </a:rPr>
              <a:t>Then le score d'observance affiché est &lt;score&gt;%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7" name="Text 24"/>
          <p:cNvSpPr/>
          <p:nvPr/>
        </p:nvSpPr>
        <p:spPr>
          <a:xfrm>
            <a:off x="4846320" y="203004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e3b341"/>
                </a:solidFill>
                <a:latin typeface="Courier New"/>
                <a:ea typeface="Courier New"/>
              </a:rPr>
              <a:t>    </a:t>
            </a:r>
            <a:r>
              <a:rPr b="1" lang="en-US" sz="850" spc="-1" strike="noStrike">
                <a:solidFill>
                  <a:srgbClr val="e3b341"/>
                </a:solidFill>
                <a:latin typeface="Courier New"/>
                <a:ea typeface="Courier New"/>
              </a:rPr>
              <a:t>Examples: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8" name="Text 25"/>
          <p:cNvSpPr/>
          <p:nvPr/>
        </p:nvSpPr>
        <p:spPr>
          <a:xfrm>
            <a:off x="4846320" y="223128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ffa657"/>
                </a:solidFill>
                <a:latin typeface="Courier New"/>
                <a:ea typeface="Courier New"/>
              </a:rPr>
              <a:t>      </a:t>
            </a:r>
            <a:r>
              <a:rPr b="0" lang="en-US" sz="850" spc="-1" strike="noStrike">
                <a:solidFill>
                  <a:srgbClr val="ffa657"/>
                </a:solidFill>
                <a:latin typeface="Courier New"/>
                <a:ea typeface="Courier New"/>
              </a:rPr>
              <a:t>| total | faites | score |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9" name="Text 26"/>
          <p:cNvSpPr/>
          <p:nvPr/>
        </p:nvSpPr>
        <p:spPr>
          <a:xfrm>
            <a:off x="4846320" y="243216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ffa657"/>
                </a:solidFill>
                <a:latin typeface="Courier New"/>
                <a:ea typeface="Courier New"/>
              </a:rPr>
              <a:t>      </a:t>
            </a:r>
            <a:r>
              <a:rPr b="0" lang="en-US" sz="850" spc="-1" strike="noStrike">
                <a:solidFill>
                  <a:srgbClr val="ffa657"/>
                </a:solidFill>
                <a:latin typeface="Courier New"/>
                <a:ea typeface="Courier New"/>
              </a:rPr>
              <a:t>| 10    | 10     | 100   |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0" name="Text 27"/>
          <p:cNvSpPr/>
          <p:nvPr/>
        </p:nvSpPr>
        <p:spPr>
          <a:xfrm>
            <a:off x="4846320" y="263340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ffa657"/>
                </a:solidFill>
                <a:latin typeface="Courier New"/>
                <a:ea typeface="Courier New"/>
              </a:rPr>
              <a:t>      </a:t>
            </a:r>
            <a:r>
              <a:rPr b="0" lang="en-US" sz="850" spc="-1" strike="noStrike">
                <a:solidFill>
                  <a:srgbClr val="ffa657"/>
                </a:solidFill>
                <a:latin typeface="Courier New"/>
                <a:ea typeface="Courier New"/>
              </a:rPr>
              <a:t>| 10    | 7      | 70    |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1" name="Text 28"/>
          <p:cNvSpPr/>
          <p:nvPr/>
        </p:nvSpPr>
        <p:spPr>
          <a:xfrm>
            <a:off x="4846320" y="283464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ffa657"/>
                </a:solidFill>
                <a:latin typeface="Courier New"/>
                <a:ea typeface="Courier New"/>
              </a:rPr>
              <a:t>      </a:t>
            </a:r>
            <a:r>
              <a:rPr b="0" lang="en-US" sz="850" spc="-1" strike="noStrike">
                <a:solidFill>
                  <a:srgbClr val="ffa657"/>
                </a:solidFill>
                <a:latin typeface="Courier New"/>
                <a:ea typeface="Courier New"/>
              </a:rPr>
              <a:t>| 10    | 0      | 0     |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Shape 0"/>
          <p:cNvSpPr/>
          <p:nvPr/>
        </p:nvSpPr>
        <p:spPr>
          <a:xfrm>
            <a:off x="0" y="0"/>
            <a:ext cx="9143640" cy="685440"/>
          </a:xfrm>
          <a:prstGeom prst="rect">
            <a:avLst/>
          </a:prstGeom>
          <a:solidFill>
            <a:srgbClr val="c039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3" name="Shape 1"/>
          <p:cNvSpPr/>
          <p:nvPr/>
        </p:nvSpPr>
        <p:spPr>
          <a:xfrm>
            <a:off x="0" y="685800"/>
            <a:ext cx="9143640" cy="45360"/>
          </a:xfrm>
          <a:prstGeom prst="rect">
            <a:avLst/>
          </a:prstGeom>
          <a:solidFill>
            <a:srgbClr val="fadb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Text 2"/>
          <p:cNvSpPr/>
          <p:nvPr/>
        </p:nvSpPr>
        <p:spPr>
          <a:xfrm>
            <a:off x="320040" y="0"/>
            <a:ext cx="10054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a0c8df"/>
                </a:solidFill>
                <a:latin typeface="Calibri"/>
              </a:rPr>
              <a:t>UC-04</a:t>
            </a:r>
            <a:endParaRPr b="0" lang="fr-BE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Text 3"/>
          <p:cNvSpPr/>
          <p:nvPr/>
        </p:nvSpPr>
        <p:spPr>
          <a:xfrm>
            <a:off x="1371600" y="0"/>
            <a:ext cx="68576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Gestion des Alertes Cliniques</a:t>
            </a:r>
            <a:endParaRPr b="0" lang="fr-BE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6" name="Shape 4"/>
          <p:cNvSpPr/>
          <p:nvPr/>
        </p:nvSpPr>
        <p:spPr>
          <a:xfrm>
            <a:off x="7863840" y="109800"/>
            <a:ext cx="1005480" cy="456840"/>
          </a:xfrm>
          <a:prstGeom prst="roundRect">
            <a:avLst>
              <a:gd name="adj" fmla="val 16000"/>
            </a:avLst>
          </a:prstGeom>
          <a:solidFill>
            <a:srgbClr val="ffffff">
              <a:alpha val="8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Text 5"/>
          <p:cNvSpPr/>
          <p:nvPr/>
        </p:nvSpPr>
        <p:spPr>
          <a:xfrm>
            <a:off x="7863840" y="109800"/>
            <a:ext cx="1005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</a:rPr>
              <a:t>Alertes</a:t>
            </a:r>
            <a:endParaRPr b="0" lang="fr-B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8" name="Shape 6"/>
          <p:cNvSpPr/>
          <p:nvPr/>
        </p:nvSpPr>
        <p:spPr>
          <a:xfrm>
            <a:off x="274320" y="868680"/>
            <a:ext cx="8595000" cy="776880"/>
          </a:xfrm>
          <a:prstGeom prst="rect">
            <a:avLst/>
          </a:prstGeom>
          <a:solidFill>
            <a:srgbClr val="fadbd8"/>
          </a:solidFill>
          <a:ln w="12700">
            <a:solidFill>
              <a:srgbClr val="c0392b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Text 7"/>
          <p:cNvSpPr/>
          <p:nvPr/>
        </p:nvSpPr>
        <p:spPr>
          <a:xfrm>
            <a:off x="457200" y="896040"/>
            <a:ext cx="8229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📋  </a:t>
            </a: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Le moteur d'alertes surveille en continu les données patients et génère des alertes contextuelles (biologiques, médicamenteuses, IoT) avec escalade automatique selon la sévérité.</a:t>
            </a:r>
            <a:endParaRPr b="0" lang="fr-BE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Shape 8"/>
          <p:cNvSpPr/>
          <p:nvPr/>
        </p:nvSpPr>
        <p:spPr>
          <a:xfrm>
            <a:off x="274320" y="1783080"/>
            <a:ext cx="4114440" cy="1462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df2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1" name="Shape 9"/>
          <p:cNvSpPr/>
          <p:nvPr/>
        </p:nvSpPr>
        <p:spPr>
          <a:xfrm>
            <a:off x="274320" y="1783080"/>
            <a:ext cx="4114440" cy="347040"/>
          </a:xfrm>
          <a:prstGeom prst="rect">
            <a:avLst/>
          </a:prstGeom>
          <a:solidFill>
            <a:srgbClr val="c039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2" name="Text 10"/>
          <p:cNvSpPr/>
          <p:nvPr/>
        </p:nvSpPr>
        <p:spPr>
          <a:xfrm>
            <a:off x="274320" y="1783080"/>
            <a:ext cx="41144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6320" rIns="76320" tIns="76320" bIns="7632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👤  </a:t>
            </a: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ACTEURS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Text 11"/>
          <p:cNvSpPr/>
          <p:nvPr/>
        </p:nvSpPr>
        <p:spPr>
          <a:xfrm>
            <a:off x="411480" y="2176200"/>
            <a:ext cx="384012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Système (moteur d'alertes)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Médecin responsable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Infirmier de garde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Shape 12"/>
          <p:cNvSpPr/>
          <p:nvPr/>
        </p:nvSpPr>
        <p:spPr>
          <a:xfrm>
            <a:off x="4754880" y="1783080"/>
            <a:ext cx="4114440" cy="1462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df2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" name="Shape 13"/>
          <p:cNvSpPr/>
          <p:nvPr/>
        </p:nvSpPr>
        <p:spPr>
          <a:xfrm>
            <a:off x="4754880" y="1783080"/>
            <a:ext cx="4114440" cy="347040"/>
          </a:xfrm>
          <a:prstGeom prst="rect">
            <a:avLst/>
          </a:prstGeom>
          <a:solidFill>
            <a:srgbClr val="64748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6" name="Text 14"/>
          <p:cNvSpPr/>
          <p:nvPr/>
        </p:nvSpPr>
        <p:spPr>
          <a:xfrm>
            <a:off x="4754880" y="1783080"/>
            <a:ext cx="41144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6320" rIns="76320" tIns="76320" bIns="7632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⚙️  </a:t>
            </a: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PRÉCONDITIONS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Text 15"/>
          <p:cNvSpPr/>
          <p:nvPr/>
        </p:nvSpPr>
        <p:spPr>
          <a:xfrm>
            <a:off x="4892040" y="2176200"/>
            <a:ext cx="384012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Patient avec seuils d'alerte configurés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Observations récentes disponibles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Équipe de soins notifiable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8" name="Shape 16"/>
          <p:cNvSpPr/>
          <p:nvPr/>
        </p:nvSpPr>
        <p:spPr>
          <a:xfrm>
            <a:off x="274320" y="3364920"/>
            <a:ext cx="8595000" cy="319680"/>
          </a:xfrm>
          <a:prstGeom prst="rect">
            <a:avLst/>
          </a:prstGeom>
          <a:solidFill>
            <a:srgbClr val="1a1a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9" name="Text 17"/>
          <p:cNvSpPr/>
          <p:nvPr/>
        </p:nvSpPr>
        <p:spPr>
          <a:xfrm>
            <a:off x="274320" y="3364920"/>
            <a:ext cx="8595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rIns="101520" tIns="101520" bIns="10152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199" strike="noStrike">
                <a:solidFill>
                  <a:srgbClr val="ffffff"/>
                </a:solidFill>
                <a:latin typeface="Calibri"/>
              </a:rPr>
              <a:t>SCÉNARIOS BDD / GHERKIN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Shape 18"/>
          <p:cNvSpPr/>
          <p:nvPr/>
        </p:nvSpPr>
        <p:spPr>
          <a:xfrm>
            <a:off x="274320" y="3749040"/>
            <a:ext cx="8595000" cy="2556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Shape 19"/>
          <p:cNvSpPr/>
          <p:nvPr/>
        </p:nvSpPr>
        <p:spPr>
          <a:xfrm>
            <a:off x="320040" y="3785760"/>
            <a:ext cx="822600" cy="182520"/>
          </a:xfrm>
          <a:prstGeom prst="roundRect">
            <a:avLst>
              <a:gd name="adj" fmla="val 25000"/>
            </a:avLst>
          </a:prstGeom>
          <a:solidFill>
            <a:srgbClr val="c039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2" name="Text 20"/>
          <p:cNvSpPr/>
          <p:nvPr/>
        </p:nvSpPr>
        <p:spPr>
          <a:xfrm>
            <a:off x="320040" y="3785760"/>
            <a:ext cx="822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ffffff"/>
                </a:solidFill>
                <a:latin typeface="Calibri"/>
              </a:rPr>
              <a:t>@critical</a:t>
            </a:r>
            <a:endParaRPr b="0" lang="fr-BE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Text 21"/>
          <p:cNvSpPr/>
          <p:nvPr/>
        </p:nvSpPr>
        <p:spPr>
          <a:xfrm>
            <a:off x="1234440" y="3749040"/>
            <a:ext cx="74977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Alerte glycémie critique déclenchée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Shape 22"/>
          <p:cNvSpPr/>
          <p:nvPr/>
        </p:nvSpPr>
        <p:spPr>
          <a:xfrm>
            <a:off x="274320" y="4060080"/>
            <a:ext cx="8595000" cy="255600"/>
          </a:xfrm>
          <a:prstGeom prst="roundRect">
            <a:avLst>
              <a:gd name="adj" fmla="val 14286"/>
            </a:avLst>
          </a:prstGeom>
          <a:solidFill>
            <a:srgbClr val="e8ed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5" name="Shape 23"/>
          <p:cNvSpPr/>
          <p:nvPr/>
        </p:nvSpPr>
        <p:spPr>
          <a:xfrm>
            <a:off x="320040" y="4096440"/>
            <a:ext cx="822600" cy="182520"/>
          </a:xfrm>
          <a:prstGeom prst="roundRect">
            <a:avLst>
              <a:gd name="adj" fmla="val 25000"/>
            </a:avLst>
          </a:prstGeom>
          <a:solidFill>
            <a:srgbClr val="c039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6" name="Text 24"/>
          <p:cNvSpPr/>
          <p:nvPr/>
        </p:nvSpPr>
        <p:spPr>
          <a:xfrm>
            <a:off x="320040" y="4096440"/>
            <a:ext cx="822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ffffff"/>
                </a:solidFill>
                <a:latin typeface="Calibri"/>
              </a:rPr>
              <a:t>@critical</a:t>
            </a:r>
            <a:endParaRPr b="0" lang="fr-BE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Text 25"/>
          <p:cNvSpPr/>
          <p:nvPr/>
        </p:nvSpPr>
        <p:spPr>
          <a:xfrm>
            <a:off x="1234440" y="4060080"/>
            <a:ext cx="74977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Alerte interaction médicamenteuse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Shape 26"/>
          <p:cNvSpPr/>
          <p:nvPr/>
        </p:nvSpPr>
        <p:spPr>
          <a:xfrm>
            <a:off x="274320" y="4370760"/>
            <a:ext cx="8595000" cy="2556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Shape 27"/>
          <p:cNvSpPr/>
          <p:nvPr/>
        </p:nvSpPr>
        <p:spPr>
          <a:xfrm>
            <a:off x="320040" y="4407480"/>
            <a:ext cx="822600" cy="182520"/>
          </a:xfrm>
          <a:prstGeom prst="roundRect">
            <a:avLst>
              <a:gd name="adj" fmla="val 25000"/>
            </a:avLst>
          </a:prstGeom>
          <a:solidFill>
            <a:srgbClr val="1e844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0" name="Text 28"/>
          <p:cNvSpPr/>
          <p:nvPr/>
        </p:nvSpPr>
        <p:spPr>
          <a:xfrm>
            <a:off x="320040" y="4407480"/>
            <a:ext cx="822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ffffff"/>
                </a:solidFill>
                <a:latin typeface="Calibri"/>
              </a:rPr>
              <a:t>@smoke</a:t>
            </a:r>
            <a:endParaRPr b="0" lang="fr-BE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Text 29"/>
          <p:cNvSpPr/>
          <p:nvPr/>
        </p:nvSpPr>
        <p:spPr>
          <a:xfrm>
            <a:off x="1234440" y="4370760"/>
            <a:ext cx="74977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Acquittement d'une alerte par le médecin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" name="Shape 30"/>
          <p:cNvSpPr/>
          <p:nvPr/>
        </p:nvSpPr>
        <p:spPr>
          <a:xfrm>
            <a:off x="274320" y="4681800"/>
            <a:ext cx="8595000" cy="255600"/>
          </a:xfrm>
          <a:prstGeom prst="roundRect">
            <a:avLst>
              <a:gd name="adj" fmla="val 14286"/>
            </a:avLst>
          </a:prstGeom>
          <a:solidFill>
            <a:srgbClr val="e8ed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" name="Shape 31"/>
          <p:cNvSpPr/>
          <p:nvPr/>
        </p:nvSpPr>
        <p:spPr>
          <a:xfrm>
            <a:off x="320040" y="4718160"/>
            <a:ext cx="822600" cy="182520"/>
          </a:xfrm>
          <a:prstGeom prst="roundRect">
            <a:avLst>
              <a:gd name="adj" fmla="val 25000"/>
            </a:avLst>
          </a:prstGeom>
          <a:solidFill>
            <a:srgbClr val="d354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4" name="Text 32"/>
          <p:cNvSpPr/>
          <p:nvPr/>
        </p:nvSpPr>
        <p:spPr>
          <a:xfrm>
            <a:off x="320040" y="4718160"/>
            <a:ext cx="822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ffffff"/>
                </a:solidFill>
                <a:latin typeface="Calibri"/>
              </a:rPr>
              <a:t>@regression</a:t>
            </a:r>
            <a:endParaRPr b="0" lang="fr-BE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Text 33"/>
          <p:cNvSpPr/>
          <p:nvPr/>
        </p:nvSpPr>
        <p:spPr>
          <a:xfrm>
            <a:off x="1234440" y="4681800"/>
            <a:ext cx="74977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Escalade automatique si alerte non acquittée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Shape 0"/>
          <p:cNvSpPr/>
          <p:nvPr/>
        </p:nvSpPr>
        <p:spPr>
          <a:xfrm>
            <a:off x="0" y="0"/>
            <a:ext cx="9143640" cy="548280"/>
          </a:xfrm>
          <a:prstGeom prst="rect">
            <a:avLst/>
          </a:prstGeom>
          <a:solidFill>
            <a:srgbClr val="c039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7" name="Text 1"/>
          <p:cNvSpPr/>
          <p:nvPr/>
        </p:nvSpPr>
        <p:spPr>
          <a:xfrm>
            <a:off x="274320" y="0"/>
            <a:ext cx="85950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🥒  </a:t>
            </a: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UC-04 · Scénario nominal — Gherkin / Cucumber</a:t>
            </a:r>
            <a:endParaRPr b="0" lang="fr-BE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8" name="Shape 2"/>
          <p:cNvSpPr/>
          <p:nvPr/>
        </p:nvSpPr>
        <p:spPr>
          <a:xfrm>
            <a:off x="228600" y="658440"/>
            <a:ext cx="8686440" cy="41144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9" name="Shape 3"/>
          <p:cNvSpPr/>
          <p:nvPr/>
        </p:nvSpPr>
        <p:spPr>
          <a:xfrm>
            <a:off x="228600" y="658440"/>
            <a:ext cx="8686440" cy="328680"/>
          </a:xfrm>
          <a:prstGeom prst="rect">
            <a:avLst/>
          </a:prstGeom>
          <a:solidFill>
            <a:srgbClr val="21262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0" name="Shape 4"/>
          <p:cNvSpPr/>
          <p:nvPr/>
        </p:nvSpPr>
        <p:spPr>
          <a:xfrm>
            <a:off x="457200" y="749880"/>
            <a:ext cx="145800" cy="14580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1" name="Shape 5"/>
          <p:cNvSpPr/>
          <p:nvPr/>
        </p:nvSpPr>
        <p:spPr>
          <a:xfrm>
            <a:off x="713160" y="749880"/>
            <a:ext cx="145800" cy="14580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2" name="Shape 6"/>
          <p:cNvSpPr/>
          <p:nvPr/>
        </p:nvSpPr>
        <p:spPr>
          <a:xfrm>
            <a:off x="969120" y="749880"/>
            <a:ext cx="145800" cy="14580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3" name="Text 7"/>
          <p:cNvSpPr/>
          <p:nvPr/>
        </p:nvSpPr>
        <p:spPr>
          <a:xfrm>
            <a:off x="1371600" y="658440"/>
            <a:ext cx="64004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8b949e"/>
                </a:solidFill>
                <a:latin typeface="Calibri"/>
              </a:rPr>
              <a:t>src/test/resources/features/alerts/alertes-cliniques.feature</a:t>
            </a:r>
            <a:endParaRPr b="0" lang="fr-BE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4" name="Text 8"/>
          <p:cNvSpPr/>
          <p:nvPr/>
        </p:nvSpPr>
        <p:spPr>
          <a:xfrm>
            <a:off x="365760" y="1078920"/>
            <a:ext cx="8412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Feature: Alertes Cliniques CareSync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5" name="Text 9"/>
          <p:cNvSpPr/>
          <p:nvPr/>
        </p:nvSpPr>
        <p:spPr>
          <a:xfrm>
            <a:off x="365760" y="1216080"/>
            <a:ext cx="8412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edf3"/>
                </a:solidFill>
                <a:latin typeface="Courier New"/>
                <a:ea typeface="Courier New"/>
              </a:rPr>
              <a:t>  </a:t>
            </a:r>
            <a:r>
              <a:rPr b="0" lang="en-US" sz="950" spc="-1" strike="noStrike">
                <a:solidFill>
                  <a:srgbClr val="e6edf3"/>
                </a:solidFill>
                <a:latin typeface="Courier New"/>
                <a:ea typeface="Courier New"/>
              </a:rPr>
              <a:t>En tant que système de surveillance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6" name="Text 10"/>
          <p:cNvSpPr/>
          <p:nvPr/>
        </p:nvSpPr>
        <p:spPr>
          <a:xfrm>
            <a:off x="365760" y="1353240"/>
            <a:ext cx="8412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edf3"/>
                </a:solidFill>
                <a:latin typeface="Courier New"/>
                <a:ea typeface="Courier New"/>
              </a:rPr>
              <a:t>  </a:t>
            </a:r>
            <a:r>
              <a:rPr b="0" lang="en-US" sz="950" spc="-1" strike="noStrike">
                <a:solidFill>
                  <a:srgbClr val="e6edf3"/>
                </a:solidFill>
                <a:latin typeface="Courier New"/>
                <a:ea typeface="Courier New"/>
              </a:rPr>
              <a:t>Je dois détecter les anomalies cliniques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7" name="Text 11"/>
          <p:cNvSpPr/>
          <p:nvPr/>
        </p:nvSpPr>
        <p:spPr>
          <a:xfrm>
            <a:off x="365760" y="1490400"/>
            <a:ext cx="8412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edf3"/>
                </a:solidFill>
                <a:latin typeface="Courier New"/>
                <a:ea typeface="Courier New"/>
              </a:rPr>
              <a:t>  </a:t>
            </a:r>
            <a:r>
              <a:rPr b="0" lang="en-US" sz="950" spc="-1" strike="noStrike">
                <a:solidFill>
                  <a:srgbClr val="e6edf3"/>
                </a:solidFill>
                <a:latin typeface="Courier New"/>
                <a:ea typeface="Courier New"/>
              </a:rPr>
              <a:t>Afin de prévenir les complications évitables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8" name="Text 12"/>
          <p:cNvSpPr/>
          <p:nvPr/>
        </p:nvSpPr>
        <p:spPr>
          <a:xfrm>
            <a:off x="365760" y="1764720"/>
            <a:ext cx="8412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e3b341"/>
                </a:solidFill>
                <a:latin typeface="Courier New"/>
                <a:ea typeface="Courier New"/>
              </a:rPr>
              <a:t>  </a:t>
            </a:r>
            <a:r>
              <a:rPr b="1" lang="en-US" sz="950" spc="-1" strike="noStrike">
                <a:solidFill>
                  <a:srgbClr val="e3b341"/>
                </a:solidFill>
                <a:latin typeface="Courier New"/>
                <a:ea typeface="Courier New"/>
              </a:rPr>
              <a:t>Background: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9" name="Text 13"/>
          <p:cNvSpPr/>
          <p:nvPr/>
        </p:nvSpPr>
        <p:spPr>
          <a:xfrm>
            <a:off x="365760" y="1901880"/>
            <a:ext cx="8412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7ee787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7ee787"/>
                </a:solidFill>
                <a:latin typeface="Courier New"/>
                <a:ea typeface="Courier New"/>
              </a:rPr>
              <a:t>Given le patient "Jean Martin" a un seuil glycémie critique &gt; 3.5 g/L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0" name="Text 14"/>
          <p:cNvSpPr/>
          <p:nvPr/>
        </p:nvSpPr>
        <p:spPr>
          <a:xfrm>
            <a:off x="365760" y="2039040"/>
            <a:ext cx="8412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And son médecin traitant est "dr.dupont"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1" name="Text 15"/>
          <p:cNvSpPr/>
          <p:nvPr/>
        </p:nvSpPr>
        <p:spPr>
          <a:xfrm>
            <a:off x="365760" y="2313360"/>
            <a:ext cx="8412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f85149"/>
                </a:solidFill>
                <a:latin typeface="Courier New"/>
                <a:ea typeface="Courier New"/>
              </a:rPr>
              <a:t>  </a:t>
            </a:r>
            <a:r>
              <a:rPr b="1" lang="en-US" sz="950" spc="-1" strike="noStrike">
                <a:solidFill>
                  <a:srgbClr val="f85149"/>
                </a:solidFill>
                <a:latin typeface="Courier New"/>
                <a:ea typeface="Courier New"/>
              </a:rPr>
              <a:t>@critical @UC-04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2" name="Text 16"/>
          <p:cNvSpPr/>
          <p:nvPr/>
        </p:nvSpPr>
        <p:spPr>
          <a:xfrm>
            <a:off x="365760" y="2450520"/>
            <a:ext cx="8412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79c0ff"/>
                </a:solidFill>
                <a:latin typeface="Courier New"/>
                <a:ea typeface="Courier New"/>
              </a:rPr>
              <a:t>  </a:t>
            </a:r>
            <a:r>
              <a:rPr b="1" lang="en-US" sz="950" spc="-1" strike="noStrike">
                <a:solidFill>
                  <a:srgbClr val="79c0ff"/>
                </a:solidFill>
                <a:latin typeface="Courier New"/>
                <a:ea typeface="Courier New"/>
              </a:rPr>
              <a:t>Scenario: Déclenchement alerte glycémie hors seuil critique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3" name="Text 17"/>
          <p:cNvSpPr/>
          <p:nvPr/>
        </p:nvSpPr>
        <p:spPr>
          <a:xfrm>
            <a:off x="365760" y="2587680"/>
            <a:ext cx="8412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7ee787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7ee787"/>
                </a:solidFill>
                <a:latin typeface="Courier New"/>
                <a:ea typeface="Courier New"/>
              </a:rPr>
              <a:t>Given une observation IoT est reçue pour "Jean Martin"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4" name="Text 18"/>
          <p:cNvSpPr/>
          <p:nvPr/>
        </p:nvSpPr>
        <p:spPr>
          <a:xfrm>
            <a:off x="365760" y="2724840"/>
            <a:ext cx="8412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And la valeur de glycémie est "4.2 g/L"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5" name="Text 19"/>
          <p:cNvSpPr/>
          <p:nvPr/>
        </p:nvSpPr>
        <p:spPr>
          <a:xfrm>
            <a:off x="365760" y="2862000"/>
            <a:ext cx="8412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56d364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56d364"/>
                </a:solidFill>
                <a:latin typeface="Courier New"/>
                <a:ea typeface="Courier New"/>
              </a:rPr>
              <a:t>When le moteur d'alertes analyse l'observation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6" name="Text 20"/>
          <p:cNvSpPr/>
          <p:nvPr/>
        </p:nvSpPr>
        <p:spPr>
          <a:xfrm>
            <a:off x="365760" y="2999160"/>
            <a:ext cx="8412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79c0ff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79c0ff"/>
                </a:solidFill>
                <a:latin typeface="Courier New"/>
                <a:ea typeface="Courier New"/>
              </a:rPr>
              <a:t>Then une alerte de type "biologique" est créée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7" name="Text 21"/>
          <p:cNvSpPr/>
          <p:nvPr/>
        </p:nvSpPr>
        <p:spPr>
          <a:xfrm>
            <a:off x="365760" y="3136320"/>
            <a:ext cx="8412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And la sévérité est "critique"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8" name="Text 22"/>
          <p:cNvSpPr/>
          <p:nvPr/>
        </p:nvSpPr>
        <p:spPr>
          <a:xfrm>
            <a:off x="365760" y="3273480"/>
            <a:ext cx="8412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And "dr.dupont" reçoit une notification push immédiate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9" name="Text 23"/>
          <p:cNvSpPr/>
          <p:nvPr/>
        </p:nvSpPr>
        <p:spPr>
          <a:xfrm>
            <a:off x="365760" y="3410640"/>
            <a:ext cx="8412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And l'alerte apparaît en rouge dans sa console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0" name="Text 24"/>
          <p:cNvSpPr/>
          <p:nvPr/>
        </p:nvSpPr>
        <p:spPr>
          <a:xfrm>
            <a:off x="365760" y="3684960"/>
            <a:ext cx="8412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f85149"/>
                </a:solidFill>
                <a:latin typeface="Courier New"/>
                <a:ea typeface="Courier New"/>
              </a:rPr>
              <a:t>  </a:t>
            </a:r>
            <a:r>
              <a:rPr b="1" lang="en-US" sz="950" spc="-1" strike="noStrike">
                <a:solidFill>
                  <a:srgbClr val="f85149"/>
                </a:solidFill>
                <a:latin typeface="Courier New"/>
                <a:ea typeface="Courier New"/>
              </a:rPr>
              <a:t>@critical @UC-04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1" name="Text 25"/>
          <p:cNvSpPr/>
          <p:nvPr/>
        </p:nvSpPr>
        <p:spPr>
          <a:xfrm>
            <a:off x="365760" y="3822120"/>
            <a:ext cx="8412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79c0ff"/>
                </a:solidFill>
                <a:latin typeface="Courier New"/>
                <a:ea typeface="Courier New"/>
              </a:rPr>
              <a:t>  </a:t>
            </a:r>
            <a:r>
              <a:rPr b="1" lang="en-US" sz="950" spc="-1" strike="noStrike">
                <a:solidFill>
                  <a:srgbClr val="79c0ff"/>
                </a:solidFill>
                <a:latin typeface="Courier New"/>
                <a:ea typeface="Courier New"/>
              </a:rPr>
              <a:t>Scenario: Détection d'une interaction médicamenteuse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2" name="Text 26"/>
          <p:cNvSpPr/>
          <p:nvPr/>
        </p:nvSpPr>
        <p:spPr>
          <a:xfrm>
            <a:off x="365760" y="3959280"/>
            <a:ext cx="8412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7ee787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7ee787"/>
                </a:solidFill>
                <a:latin typeface="Courier New"/>
                <a:ea typeface="Courier New"/>
              </a:rPr>
              <a:t>Given "Jean Martin" prend "Metformine 500mg"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3" name="Text 27"/>
          <p:cNvSpPr/>
          <p:nvPr/>
        </p:nvSpPr>
        <p:spPr>
          <a:xfrm>
            <a:off x="365760" y="4096440"/>
            <a:ext cx="8412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56d364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56d364"/>
                </a:solidFill>
                <a:latin typeface="Courier New"/>
                <a:ea typeface="Courier New"/>
              </a:rPr>
              <a:t>When une ordonnance pour "Ibuprofen 400mg" est créée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4" name="Text 28"/>
          <p:cNvSpPr/>
          <p:nvPr/>
        </p:nvSpPr>
        <p:spPr>
          <a:xfrm>
            <a:off x="365760" y="4233600"/>
            <a:ext cx="8412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79c0ff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79c0ff"/>
                </a:solidFill>
                <a:latin typeface="Courier New"/>
                <a:ea typeface="Courier New"/>
              </a:rPr>
              <a:t>Then une alerte "médicamenteuse" de sévérité "urgente" est générée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5" name="Text 29"/>
          <p:cNvSpPr/>
          <p:nvPr/>
        </p:nvSpPr>
        <p:spPr>
          <a:xfrm>
            <a:off x="365760" y="4370760"/>
            <a:ext cx="8412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And la prescription est bloquée jusqu'à validation médecin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6" name="Text 30"/>
          <p:cNvSpPr/>
          <p:nvPr/>
        </p:nvSpPr>
        <p:spPr>
          <a:xfrm>
            <a:off x="365760" y="4507920"/>
            <a:ext cx="8412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And le message d'alerte contient la contre-indication détectée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Shape 0"/>
          <p:cNvSpPr/>
          <p:nvPr/>
        </p:nvSpPr>
        <p:spPr>
          <a:xfrm>
            <a:off x="0" y="0"/>
            <a:ext cx="9143640" cy="548280"/>
          </a:xfrm>
          <a:prstGeom prst="rect">
            <a:avLst/>
          </a:prstGeom>
          <a:solidFill>
            <a:srgbClr val="3a3a5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8" name="Text 1"/>
          <p:cNvSpPr/>
          <p:nvPr/>
        </p:nvSpPr>
        <p:spPr>
          <a:xfrm>
            <a:off x="274320" y="0"/>
            <a:ext cx="85950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⚡  </a:t>
            </a: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UC-04 · Scénarios alternatifs &amp; cas d'erreur</a:t>
            </a:r>
            <a:endParaRPr b="0" lang="fr-BE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9" name="Shape 2"/>
          <p:cNvSpPr/>
          <p:nvPr/>
        </p:nvSpPr>
        <p:spPr>
          <a:xfrm>
            <a:off x="228600" y="658440"/>
            <a:ext cx="4297320" cy="41144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0" name="Shape 3"/>
          <p:cNvSpPr/>
          <p:nvPr/>
        </p:nvSpPr>
        <p:spPr>
          <a:xfrm>
            <a:off x="228600" y="658440"/>
            <a:ext cx="4297320" cy="292320"/>
          </a:xfrm>
          <a:prstGeom prst="rect">
            <a:avLst/>
          </a:prstGeom>
          <a:solidFill>
            <a:srgbClr val="21262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1" name="Shape 4"/>
          <p:cNvSpPr/>
          <p:nvPr/>
        </p:nvSpPr>
        <p:spPr>
          <a:xfrm>
            <a:off x="411480" y="731520"/>
            <a:ext cx="127800" cy="12780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2" name="Shape 5"/>
          <p:cNvSpPr/>
          <p:nvPr/>
        </p:nvSpPr>
        <p:spPr>
          <a:xfrm>
            <a:off x="621720" y="731520"/>
            <a:ext cx="127800" cy="12780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Shape 6"/>
          <p:cNvSpPr/>
          <p:nvPr/>
        </p:nvSpPr>
        <p:spPr>
          <a:xfrm>
            <a:off x="831960" y="731520"/>
            <a:ext cx="127800" cy="12780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4" name="Text 7"/>
          <p:cNvSpPr/>
          <p:nvPr/>
        </p:nvSpPr>
        <p:spPr>
          <a:xfrm>
            <a:off x="365760" y="102420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85149"/>
                </a:solidFill>
                <a:latin typeface="Courier New"/>
                <a:ea typeface="Courier New"/>
              </a:rPr>
              <a:t>  </a:t>
            </a:r>
            <a:r>
              <a:rPr b="1" lang="en-US" sz="850" spc="-1" strike="noStrike">
                <a:solidFill>
                  <a:srgbClr val="f85149"/>
                </a:solidFill>
                <a:latin typeface="Courier New"/>
                <a:ea typeface="Courier New"/>
              </a:rPr>
              <a:t>@smoke @UC-04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5" name="Text 8"/>
          <p:cNvSpPr/>
          <p:nvPr/>
        </p:nvSpPr>
        <p:spPr>
          <a:xfrm>
            <a:off x="365760" y="122544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79c0ff"/>
                </a:solidFill>
                <a:latin typeface="Courier New"/>
                <a:ea typeface="Courier New"/>
              </a:rPr>
              <a:t>  </a:t>
            </a:r>
            <a:r>
              <a:rPr b="1" lang="en-US" sz="850" spc="-1" strike="noStrike">
                <a:solidFill>
                  <a:srgbClr val="79c0ff"/>
                </a:solidFill>
                <a:latin typeface="Courier New"/>
                <a:ea typeface="Courier New"/>
              </a:rPr>
              <a:t>Scenario: Acquittement d'une alerte active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6" name="Text 9"/>
          <p:cNvSpPr/>
          <p:nvPr/>
        </p:nvSpPr>
        <p:spPr>
          <a:xfrm>
            <a:off x="365760" y="142632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7ee787"/>
                </a:solidFill>
                <a:latin typeface="Courier New"/>
                <a:ea typeface="Courier New"/>
              </a:rPr>
              <a:t>    </a:t>
            </a:r>
            <a:r>
              <a:rPr b="0" lang="en-US" sz="850" spc="-1" strike="noStrike">
                <a:solidFill>
                  <a:srgbClr val="7ee787"/>
                </a:solidFill>
                <a:latin typeface="Courier New"/>
                <a:ea typeface="Courier New"/>
              </a:rPr>
              <a:t>Given l'alerte "Glycémie critique" est active pour "Jean Martin"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7" name="Text 10"/>
          <p:cNvSpPr/>
          <p:nvPr/>
        </p:nvSpPr>
        <p:spPr>
          <a:xfrm>
            <a:off x="365760" y="162756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56d364"/>
                </a:solidFill>
                <a:latin typeface="Courier New"/>
                <a:ea typeface="Courier New"/>
              </a:rPr>
              <a:t>    </a:t>
            </a:r>
            <a:r>
              <a:rPr b="0" lang="en-US" sz="850" spc="-1" strike="noStrike">
                <a:solidFill>
                  <a:srgbClr val="56d364"/>
                </a:solidFill>
                <a:latin typeface="Courier New"/>
                <a:ea typeface="Courier New"/>
              </a:rPr>
              <a:t>When "dr.dupont" clique sur "Acquitter" avec le commentaire "Patient contacté"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8" name="Text 11"/>
          <p:cNvSpPr/>
          <p:nvPr/>
        </p:nvSpPr>
        <p:spPr>
          <a:xfrm>
            <a:off x="365760" y="182880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79c0ff"/>
                </a:solidFill>
                <a:latin typeface="Courier New"/>
                <a:ea typeface="Courier New"/>
              </a:rPr>
              <a:t>    </a:t>
            </a:r>
            <a:r>
              <a:rPr b="0" lang="en-US" sz="850" spc="-1" strike="noStrike">
                <a:solidFill>
                  <a:srgbClr val="79c0ff"/>
                </a:solidFill>
                <a:latin typeface="Courier New"/>
                <a:ea typeface="Courier New"/>
              </a:rPr>
              <a:t>Then l'alerte passe au statut "acquittée"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9" name="Text 12"/>
          <p:cNvSpPr/>
          <p:nvPr/>
        </p:nvSpPr>
        <p:spPr>
          <a:xfrm>
            <a:off x="365760" y="203004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d2a8ff"/>
                </a:solidFill>
                <a:latin typeface="Courier New"/>
                <a:ea typeface="Courier New"/>
              </a:rPr>
              <a:t>    </a:t>
            </a:r>
            <a:r>
              <a:rPr b="0" lang="en-US" sz="850" spc="-1" strike="noStrike">
                <a:solidFill>
                  <a:srgbClr val="d2a8ff"/>
                </a:solidFill>
                <a:latin typeface="Courier New"/>
                <a:ea typeface="Courier New"/>
              </a:rPr>
              <a:t>And la date et l'auteur de l'acquittement sont enregistrés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0" name="Shape 13"/>
          <p:cNvSpPr/>
          <p:nvPr/>
        </p:nvSpPr>
        <p:spPr>
          <a:xfrm>
            <a:off x="4709160" y="658440"/>
            <a:ext cx="4297320" cy="41144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1" name="Shape 14"/>
          <p:cNvSpPr/>
          <p:nvPr/>
        </p:nvSpPr>
        <p:spPr>
          <a:xfrm>
            <a:off x="4709160" y="658440"/>
            <a:ext cx="4297320" cy="292320"/>
          </a:xfrm>
          <a:prstGeom prst="rect">
            <a:avLst/>
          </a:prstGeom>
          <a:solidFill>
            <a:srgbClr val="21262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2" name="Shape 15"/>
          <p:cNvSpPr/>
          <p:nvPr/>
        </p:nvSpPr>
        <p:spPr>
          <a:xfrm>
            <a:off x="4892040" y="731520"/>
            <a:ext cx="127800" cy="12780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3" name="Shape 16"/>
          <p:cNvSpPr/>
          <p:nvPr/>
        </p:nvSpPr>
        <p:spPr>
          <a:xfrm>
            <a:off x="5102280" y="731520"/>
            <a:ext cx="127800" cy="12780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4" name="Shape 17"/>
          <p:cNvSpPr/>
          <p:nvPr/>
        </p:nvSpPr>
        <p:spPr>
          <a:xfrm>
            <a:off x="5312520" y="731520"/>
            <a:ext cx="127800" cy="12780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5" name="Text 18"/>
          <p:cNvSpPr/>
          <p:nvPr/>
        </p:nvSpPr>
        <p:spPr>
          <a:xfrm>
            <a:off x="4846320" y="102420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85149"/>
                </a:solidFill>
                <a:latin typeface="Courier New"/>
                <a:ea typeface="Courier New"/>
              </a:rPr>
              <a:t>  </a:t>
            </a:r>
            <a:r>
              <a:rPr b="1" lang="en-US" sz="850" spc="-1" strike="noStrike">
                <a:solidFill>
                  <a:srgbClr val="f85149"/>
                </a:solidFill>
                <a:latin typeface="Courier New"/>
                <a:ea typeface="Courier New"/>
              </a:rPr>
              <a:t>@regression @UC-04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6" name="Text 19"/>
          <p:cNvSpPr/>
          <p:nvPr/>
        </p:nvSpPr>
        <p:spPr>
          <a:xfrm>
            <a:off x="4846320" y="122544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79c0ff"/>
                </a:solidFill>
                <a:latin typeface="Courier New"/>
                <a:ea typeface="Courier New"/>
              </a:rPr>
              <a:t>  </a:t>
            </a:r>
            <a:r>
              <a:rPr b="1" lang="en-US" sz="850" spc="-1" strike="noStrike">
                <a:solidFill>
                  <a:srgbClr val="79c0ff"/>
                </a:solidFill>
                <a:latin typeface="Courier New"/>
                <a:ea typeface="Courier New"/>
              </a:rPr>
              <a:t>Scenario: Escalade si alerte critique non traitée après 30 min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7" name="Text 20"/>
          <p:cNvSpPr/>
          <p:nvPr/>
        </p:nvSpPr>
        <p:spPr>
          <a:xfrm>
            <a:off x="4846320" y="142632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7ee787"/>
                </a:solidFill>
                <a:latin typeface="Courier New"/>
                <a:ea typeface="Courier New"/>
              </a:rPr>
              <a:t>    </a:t>
            </a:r>
            <a:r>
              <a:rPr b="0" lang="en-US" sz="850" spc="-1" strike="noStrike">
                <a:solidFill>
                  <a:srgbClr val="7ee787"/>
                </a:solidFill>
                <a:latin typeface="Courier New"/>
                <a:ea typeface="Courier New"/>
              </a:rPr>
              <a:t>Given une alerte critique est créée à T0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8" name="Text 21"/>
          <p:cNvSpPr/>
          <p:nvPr/>
        </p:nvSpPr>
        <p:spPr>
          <a:xfrm>
            <a:off x="4846320" y="162756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d2a8ff"/>
                </a:solidFill>
                <a:latin typeface="Courier New"/>
                <a:ea typeface="Courier New"/>
              </a:rPr>
              <a:t>    </a:t>
            </a:r>
            <a:r>
              <a:rPr b="0" lang="en-US" sz="850" spc="-1" strike="noStrike">
                <a:solidFill>
                  <a:srgbClr val="d2a8ff"/>
                </a:solidFill>
                <a:latin typeface="Courier New"/>
                <a:ea typeface="Courier New"/>
              </a:rPr>
              <a:t>And elle n'est pas acquittée après 30 minutes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9" name="Text 22"/>
          <p:cNvSpPr/>
          <p:nvPr/>
        </p:nvSpPr>
        <p:spPr>
          <a:xfrm>
            <a:off x="4846320" y="182880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56d364"/>
                </a:solidFill>
                <a:latin typeface="Courier New"/>
                <a:ea typeface="Courier New"/>
              </a:rPr>
              <a:t>    </a:t>
            </a:r>
            <a:r>
              <a:rPr b="0" lang="en-US" sz="850" spc="-1" strike="noStrike">
                <a:solidFill>
                  <a:srgbClr val="56d364"/>
                </a:solidFill>
                <a:latin typeface="Courier New"/>
                <a:ea typeface="Courier New"/>
              </a:rPr>
              <a:t>When le planificateur d'escalade s'exécute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0" name="Text 23"/>
          <p:cNvSpPr/>
          <p:nvPr/>
        </p:nvSpPr>
        <p:spPr>
          <a:xfrm>
            <a:off x="4846320" y="203004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79c0ff"/>
                </a:solidFill>
                <a:latin typeface="Courier New"/>
                <a:ea typeface="Courier New"/>
              </a:rPr>
              <a:t>    </a:t>
            </a:r>
            <a:r>
              <a:rPr b="0" lang="en-US" sz="850" spc="-1" strike="noStrike">
                <a:solidFill>
                  <a:srgbClr val="79c0ff"/>
                </a:solidFill>
                <a:latin typeface="Courier New"/>
                <a:ea typeface="Courier New"/>
              </a:rPr>
              <a:t>Then l'alerte est transmise au médecin de garde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1" name="Text 24"/>
          <p:cNvSpPr/>
          <p:nvPr/>
        </p:nvSpPr>
        <p:spPr>
          <a:xfrm>
            <a:off x="4846320" y="223128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d2a8ff"/>
                </a:solidFill>
                <a:latin typeface="Courier New"/>
                <a:ea typeface="Courier New"/>
              </a:rPr>
              <a:t>    </a:t>
            </a:r>
            <a:r>
              <a:rPr b="0" lang="en-US" sz="850" spc="-1" strike="noStrike">
                <a:solidFill>
                  <a:srgbClr val="d2a8ff"/>
                </a:solidFill>
                <a:latin typeface="Courier New"/>
                <a:ea typeface="Courier New"/>
              </a:rPr>
              <a:t>And une notification SMS est envoyée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Shape 0"/>
          <p:cNvSpPr/>
          <p:nvPr/>
        </p:nvSpPr>
        <p:spPr>
          <a:xfrm>
            <a:off x="0" y="0"/>
            <a:ext cx="9143640" cy="685440"/>
          </a:xfrm>
          <a:prstGeom prst="rect">
            <a:avLst/>
          </a:prstGeom>
          <a:solidFill>
            <a:srgbClr val="d354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3" name="Shape 1"/>
          <p:cNvSpPr/>
          <p:nvPr/>
        </p:nvSpPr>
        <p:spPr>
          <a:xfrm>
            <a:off x="0" y="685800"/>
            <a:ext cx="9143640" cy="45360"/>
          </a:xfrm>
          <a:prstGeom prst="rect">
            <a:avLst/>
          </a:prstGeom>
          <a:solidFill>
            <a:srgbClr val="fae5d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" name="Text 2"/>
          <p:cNvSpPr/>
          <p:nvPr/>
        </p:nvSpPr>
        <p:spPr>
          <a:xfrm>
            <a:off x="320040" y="0"/>
            <a:ext cx="10054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a0c8df"/>
                </a:solidFill>
                <a:latin typeface="Calibri"/>
              </a:rPr>
              <a:t>UC-05</a:t>
            </a:r>
            <a:endParaRPr b="0" lang="fr-BE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Text 3"/>
          <p:cNvSpPr/>
          <p:nvPr/>
        </p:nvSpPr>
        <p:spPr>
          <a:xfrm>
            <a:off x="1371600" y="0"/>
            <a:ext cx="68576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Télésurveillance IoT</a:t>
            </a:r>
            <a:endParaRPr b="0" lang="fr-BE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6" name="Shape 4"/>
          <p:cNvSpPr/>
          <p:nvPr/>
        </p:nvSpPr>
        <p:spPr>
          <a:xfrm>
            <a:off x="7863840" y="109800"/>
            <a:ext cx="1005480" cy="456840"/>
          </a:xfrm>
          <a:prstGeom prst="roundRect">
            <a:avLst>
              <a:gd name="adj" fmla="val 16000"/>
            </a:avLst>
          </a:prstGeom>
          <a:solidFill>
            <a:srgbClr val="ffffff">
              <a:alpha val="8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7" name="Text 5"/>
          <p:cNvSpPr/>
          <p:nvPr/>
        </p:nvSpPr>
        <p:spPr>
          <a:xfrm>
            <a:off x="7863840" y="109800"/>
            <a:ext cx="1005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</a:rPr>
              <a:t>IoT</a:t>
            </a:r>
            <a:endParaRPr b="0" lang="fr-B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8" name="Shape 6"/>
          <p:cNvSpPr/>
          <p:nvPr/>
        </p:nvSpPr>
        <p:spPr>
          <a:xfrm>
            <a:off x="274320" y="868680"/>
            <a:ext cx="8595000" cy="776880"/>
          </a:xfrm>
          <a:prstGeom prst="rect">
            <a:avLst/>
          </a:prstGeom>
          <a:solidFill>
            <a:srgbClr val="fae5d3"/>
          </a:solidFill>
          <a:ln w="12700">
            <a:solidFill>
              <a:srgbClr val="d3540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" name="Text 7"/>
          <p:cNvSpPr/>
          <p:nvPr/>
        </p:nvSpPr>
        <p:spPr>
          <a:xfrm>
            <a:off x="457200" y="896040"/>
            <a:ext cx="8229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📋  </a:t>
            </a: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Des dispositifs médicaux connectés (glucomètre, tensiomètre, oxymètre) transmettent leurs mesures en temps réel. Les données sont ingérées, validées et stockées au format FHIR.</a:t>
            </a:r>
            <a:endParaRPr b="0" lang="fr-BE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0" name="Shape 8"/>
          <p:cNvSpPr/>
          <p:nvPr/>
        </p:nvSpPr>
        <p:spPr>
          <a:xfrm>
            <a:off x="274320" y="1783080"/>
            <a:ext cx="4114440" cy="1462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df2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1" name="Shape 9"/>
          <p:cNvSpPr/>
          <p:nvPr/>
        </p:nvSpPr>
        <p:spPr>
          <a:xfrm>
            <a:off x="274320" y="1783080"/>
            <a:ext cx="4114440" cy="347040"/>
          </a:xfrm>
          <a:prstGeom prst="rect">
            <a:avLst/>
          </a:prstGeom>
          <a:solidFill>
            <a:srgbClr val="d354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2" name="Text 10"/>
          <p:cNvSpPr/>
          <p:nvPr/>
        </p:nvSpPr>
        <p:spPr>
          <a:xfrm>
            <a:off x="274320" y="1783080"/>
            <a:ext cx="41144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6320" rIns="76320" tIns="76320" bIns="7632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👤  </a:t>
            </a: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ACTEURS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3" name="Text 11"/>
          <p:cNvSpPr/>
          <p:nvPr/>
        </p:nvSpPr>
        <p:spPr>
          <a:xfrm>
            <a:off x="411480" y="2176200"/>
            <a:ext cx="384012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Dispositif IoT (glucomètre, oxymètre...)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Service d'ingestion IoT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Médecin / Infirmier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4" name="Shape 12"/>
          <p:cNvSpPr/>
          <p:nvPr/>
        </p:nvSpPr>
        <p:spPr>
          <a:xfrm>
            <a:off x="4754880" y="1783080"/>
            <a:ext cx="4114440" cy="1462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df2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Shape 13"/>
          <p:cNvSpPr/>
          <p:nvPr/>
        </p:nvSpPr>
        <p:spPr>
          <a:xfrm>
            <a:off x="4754880" y="1783080"/>
            <a:ext cx="4114440" cy="347040"/>
          </a:xfrm>
          <a:prstGeom prst="rect">
            <a:avLst/>
          </a:prstGeom>
          <a:solidFill>
            <a:srgbClr val="64748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6" name="Text 14"/>
          <p:cNvSpPr/>
          <p:nvPr/>
        </p:nvSpPr>
        <p:spPr>
          <a:xfrm>
            <a:off x="4754880" y="1783080"/>
            <a:ext cx="41144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6320" rIns="76320" tIns="76320" bIns="7632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⚙️  </a:t>
            </a: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PRÉCONDITIONS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7" name="Text 15"/>
          <p:cNvSpPr/>
          <p:nvPr/>
        </p:nvSpPr>
        <p:spPr>
          <a:xfrm>
            <a:off x="4892040" y="2176200"/>
            <a:ext cx="384012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Dispositif IoT enregistré et attribué au patient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Connexion MQTT/BLE active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Seuils d'alerte configurés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8" name="Shape 16"/>
          <p:cNvSpPr/>
          <p:nvPr/>
        </p:nvSpPr>
        <p:spPr>
          <a:xfrm>
            <a:off x="274320" y="3364920"/>
            <a:ext cx="8595000" cy="319680"/>
          </a:xfrm>
          <a:prstGeom prst="rect">
            <a:avLst/>
          </a:prstGeom>
          <a:solidFill>
            <a:srgbClr val="1a1a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9" name="Text 17"/>
          <p:cNvSpPr/>
          <p:nvPr/>
        </p:nvSpPr>
        <p:spPr>
          <a:xfrm>
            <a:off x="274320" y="3364920"/>
            <a:ext cx="8595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rIns="101520" tIns="101520" bIns="10152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199" strike="noStrike">
                <a:solidFill>
                  <a:srgbClr val="ffffff"/>
                </a:solidFill>
                <a:latin typeface="Calibri"/>
              </a:rPr>
              <a:t>SCÉNARIOS BDD / GHERKIN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0" name="Shape 18"/>
          <p:cNvSpPr/>
          <p:nvPr/>
        </p:nvSpPr>
        <p:spPr>
          <a:xfrm>
            <a:off x="274320" y="3749040"/>
            <a:ext cx="8595000" cy="2556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1" name="Shape 19"/>
          <p:cNvSpPr/>
          <p:nvPr/>
        </p:nvSpPr>
        <p:spPr>
          <a:xfrm>
            <a:off x="320040" y="3785760"/>
            <a:ext cx="822600" cy="182520"/>
          </a:xfrm>
          <a:prstGeom prst="roundRect">
            <a:avLst>
              <a:gd name="adj" fmla="val 25000"/>
            </a:avLst>
          </a:prstGeom>
          <a:solidFill>
            <a:srgbClr val="1e844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2" name="Text 20"/>
          <p:cNvSpPr/>
          <p:nvPr/>
        </p:nvSpPr>
        <p:spPr>
          <a:xfrm>
            <a:off x="320040" y="3785760"/>
            <a:ext cx="822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ffffff"/>
                </a:solidFill>
                <a:latin typeface="Calibri"/>
              </a:rPr>
              <a:t>@smoke</a:t>
            </a:r>
            <a:endParaRPr b="0" lang="fr-BE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3" name="Text 21"/>
          <p:cNvSpPr/>
          <p:nvPr/>
        </p:nvSpPr>
        <p:spPr>
          <a:xfrm>
            <a:off x="1234440" y="3749040"/>
            <a:ext cx="74977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Réception mesure glucomètre valide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4" name="Shape 22"/>
          <p:cNvSpPr/>
          <p:nvPr/>
        </p:nvSpPr>
        <p:spPr>
          <a:xfrm>
            <a:off x="274320" y="4060080"/>
            <a:ext cx="8595000" cy="255600"/>
          </a:xfrm>
          <a:prstGeom prst="roundRect">
            <a:avLst>
              <a:gd name="adj" fmla="val 14286"/>
            </a:avLst>
          </a:prstGeom>
          <a:solidFill>
            <a:srgbClr val="e8ed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5" name="Shape 23"/>
          <p:cNvSpPr/>
          <p:nvPr/>
        </p:nvSpPr>
        <p:spPr>
          <a:xfrm>
            <a:off x="320040" y="4096440"/>
            <a:ext cx="822600" cy="182520"/>
          </a:xfrm>
          <a:prstGeom prst="roundRect">
            <a:avLst>
              <a:gd name="adj" fmla="val 25000"/>
            </a:avLst>
          </a:prstGeom>
          <a:solidFill>
            <a:srgbClr val="c039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6" name="Text 24"/>
          <p:cNvSpPr/>
          <p:nvPr/>
        </p:nvSpPr>
        <p:spPr>
          <a:xfrm>
            <a:off x="320040" y="4096440"/>
            <a:ext cx="822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ffffff"/>
                </a:solidFill>
                <a:latin typeface="Calibri"/>
              </a:rPr>
              <a:t>@critical</a:t>
            </a:r>
            <a:endParaRPr b="0" lang="fr-BE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Text 25"/>
          <p:cNvSpPr/>
          <p:nvPr/>
        </p:nvSpPr>
        <p:spPr>
          <a:xfrm>
            <a:off x="1234440" y="4060080"/>
            <a:ext cx="74977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Rejet mesure hors plage physiologique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8" name="Shape 26"/>
          <p:cNvSpPr/>
          <p:nvPr/>
        </p:nvSpPr>
        <p:spPr>
          <a:xfrm>
            <a:off x="274320" y="4370760"/>
            <a:ext cx="8595000" cy="2556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9" name="Shape 27"/>
          <p:cNvSpPr/>
          <p:nvPr/>
        </p:nvSpPr>
        <p:spPr>
          <a:xfrm>
            <a:off x="320040" y="4407480"/>
            <a:ext cx="822600" cy="182520"/>
          </a:xfrm>
          <a:prstGeom prst="roundRect">
            <a:avLst>
              <a:gd name="adj" fmla="val 25000"/>
            </a:avLst>
          </a:prstGeom>
          <a:solidFill>
            <a:srgbClr val="1e844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0" name="Text 28"/>
          <p:cNvSpPr/>
          <p:nvPr/>
        </p:nvSpPr>
        <p:spPr>
          <a:xfrm>
            <a:off x="320040" y="4407480"/>
            <a:ext cx="822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ffffff"/>
                </a:solidFill>
                <a:latin typeface="Calibri"/>
              </a:rPr>
              <a:t>@smoke</a:t>
            </a:r>
            <a:endParaRPr b="0" lang="fr-BE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1" name="Text 29"/>
          <p:cNvSpPr/>
          <p:nvPr/>
        </p:nvSpPr>
        <p:spPr>
          <a:xfrm>
            <a:off x="1234440" y="4370760"/>
            <a:ext cx="74977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Visualisation courbe SpO2 en temps réel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2" name="Shape 30"/>
          <p:cNvSpPr/>
          <p:nvPr/>
        </p:nvSpPr>
        <p:spPr>
          <a:xfrm>
            <a:off x="274320" y="4681800"/>
            <a:ext cx="8595000" cy="255600"/>
          </a:xfrm>
          <a:prstGeom prst="roundRect">
            <a:avLst>
              <a:gd name="adj" fmla="val 14286"/>
            </a:avLst>
          </a:prstGeom>
          <a:solidFill>
            <a:srgbClr val="e8ed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3" name="Shape 31"/>
          <p:cNvSpPr/>
          <p:nvPr/>
        </p:nvSpPr>
        <p:spPr>
          <a:xfrm>
            <a:off x="320040" y="4718160"/>
            <a:ext cx="822600" cy="182520"/>
          </a:xfrm>
          <a:prstGeom prst="roundRect">
            <a:avLst>
              <a:gd name="adj" fmla="val 25000"/>
            </a:avLst>
          </a:prstGeom>
          <a:solidFill>
            <a:srgbClr val="d354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4" name="Text 32"/>
          <p:cNvSpPr/>
          <p:nvPr/>
        </p:nvSpPr>
        <p:spPr>
          <a:xfrm>
            <a:off x="320040" y="4718160"/>
            <a:ext cx="822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ffffff"/>
                </a:solidFill>
                <a:latin typeface="Calibri"/>
              </a:rPr>
              <a:t>@regression</a:t>
            </a:r>
            <a:endParaRPr b="0" lang="fr-BE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5" name="Text 33"/>
          <p:cNvSpPr/>
          <p:nvPr/>
        </p:nvSpPr>
        <p:spPr>
          <a:xfrm>
            <a:off x="1234440" y="4681800"/>
            <a:ext cx="74977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Gestion perte de connexion dispositif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Shape 0"/>
          <p:cNvSpPr/>
          <p:nvPr/>
        </p:nvSpPr>
        <p:spPr>
          <a:xfrm>
            <a:off x="0" y="0"/>
            <a:ext cx="9143640" cy="548280"/>
          </a:xfrm>
          <a:prstGeom prst="rect">
            <a:avLst/>
          </a:prstGeom>
          <a:solidFill>
            <a:srgbClr val="d354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7" name="Text 1"/>
          <p:cNvSpPr/>
          <p:nvPr/>
        </p:nvSpPr>
        <p:spPr>
          <a:xfrm>
            <a:off x="274320" y="0"/>
            <a:ext cx="85950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🥒  </a:t>
            </a: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UC-05 · Scénario nominal — Gherkin / Cucumber</a:t>
            </a:r>
            <a:endParaRPr b="0" lang="fr-BE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8" name="Shape 2"/>
          <p:cNvSpPr/>
          <p:nvPr/>
        </p:nvSpPr>
        <p:spPr>
          <a:xfrm>
            <a:off x="228600" y="658440"/>
            <a:ext cx="8686440" cy="41144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9" name="Shape 3"/>
          <p:cNvSpPr/>
          <p:nvPr/>
        </p:nvSpPr>
        <p:spPr>
          <a:xfrm>
            <a:off x="228600" y="658440"/>
            <a:ext cx="8686440" cy="328680"/>
          </a:xfrm>
          <a:prstGeom prst="rect">
            <a:avLst/>
          </a:prstGeom>
          <a:solidFill>
            <a:srgbClr val="21262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0" name="Shape 4"/>
          <p:cNvSpPr/>
          <p:nvPr/>
        </p:nvSpPr>
        <p:spPr>
          <a:xfrm>
            <a:off x="457200" y="749880"/>
            <a:ext cx="145800" cy="14580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1" name="Shape 5"/>
          <p:cNvSpPr/>
          <p:nvPr/>
        </p:nvSpPr>
        <p:spPr>
          <a:xfrm>
            <a:off x="713160" y="749880"/>
            <a:ext cx="145800" cy="14580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2" name="Shape 6"/>
          <p:cNvSpPr/>
          <p:nvPr/>
        </p:nvSpPr>
        <p:spPr>
          <a:xfrm>
            <a:off x="969120" y="749880"/>
            <a:ext cx="145800" cy="14580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3" name="Text 7"/>
          <p:cNvSpPr/>
          <p:nvPr/>
        </p:nvSpPr>
        <p:spPr>
          <a:xfrm>
            <a:off x="1371600" y="658440"/>
            <a:ext cx="64004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8b949e"/>
                </a:solidFill>
                <a:latin typeface="Calibri"/>
              </a:rPr>
              <a:t>src/test/resources/features/iot/telesurveillance.feature</a:t>
            </a:r>
            <a:endParaRPr b="0" lang="fr-BE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4" name="Text 8"/>
          <p:cNvSpPr/>
          <p:nvPr/>
        </p:nvSpPr>
        <p:spPr>
          <a:xfrm>
            <a:off x="365760" y="1078920"/>
            <a:ext cx="8412120" cy="14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Feature: Télésurveillance IoT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5" name="Text 9"/>
          <p:cNvSpPr/>
          <p:nvPr/>
        </p:nvSpPr>
        <p:spPr>
          <a:xfrm>
            <a:off x="365760" y="1227600"/>
            <a:ext cx="8412120" cy="14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edf3"/>
                </a:solidFill>
                <a:latin typeface="Courier New"/>
                <a:ea typeface="Courier New"/>
              </a:rPr>
              <a:t>  </a:t>
            </a:r>
            <a:r>
              <a:rPr b="0" lang="en-US" sz="950" spc="-1" strike="noStrike">
                <a:solidFill>
                  <a:srgbClr val="e6edf3"/>
                </a:solidFill>
                <a:latin typeface="Courier New"/>
                <a:ea typeface="Courier New"/>
              </a:rPr>
              <a:t>En tant que service d'ingestion IoT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6" name="Text 10"/>
          <p:cNvSpPr/>
          <p:nvPr/>
        </p:nvSpPr>
        <p:spPr>
          <a:xfrm>
            <a:off x="365760" y="1376280"/>
            <a:ext cx="8412120" cy="14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edf3"/>
                </a:solidFill>
                <a:latin typeface="Courier New"/>
                <a:ea typeface="Courier New"/>
              </a:rPr>
              <a:t>  </a:t>
            </a:r>
            <a:r>
              <a:rPr b="0" lang="en-US" sz="950" spc="-1" strike="noStrike">
                <a:solidFill>
                  <a:srgbClr val="e6edf3"/>
                </a:solidFill>
                <a:latin typeface="Courier New"/>
                <a:ea typeface="Courier New"/>
              </a:rPr>
              <a:t>Je veux recevoir et valider les mesures des dispositifs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7" name="Text 11"/>
          <p:cNvSpPr/>
          <p:nvPr/>
        </p:nvSpPr>
        <p:spPr>
          <a:xfrm>
            <a:off x="365760" y="1524600"/>
            <a:ext cx="8412120" cy="14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edf3"/>
                </a:solidFill>
                <a:latin typeface="Courier New"/>
                <a:ea typeface="Courier New"/>
              </a:rPr>
              <a:t>  </a:t>
            </a:r>
            <a:r>
              <a:rPr b="0" lang="en-US" sz="950" spc="-1" strike="noStrike">
                <a:solidFill>
                  <a:srgbClr val="e6edf3"/>
                </a:solidFill>
                <a:latin typeface="Courier New"/>
                <a:ea typeface="Courier New"/>
              </a:rPr>
              <a:t>Afin de déclencher les alertes appropriées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8" name="Text 12"/>
          <p:cNvSpPr/>
          <p:nvPr/>
        </p:nvSpPr>
        <p:spPr>
          <a:xfrm>
            <a:off x="365760" y="1821960"/>
            <a:ext cx="8412120" cy="14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e3b341"/>
                </a:solidFill>
                <a:latin typeface="Courier New"/>
                <a:ea typeface="Courier New"/>
              </a:rPr>
              <a:t>  </a:t>
            </a:r>
            <a:r>
              <a:rPr b="1" lang="en-US" sz="950" spc="-1" strike="noStrike">
                <a:solidFill>
                  <a:srgbClr val="e3b341"/>
                </a:solidFill>
                <a:latin typeface="Courier New"/>
                <a:ea typeface="Courier New"/>
              </a:rPr>
              <a:t>Background: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9" name="Text 13"/>
          <p:cNvSpPr/>
          <p:nvPr/>
        </p:nvSpPr>
        <p:spPr>
          <a:xfrm>
            <a:off x="365760" y="1970640"/>
            <a:ext cx="8412120" cy="14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7ee787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7ee787"/>
                </a:solidFill>
                <a:latin typeface="Courier New"/>
                <a:ea typeface="Courier New"/>
              </a:rPr>
              <a:t>Given le glucomètre "GLU-001" est enregistré pour "Jean Martin"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0" name="Text 14"/>
          <p:cNvSpPr/>
          <p:nvPr/>
        </p:nvSpPr>
        <p:spPr>
          <a:xfrm>
            <a:off x="365760" y="2118960"/>
            <a:ext cx="8412120" cy="14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And son seuil d'alerte glycémie haute est "2.5 g/L"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1" name="Text 15"/>
          <p:cNvSpPr/>
          <p:nvPr/>
        </p:nvSpPr>
        <p:spPr>
          <a:xfrm>
            <a:off x="365760" y="2416320"/>
            <a:ext cx="8412120" cy="14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f85149"/>
                </a:solidFill>
                <a:latin typeface="Courier New"/>
                <a:ea typeface="Courier New"/>
              </a:rPr>
              <a:t>  </a:t>
            </a:r>
            <a:r>
              <a:rPr b="1" lang="en-US" sz="950" spc="-1" strike="noStrike">
                <a:solidFill>
                  <a:srgbClr val="f85149"/>
                </a:solidFill>
                <a:latin typeface="Courier New"/>
                <a:ea typeface="Courier New"/>
              </a:rPr>
              <a:t>@smoke @UC-05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2" name="Text 16"/>
          <p:cNvSpPr/>
          <p:nvPr/>
        </p:nvSpPr>
        <p:spPr>
          <a:xfrm>
            <a:off x="365760" y="2565000"/>
            <a:ext cx="8412120" cy="14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79c0ff"/>
                </a:solidFill>
                <a:latin typeface="Courier New"/>
                <a:ea typeface="Courier New"/>
              </a:rPr>
              <a:t>  </a:t>
            </a:r>
            <a:r>
              <a:rPr b="1" lang="en-US" sz="950" spc="-1" strike="noStrike">
                <a:solidFill>
                  <a:srgbClr val="79c0ff"/>
                </a:solidFill>
                <a:latin typeface="Courier New"/>
                <a:ea typeface="Courier New"/>
              </a:rPr>
              <a:t>Scenario: Ingestion d'une mesure glycémie normale via MQTT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3" name="Text 17"/>
          <p:cNvSpPr/>
          <p:nvPr/>
        </p:nvSpPr>
        <p:spPr>
          <a:xfrm>
            <a:off x="365760" y="2713320"/>
            <a:ext cx="8412120" cy="14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56d364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56d364"/>
                </a:solidFill>
                <a:latin typeface="Courier New"/>
                <a:ea typeface="Courier New"/>
              </a:rPr>
              <a:t>When le glucomètre "GLU-001" envoie la mesure "1.1 g/L" à T0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4" name="Text 18"/>
          <p:cNvSpPr/>
          <p:nvPr/>
        </p:nvSpPr>
        <p:spPr>
          <a:xfrm>
            <a:off x="365760" y="2862000"/>
            <a:ext cx="8412120" cy="14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79c0ff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79c0ff"/>
                </a:solidFill>
                <a:latin typeface="Courier New"/>
                <a:ea typeface="Courier New"/>
              </a:rPr>
              <a:t>Then l'observation FHIR est créée avec le code LOINC "2345-7"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5" name="Text 19"/>
          <p:cNvSpPr/>
          <p:nvPr/>
        </p:nvSpPr>
        <p:spPr>
          <a:xfrm>
            <a:off x="365760" y="3010680"/>
            <a:ext cx="8412120" cy="14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And la valeur "1.1" et l'unité "g/L" sont enregistrées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6" name="Text 20"/>
          <p:cNvSpPr/>
          <p:nvPr/>
        </p:nvSpPr>
        <p:spPr>
          <a:xfrm>
            <a:off x="365760" y="3159360"/>
            <a:ext cx="8412120" cy="14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And aucune alerte n'est déclenchée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7" name="Text 21"/>
          <p:cNvSpPr/>
          <p:nvPr/>
        </p:nvSpPr>
        <p:spPr>
          <a:xfrm>
            <a:off x="365760" y="3307680"/>
            <a:ext cx="8412120" cy="14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And la mesure apparaît dans la courbe du patient en temps réel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8" name="Text 22"/>
          <p:cNvSpPr/>
          <p:nvPr/>
        </p:nvSpPr>
        <p:spPr>
          <a:xfrm>
            <a:off x="365760" y="3605040"/>
            <a:ext cx="8412120" cy="14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f85149"/>
                </a:solidFill>
                <a:latin typeface="Courier New"/>
                <a:ea typeface="Courier New"/>
              </a:rPr>
              <a:t>  </a:t>
            </a:r>
            <a:r>
              <a:rPr b="1" lang="en-US" sz="950" spc="-1" strike="noStrike">
                <a:solidFill>
                  <a:srgbClr val="f85149"/>
                </a:solidFill>
                <a:latin typeface="Courier New"/>
                <a:ea typeface="Courier New"/>
              </a:rPr>
              <a:t>@critical @UC-05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9" name="Text 23"/>
          <p:cNvSpPr/>
          <p:nvPr/>
        </p:nvSpPr>
        <p:spPr>
          <a:xfrm>
            <a:off x="365760" y="3753720"/>
            <a:ext cx="8412120" cy="14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79c0ff"/>
                </a:solidFill>
                <a:latin typeface="Courier New"/>
                <a:ea typeface="Courier New"/>
              </a:rPr>
              <a:t>  </a:t>
            </a:r>
            <a:r>
              <a:rPr b="1" lang="en-US" sz="950" spc="-1" strike="noStrike">
                <a:solidFill>
                  <a:srgbClr val="79c0ff"/>
                </a:solidFill>
                <a:latin typeface="Courier New"/>
                <a:ea typeface="Courier New"/>
              </a:rPr>
              <a:t>Scenario: Rejet d'une mesure physiologiquement impossible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0" name="Text 24"/>
          <p:cNvSpPr/>
          <p:nvPr/>
        </p:nvSpPr>
        <p:spPr>
          <a:xfrm>
            <a:off x="365760" y="3902040"/>
            <a:ext cx="8412120" cy="14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56d364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56d364"/>
                </a:solidFill>
                <a:latin typeface="Courier New"/>
                <a:ea typeface="Courier New"/>
              </a:rPr>
              <a:t>When le tensiomètre envoie une pression systolique de "350 mmHg"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1" name="Text 25"/>
          <p:cNvSpPr/>
          <p:nvPr/>
        </p:nvSpPr>
        <p:spPr>
          <a:xfrm>
            <a:off x="365760" y="4050720"/>
            <a:ext cx="8412120" cy="14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79c0ff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79c0ff"/>
                </a:solidFill>
                <a:latin typeface="Courier New"/>
                <a:ea typeface="Courier New"/>
              </a:rPr>
              <a:t>Then la mesure est rejetée avec le code erreur "INVALID_RANGE"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2" name="Text 26"/>
          <p:cNvSpPr/>
          <p:nvPr/>
        </p:nvSpPr>
        <p:spPr>
          <a:xfrm>
            <a:off x="365760" y="4199400"/>
            <a:ext cx="8412120" cy="14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And un log d'anomalie est créé pour le dispositif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3" name="Text 27"/>
          <p:cNvSpPr/>
          <p:nvPr/>
        </p:nvSpPr>
        <p:spPr>
          <a:xfrm>
            <a:off x="365760" y="4348080"/>
            <a:ext cx="8412120" cy="14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And aucune observation n'est créée en base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4" name="Text 28"/>
          <p:cNvSpPr/>
          <p:nvPr/>
        </p:nvSpPr>
        <p:spPr>
          <a:xfrm>
            <a:off x="365760" y="4496400"/>
            <a:ext cx="8412120" cy="14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And le technicien IoT est alerté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Shape 0"/>
          <p:cNvSpPr/>
          <p:nvPr/>
        </p:nvSpPr>
        <p:spPr>
          <a:xfrm>
            <a:off x="0" y="0"/>
            <a:ext cx="9143640" cy="548280"/>
          </a:xfrm>
          <a:prstGeom prst="rect">
            <a:avLst/>
          </a:prstGeom>
          <a:solidFill>
            <a:srgbClr val="3a3a5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6" name="Text 1"/>
          <p:cNvSpPr/>
          <p:nvPr/>
        </p:nvSpPr>
        <p:spPr>
          <a:xfrm>
            <a:off x="274320" y="0"/>
            <a:ext cx="85950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⚡  </a:t>
            </a: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UC-05 · Scénarios alternatifs &amp; cas d'erreur</a:t>
            </a:r>
            <a:endParaRPr b="0" lang="fr-BE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7" name="Shape 2"/>
          <p:cNvSpPr/>
          <p:nvPr/>
        </p:nvSpPr>
        <p:spPr>
          <a:xfrm>
            <a:off x="228600" y="658440"/>
            <a:ext cx="4297320" cy="41144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8" name="Shape 3"/>
          <p:cNvSpPr/>
          <p:nvPr/>
        </p:nvSpPr>
        <p:spPr>
          <a:xfrm>
            <a:off x="228600" y="658440"/>
            <a:ext cx="4297320" cy="292320"/>
          </a:xfrm>
          <a:prstGeom prst="rect">
            <a:avLst/>
          </a:prstGeom>
          <a:solidFill>
            <a:srgbClr val="21262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9" name="Shape 4"/>
          <p:cNvSpPr/>
          <p:nvPr/>
        </p:nvSpPr>
        <p:spPr>
          <a:xfrm>
            <a:off x="411480" y="731520"/>
            <a:ext cx="127800" cy="12780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0" name="Shape 5"/>
          <p:cNvSpPr/>
          <p:nvPr/>
        </p:nvSpPr>
        <p:spPr>
          <a:xfrm>
            <a:off x="621720" y="731520"/>
            <a:ext cx="127800" cy="12780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1" name="Shape 6"/>
          <p:cNvSpPr/>
          <p:nvPr/>
        </p:nvSpPr>
        <p:spPr>
          <a:xfrm>
            <a:off x="831960" y="731520"/>
            <a:ext cx="127800" cy="12780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2" name="Text 7"/>
          <p:cNvSpPr/>
          <p:nvPr/>
        </p:nvSpPr>
        <p:spPr>
          <a:xfrm>
            <a:off x="365760" y="102420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85149"/>
                </a:solidFill>
                <a:latin typeface="Courier New"/>
                <a:ea typeface="Courier New"/>
              </a:rPr>
              <a:t>  </a:t>
            </a:r>
            <a:r>
              <a:rPr b="1" lang="en-US" sz="850" spc="-1" strike="noStrike">
                <a:solidFill>
                  <a:srgbClr val="f85149"/>
                </a:solidFill>
                <a:latin typeface="Courier New"/>
                <a:ea typeface="Courier New"/>
              </a:rPr>
              <a:t>@smoke @UC-05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3" name="Text 8"/>
          <p:cNvSpPr/>
          <p:nvPr/>
        </p:nvSpPr>
        <p:spPr>
          <a:xfrm>
            <a:off x="365760" y="122544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79c0ff"/>
                </a:solidFill>
                <a:latin typeface="Courier New"/>
                <a:ea typeface="Courier New"/>
              </a:rPr>
              <a:t>  </a:t>
            </a:r>
            <a:r>
              <a:rPr b="1" lang="en-US" sz="850" spc="-1" strike="noStrike">
                <a:solidFill>
                  <a:srgbClr val="79c0ff"/>
                </a:solidFill>
                <a:latin typeface="Courier New"/>
                <a:ea typeface="Courier New"/>
              </a:rPr>
              <a:t>Scenario: Déclenchement alerte SpO2 sous seuil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4" name="Text 9"/>
          <p:cNvSpPr/>
          <p:nvPr/>
        </p:nvSpPr>
        <p:spPr>
          <a:xfrm>
            <a:off x="365760" y="142632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7ee787"/>
                </a:solidFill>
                <a:latin typeface="Courier New"/>
                <a:ea typeface="Courier New"/>
              </a:rPr>
              <a:t>    </a:t>
            </a:r>
            <a:r>
              <a:rPr b="0" lang="en-US" sz="850" spc="-1" strike="noStrike">
                <a:solidFill>
                  <a:srgbClr val="7ee787"/>
                </a:solidFill>
                <a:latin typeface="Courier New"/>
                <a:ea typeface="Courier New"/>
              </a:rPr>
              <a:t>Given le seuil SpO2 de "Jean Martin" est 94%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5" name="Text 10"/>
          <p:cNvSpPr/>
          <p:nvPr/>
        </p:nvSpPr>
        <p:spPr>
          <a:xfrm>
            <a:off x="365760" y="162756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56d364"/>
                </a:solidFill>
                <a:latin typeface="Courier New"/>
                <a:ea typeface="Courier New"/>
              </a:rPr>
              <a:t>    </a:t>
            </a:r>
            <a:r>
              <a:rPr b="0" lang="en-US" sz="850" spc="-1" strike="noStrike">
                <a:solidFill>
                  <a:srgbClr val="56d364"/>
                </a:solidFill>
                <a:latin typeface="Courier New"/>
                <a:ea typeface="Courier New"/>
              </a:rPr>
              <a:t>When l'oxymètre envoie une mesure SpO2 de "91%"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6" name="Text 11"/>
          <p:cNvSpPr/>
          <p:nvPr/>
        </p:nvSpPr>
        <p:spPr>
          <a:xfrm>
            <a:off x="365760" y="182880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79c0ff"/>
                </a:solidFill>
                <a:latin typeface="Courier New"/>
                <a:ea typeface="Courier New"/>
              </a:rPr>
              <a:t>    </a:t>
            </a:r>
            <a:r>
              <a:rPr b="0" lang="en-US" sz="850" spc="-1" strike="noStrike">
                <a:solidFill>
                  <a:srgbClr val="79c0ff"/>
                </a:solidFill>
                <a:latin typeface="Courier New"/>
                <a:ea typeface="Courier New"/>
              </a:rPr>
              <a:t>Then une alerte IoT de sévérité "urgente" est créée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7" name="Text 12"/>
          <p:cNvSpPr/>
          <p:nvPr/>
        </p:nvSpPr>
        <p:spPr>
          <a:xfrm>
            <a:off x="365760" y="203004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d2a8ff"/>
                </a:solidFill>
                <a:latin typeface="Courier New"/>
                <a:ea typeface="Courier New"/>
              </a:rPr>
              <a:t>    </a:t>
            </a:r>
            <a:r>
              <a:rPr b="0" lang="en-US" sz="850" spc="-1" strike="noStrike">
                <a:solidFill>
                  <a:srgbClr val="d2a8ff"/>
                </a:solidFill>
                <a:latin typeface="Courier New"/>
                <a:ea typeface="Courier New"/>
              </a:rPr>
              <a:t>And la mesure est affichée en rouge dans le dashboard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8" name="Shape 13"/>
          <p:cNvSpPr/>
          <p:nvPr/>
        </p:nvSpPr>
        <p:spPr>
          <a:xfrm>
            <a:off x="4709160" y="658440"/>
            <a:ext cx="4297320" cy="41144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9" name="Shape 14"/>
          <p:cNvSpPr/>
          <p:nvPr/>
        </p:nvSpPr>
        <p:spPr>
          <a:xfrm>
            <a:off x="4709160" y="658440"/>
            <a:ext cx="4297320" cy="292320"/>
          </a:xfrm>
          <a:prstGeom prst="rect">
            <a:avLst/>
          </a:prstGeom>
          <a:solidFill>
            <a:srgbClr val="21262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0" name="Shape 15"/>
          <p:cNvSpPr/>
          <p:nvPr/>
        </p:nvSpPr>
        <p:spPr>
          <a:xfrm>
            <a:off x="4892040" y="731520"/>
            <a:ext cx="127800" cy="12780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1" name="Shape 16"/>
          <p:cNvSpPr/>
          <p:nvPr/>
        </p:nvSpPr>
        <p:spPr>
          <a:xfrm>
            <a:off x="5102280" y="731520"/>
            <a:ext cx="127800" cy="12780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2" name="Shape 17"/>
          <p:cNvSpPr/>
          <p:nvPr/>
        </p:nvSpPr>
        <p:spPr>
          <a:xfrm>
            <a:off x="5312520" y="731520"/>
            <a:ext cx="127800" cy="12780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3" name="Text 18"/>
          <p:cNvSpPr/>
          <p:nvPr/>
        </p:nvSpPr>
        <p:spPr>
          <a:xfrm>
            <a:off x="4846320" y="102420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85149"/>
                </a:solidFill>
                <a:latin typeface="Courier New"/>
                <a:ea typeface="Courier New"/>
              </a:rPr>
              <a:t>  </a:t>
            </a:r>
            <a:r>
              <a:rPr b="1" lang="en-US" sz="850" spc="-1" strike="noStrike">
                <a:solidFill>
                  <a:srgbClr val="f85149"/>
                </a:solidFill>
                <a:latin typeface="Courier New"/>
                <a:ea typeface="Courier New"/>
              </a:rPr>
              <a:t>@regression @UC-05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4" name="Text 19"/>
          <p:cNvSpPr/>
          <p:nvPr/>
        </p:nvSpPr>
        <p:spPr>
          <a:xfrm>
            <a:off x="4846320" y="122544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79c0ff"/>
                </a:solidFill>
                <a:latin typeface="Courier New"/>
                <a:ea typeface="Courier New"/>
              </a:rPr>
              <a:t>  </a:t>
            </a:r>
            <a:r>
              <a:rPr b="1" lang="en-US" sz="850" spc="-1" strike="noStrike">
                <a:solidFill>
                  <a:srgbClr val="79c0ff"/>
                </a:solidFill>
                <a:latin typeface="Courier New"/>
                <a:ea typeface="Courier New"/>
              </a:rPr>
              <a:t>Scenario: Détection perte de signal dispositif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5" name="Text 20"/>
          <p:cNvSpPr/>
          <p:nvPr/>
        </p:nvSpPr>
        <p:spPr>
          <a:xfrm>
            <a:off x="4846320" y="142632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7ee787"/>
                </a:solidFill>
                <a:latin typeface="Courier New"/>
                <a:ea typeface="Courier New"/>
              </a:rPr>
              <a:t>    </a:t>
            </a:r>
            <a:r>
              <a:rPr b="0" lang="en-US" sz="850" spc="-1" strike="noStrike">
                <a:solidFill>
                  <a:srgbClr val="7ee787"/>
                </a:solidFill>
                <a:latin typeface="Courier New"/>
                <a:ea typeface="Courier New"/>
              </a:rPr>
              <a:t>Given le glucomètre "GLU-001" envoie normalement toutes les heures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6" name="Text 21"/>
          <p:cNvSpPr/>
          <p:nvPr/>
        </p:nvSpPr>
        <p:spPr>
          <a:xfrm>
            <a:off x="4846320" y="162756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56d364"/>
                </a:solidFill>
                <a:latin typeface="Courier New"/>
                <a:ea typeface="Courier New"/>
              </a:rPr>
              <a:t>    </a:t>
            </a:r>
            <a:r>
              <a:rPr b="0" lang="en-US" sz="850" spc="-1" strike="noStrike">
                <a:solidFill>
                  <a:srgbClr val="56d364"/>
                </a:solidFill>
                <a:latin typeface="Courier New"/>
                <a:ea typeface="Courier New"/>
              </a:rPr>
              <a:t>When aucune mesure n'est reçue depuis 3 heures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7" name="Text 22"/>
          <p:cNvSpPr/>
          <p:nvPr/>
        </p:nvSpPr>
        <p:spPr>
          <a:xfrm>
            <a:off x="4846320" y="182880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79c0ff"/>
                </a:solidFill>
                <a:latin typeface="Courier New"/>
                <a:ea typeface="Courier New"/>
              </a:rPr>
              <a:t>    </a:t>
            </a:r>
            <a:r>
              <a:rPr b="0" lang="en-US" sz="850" spc="-1" strike="noStrike">
                <a:solidFill>
                  <a:srgbClr val="79c0ff"/>
                </a:solidFill>
                <a:latin typeface="Courier New"/>
                <a:ea typeface="Courier New"/>
              </a:rPr>
              <a:t>Then une alerte "perte de signal" de sévérité "informative" est créée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8" name="Text 23"/>
          <p:cNvSpPr/>
          <p:nvPr/>
        </p:nvSpPr>
        <p:spPr>
          <a:xfrm>
            <a:off x="4846320" y="203004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d2a8ff"/>
                </a:solidFill>
                <a:latin typeface="Courier New"/>
                <a:ea typeface="Courier New"/>
              </a:rPr>
              <a:t>    </a:t>
            </a:r>
            <a:r>
              <a:rPr b="0" lang="en-US" sz="850" spc="-1" strike="noStrike">
                <a:solidFill>
                  <a:srgbClr val="d2a8ff"/>
                </a:solidFill>
                <a:latin typeface="Courier New"/>
                <a:ea typeface="Courier New"/>
              </a:rPr>
              <a:t>And l'infirmier responsable est notifié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Shape 0"/>
          <p:cNvSpPr/>
          <p:nvPr/>
        </p:nvSpPr>
        <p:spPr>
          <a:xfrm>
            <a:off x="0" y="0"/>
            <a:ext cx="9143640" cy="685440"/>
          </a:xfrm>
          <a:prstGeom prst="rect">
            <a:avLst/>
          </a:prstGeom>
          <a:solidFill>
            <a:srgbClr val="1e844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0" name="Shape 1"/>
          <p:cNvSpPr/>
          <p:nvPr/>
        </p:nvSpPr>
        <p:spPr>
          <a:xfrm>
            <a:off x="0" y="685800"/>
            <a:ext cx="9143640" cy="45360"/>
          </a:xfrm>
          <a:prstGeom prst="rect">
            <a:avLst/>
          </a:prstGeom>
          <a:solidFill>
            <a:srgbClr val="d5f5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1" name="Text 2"/>
          <p:cNvSpPr/>
          <p:nvPr/>
        </p:nvSpPr>
        <p:spPr>
          <a:xfrm>
            <a:off x="320040" y="0"/>
            <a:ext cx="10054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a0c8df"/>
                </a:solidFill>
                <a:latin typeface="Calibri"/>
              </a:rPr>
              <a:t>UC-06</a:t>
            </a:r>
            <a:endParaRPr b="0" lang="fr-BE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2" name="Text 3"/>
          <p:cNvSpPr/>
          <p:nvPr/>
        </p:nvSpPr>
        <p:spPr>
          <a:xfrm>
            <a:off x="1371600" y="0"/>
            <a:ext cx="68576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Prescription Électronique</a:t>
            </a:r>
            <a:endParaRPr b="0" lang="fr-BE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3" name="Shape 4"/>
          <p:cNvSpPr/>
          <p:nvPr/>
        </p:nvSpPr>
        <p:spPr>
          <a:xfrm>
            <a:off x="7863840" y="109800"/>
            <a:ext cx="1005480" cy="456840"/>
          </a:xfrm>
          <a:prstGeom prst="roundRect">
            <a:avLst>
              <a:gd name="adj" fmla="val 16000"/>
            </a:avLst>
          </a:prstGeom>
          <a:solidFill>
            <a:srgbClr val="ffffff">
              <a:alpha val="8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Text 5"/>
          <p:cNvSpPr/>
          <p:nvPr/>
        </p:nvSpPr>
        <p:spPr>
          <a:xfrm>
            <a:off x="7863840" y="109800"/>
            <a:ext cx="1005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</a:rPr>
              <a:t>Pharma</a:t>
            </a:r>
            <a:endParaRPr b="0" lang="fr-B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5" name="Shape 6"/>
          <p:cNvSpPr/>
          <p:nvPr/>
        </p:nvSpPr>
        <p:spPr>
          <a:xfrm>
            <a:off x="274320" y="868680"/>
            <a:ext cx="8595000" cy="776880"/>
          </a:xfrm>
          <a:prstGeom prst="rect">
            <a:avLst/>
          </a:prstGeom>
          <a:solidFill>
            <a:srgbClr val="d5f5e3"/>
          </a:solidFill>
          <a:ln w="12700">
            <a:solidFill>
              <a:srgbClr val="1e8449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6" name="Text 7"/>
          <p:cNvSpPr/>
          <p:nvPr/>
        </p:nvSpPr>
        <p:spPr>
          <a:xfrm>
            <a:off x="457200" y="896040"/>
            <a:ext cx="8229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📋  </a:t>
            </a: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Un médecin rédige une ordonnance électronique avec contrôle automatique des interactions médicamenteuses, la signe via eIDAS et la transmet directement à la pharmacie.</a:t>
            </a:r>
            <a:endParaRPr b="0" lang="fr-BE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7" name="Shape 8"/>
          <p:cNvSpPr/>
          <p:nvPr/>
        </p:nvSpPr>
        <p:spPr>
          <a:xfrm>
            <a:off x="274320" y="1783080"/>
            <a:ext cx="4114440" cy="1462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df2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8" name="Shape 9"/>
          <p:cNvSpPr/>
          <p:nvPr/>
        </p:nvSpPr>
        <p:spPr>
          <a:xfrm>
            <a:off x="274320" y="1783080"/>
            <a:ext cx="4114440" cy="347040"/>
          </a:xfrm>
          <a:prstGeom prst="rect">
            <a:avLst/>
          </a:prstGeom>
          <a:solidFill>
            <a:srgbClr val="1e844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9" name="Text 10"/>
          <p:cNvSpPr/>
          <p:nvPr/>
        </p:nvSpPr>
        <p:spPr>
          <a:xfrm>
            <a:off x="274320" y="1783080"/>
            <a:ext cx="41144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6320" rIns="76320" tIns="76320" bIns="7632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👤  </a:t>
            </a: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ACTEURS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0" name="Text 11"/>
          <p:cNvSpPr/>
          <p:nvPr/>
        </p:nvSpPr>
        <p:spPr>
          <a:xfrm>
            <a:off x="411480" y="2176200"/>
            <a:ext cx="384012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Médecin prescripteur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Système de contrôle interactions (Thériaque)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Pharmacien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1" name="Shape 12"/>
          <p:cNvSpPr/>
          <p:nvPr/>
        </p:nvSpPr>
        <p:spPr>
          <a:xfrm>
            <a:off x="4754880" y="1783080"/>
            <a:ext cx="4114440" cy="1462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df2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2" name="Shape 13"/>
          <p:cNvSpPr/>
          <p:nvPr/>
        </p:nvSpPr>
        <p:spPr>
          <a:xfrm>
            <a:off x="4754880" y="1783080"/>
            <a:ext cx="4114440" cy="347040"/>
          </a:xfrm>
          <a:prstGeom prst="rect">
            <a:avLst/>
          </a:prstGeom>
          <a:solidFill>
            <a:srgbClr val="64748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3" name="Text 14"/>
          <p:cNvSpPr/>
          <p:nvPr/>
        </p:nvSpPr>
        <p:spPr>
          <a:xfrm>
            <a:off x="4754880" y="1783080"/>
            <a:ext cx="41144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6320" rIns="76320" tIns="76320" bIns="7632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⚙️  </a:t>
            </a: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PRÉCONDITIONS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4" name="Text 15"/>
          <p:cNvSpPr/>
          <p:nvPr/>
        </p:nvSpPr>
        <p:spPr>
          <a:xfrm>
            <a:off x="4892040" y="2176200"/>
            <a:ext cx="384012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Médecin authentifié avec certificat eIDAS valide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Patient avec médication active connue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Connexion à la base Thériaque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Shape 16"/>
          <p:cNvSpPr/>
          <p:nvPr/>
        </p:nvSpPr>
        <p:spPr>
          <a:xfrm>
            <a:off x="274320" y="3364920"/>
            <a:ext cx="8595000" cy="319680"/>
          </a:xfrm>
          <a:prstGeom prst="rect">
            <a:avLst/>
          </a:prstGeom>
          <a:solidFill>
            <a:srgbClr val="1a1a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6" name="Text 17"/>
          <p:cNvSpPr/>
          <p:nvPr/>
        </p:nvSpPr>
        <p:spPr>
          <a:xfrm>
            <a:off x="274320" y="3364920"/>
            <a:ext cx="8595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rIns="101520" tIns="101520" bIns="10152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199" strike="noStrike">
                <a:solidFill>
                  <a:srgbClr val="ffffff"/>
                </a:solidFill>
                <a:latin typeface="Calibri"/>
              </a:rPr>
              <a:t>SCÉNARIOS BDD / GHERKIN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7" name="Shape 18"/>
          <p:cNvSpPr/>
          <p:nvPr/>
        </p:nvSpPr>
        <p:spPr>
          <a:xfrm>
            <a:off x="274320" y="3749040"/>
            <a:ext cx="8595000" cy="2556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Shape 19"/>
          <p:cNvSpPr/>
          <p:nvPr/>
        </p:nvSpPr>
        <p:spPr>
          <a:xfrm>
            <a:off x="320040" y="3785760"/>
            <a:ext cx="822600" cy="182520"/>
          </a:xfrm>
          <a:prstGeom prst="roundRect">
            <a:avLst>
              <a:gd name="adj" fmla="val 25000"/>
            </a:avLst>
          </a:prstGeom>
          <a:solidFill>
            <a:srgbClr val="1e844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9" name="Text 20"/>
          <p:cNvSpPr/>
          <p:nvPr/>
        </p:nvSpPr>
        <p:spPr>
          <a:xfrm>
            <a:off x="320040" y="3785760"/>
            <a:ext cx="822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ffffff"/>
                </a:solidFill>
                <a:latin typeface="Calibri"/>
              </a:rPr>
              <a:t>@smoke</a:t>
            </a:r>
            <a:endParaRPr b="0" lang="fr-BE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0" name="Text 21"/>
          <p:cNvSpPr/>
          <p:nvPr/>
        </p:nvSpPr>
        <p:spPr>
          <a:xfrm>
            <a:off x="1234440" y="3749040"/>
            <a:ext cx="74977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Rédaction et signature d'une ordonnance valide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1" name="Shape 22"/>
          <p:cNvSpPr/>
          <p:nvPr/>
        </p:nvSpPr>
        <p:spPr>
          <a:xfrm>
            <a:off x="274320" y="4060080"/>
            <a:ext cx="8595000" cy="255600"/>
          </a:xfrm>
          <a:prstGeom prst="roundRect">
            <a:avLst>
              <a:gd name="adj" fmla="val 14286"/>
            </a:avLst>
          </a:prstGeom>
          <a:solidFill>
            <a:srgbClr val="e8ed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2" name="Shape 23"/>
          <p:cNvSpPr/>
          <p:nvPr/>
        </p:nvSpPr>
        <p:spPr>
          <a:xfrm>
            <a:off x="320040" y="4096440"/>
            <a:ext cx="822600" cy="182520"/>
          </a:xfrm>
          <a:prstGeom prst="roundRect">
            <a:avLst>
              <a:gd name="adj" fmla="val 25000"/>
            </a:avLst>
          </a:prstGeom>
          <a:solidFill>
            <a:srgbClr val="c039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3" name="Text 24"/>
          <p:cNvSpPr/>
          <p:nvPr/>
        </p:nvSpPr>
        <p:spPr>
          <a:xfrm>
            <a:off x="320040" y="4096440"/>
            <a:ext cx="822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ffffff"/>
                </a:solidFill>
                <a:latin typeface="Calibri"/>
              </a:rPr>
              <a:t>@critical</a:t>
            </a:r>
            <a:endParaRPr b="0" lang="fr-BE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4" name="Text 25"/>
          <p:cNvSpPr/>
          <p:nvPr/>
        </p:nvSpPr>
        <p:spPr>
          <a:xfrm>
            <a:off x="1234440" y="4060080"/>
            <a:ext cx="74977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Blocage si interaction médicamenteuse détectée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5" name="Shape 26"/>
          <p:cNvSpPr/>
          <p:nvPr/>
        </p:nvSpPr>
        <p:spPr>
          <a:xfrm>
            <a:off x="274320" y="4370760"/>
            <a:ext cx="8595000" cy="2556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6" name="Shape 27"/>
          <p:cNvSpPr/>
          <p:nvPr/>
        </p:nvSpPr>
        <p:spPr>
          <a:xfrm>
            <a:off x="320040" y="4407480"/>
            <a:ext cx="822600" cy="182520"/>
          </a:xfrm>
          <a:prstGeom prst="roundRect">
            <a:avLst>
              <a:gd name="adj" fmla="val 25000"/>
            </a:avLst>
          </a:prstGeom>
          <a:solidFill>
            <a:srgbClr val="1e844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7" name="Text 28"/>
          <p:cNvSpPr/>
          <p:nvPr/>
        </p:nvSpPr>
        <p:spPr>
          <a:xfrm>
            <a:off x="320040" y="4407480"/>
            <a:ext cx="822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ffffff"/>
                </a:solidFill>
                <a:latin typeface="Calibri"/>
              </a:rPr>
              <a:t>@smoke</a:t>
            </a:r>
            <a:endParaRPr b="0" lang="fr-BE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8" name="Text 29"/>
          <p:cNvSpPr/>
          <p:nvPr/>
        </p:nvSpPr>
        <p:spPr>
          <a:xfrm>
            <a:off x="1234440" y="4370760"/>
            <a:ext cx="74977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Transmission à la pharmacie partenaire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9" name="Shape 30"/>
          <p:cNvSpPr/>
          <p:nvPr/>
        </p:nvSpPr>
        <p:spPr>
          <a:xfrm>
            <a:off x="274320" y="4681800"/>
            <a:ext cx="8595000" cy="255600"/>
          </a:xfrm>
          <a:prstGeom prst="roundRect">
            <a:avLst>
              <a:gd name="adj" fmla="val 14286"/>
            </a:avLst>
          </a:prstGeom>
          <a:solidFill>
            <a:srgbClr val="e8ed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0" name="Shape 31"/>
          <p:cNvSpPr/>
          <p:nvPr/>
        </p:nvSpPr>
        <p:spPr>
          <a:xfrm>
            <a:off x="320040" y="4718160"/>
            <a:ext cx="822600" cy="182520"/>
          </a:xfrm>
          <a:prstGeom prst="roundRect">
            <a:avLst>
              <a:gd name="adj" fmla="val 25000"/>
            </a:avLst>
          </a:prstGeom>
          <a:solidFill>
            <a:srgbClr val="d354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1" name="Text 32"/>
          <p:cNvSpPr/>
          <p:nvPr/>
        </p:nvSpPr>
        <p:spPr>
          <a:xfrm>
            <a:off x="320040" y="4718160"/>
            <a:ext cx="822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ffffff"/>
                </a:solidFill>
                <a:latin typeface="Calibri"/>
              </a:rPr>
              <a:t>@regression</a:t>
            </a:r>
            <a:endParaRPr b="0" lang="fr-BE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2" name="Text 33"/>
          <p:cNvSpPr/>
          <p:nvPr/>
        </p:nvSpPr>
        <p:spPr>
          <a:xfrm>
            <a:off x="1234440" y="4681800"/>
            <a:ext cx="74977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Renouvellement automatique d'ordonnance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Shape 0"/>
          <p:cNvSpPr/>
          <p:nvPr/>
        </p:nvSpPr>
        <p:spPr>
          <a:xfrm>
            <a:off x="0" y="0"/>
            <a:ext cx="9143640" cy="548280"/>
          </a:xfrm>
          <a:prstGeom prst="rect">
            <a:avLst/>
          </a:prstGeom>
          <a:solidFill>
            <a:srgbClr val="1e844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4" name="Text 1"/>
          <p:cNvSpPr/>
          <p:nvPr/>
        </p:nvSpPr>
        <p:spPr>
          <a:xfrm>
            <a:off x="274320" y="0"/>
            <a:ext cx="85950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🥒  </a:t>
            </a: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UC-06 · Scénario nominal — Gherkin / Cucumber</a:t>
            </a:r>
            <a:endParaRPr b="0" lang="fr-BE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5" name="Shape 2"/>
          <p:cNvSpPr/>
          <p:nvPr/>
        </p:nvSpPr>
        <p:spPr>
          <a:xfrm>
            <a:off x="228600" y="658440"/>
            <a:ext cx="8686440" cy="41144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6" name="Shape 3"/>
          <p:cNvSpPr/>
          <p:nvPr/>
        </p:nvSpPr>
        <p:spPr>
          <a:xfrm>
            <a:off x="228600" y="658440"/>
            <a:ext cx="8686440" cy="328680"/>
          </a:xfrm>
          <a:prstGeom prst="rect">
            <a:avLst/>
          </a:prstGeom>
          <a:solidFill>
            <a:srgbClr val="21262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7" name="Shape 4"/>
          <p:cNvSpPr/>
          <p:nvPr/>
        </p:nvSpPr>
        <p:spPr>
          <a:xfrm>
            <a:off x="457200" y="749880"/>
            <a:ext cx="145800" cy="14580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8" name="Shape 5"/>
          <p:cNvSpPr/>
          <p:nvPr/>
        </p:nvSpPr>
        <p:spPr>
          <a:xfrm>
            <a:off x="713160" y="749880"/>
            <a:ext cx="145800" cy="14580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9" name="Shape 6"/>
          <p:cNvSpPr/>
          <p:nvPr/>
        </p:nvSpPr>
        <p:spPr>
          <a:xfrm>
            <a:off x="969120" y="749880"/>
            <a:ext cx="145800" cy="14580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0" name="Text 7"/>
          <p:cNvSpPr/>
          <p:nvPr/>
        </p:nvSpPr>
        <p:spPr>
          <a:xfrm>
            <a:off x="1371600" y="658440"/>
            <a:ext cx="64004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8b949e"/>
                </a:solidFill>
                <a:latin typeface="Calibri"/>
              </a:rPr>
              <a:t>src/test/resources/features/prescription/ordonnance.feature</a:t>
            </a:r>
            <a:endParaRPr b="0" lang="fr-BE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1" name="Text 8"/>
          <p:cNvSpPr/>
          <p:nvPr/>
        </p:nvSpPr>
        <p:spPr>
          <a:xfrm>
            <a:off x="365760" y="1078920"/>
            <a:ext cx="8412120" cy="1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Feature: Prescription Électronique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2" name="Text 9"/>
          <p:cNvSpPr/>
          <p:nvPr/>
        </p:nvSpPr>
        <p:spPr>
          <a:xfrm>
            <a:off x="365760" y="1211040"/>
            <a:ext cx="8412120" cy="1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edf3"/>
                </a:solidFill>
                <a:latin typeface="Courier New"/>
                <a:ea typeface="Courier New"/>
              </a:rPr>
              <a:t>  </a:t>
            </a:r>
            <a:r>
              <a:rPr b="0" lang="en-US" sz="950" spc="-1" strike="noStrike">
                <a:solidFill>
                  <a:srgbClr val="e6edf3"/>
                </a:solidFill>
                <a:latin typeface="Courier New"/>
                <a:ea typeface="Courier New"/>
              </a:rPr>
              <a:t>En tant que médecin prescripteur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3" name="Text 10"/>
          <p:cNvSpPr/>
          <p:nvPr/>
        </p:nvSpPr>
        <p:spPr>
          <a:xfrm>
            <a:off x="365760" y="1343160"/>
            <a:ext cx="8412120" cy="1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edf3"/>
                </a:solidFill>
                <a:latin typeface="Courier New"/>
                <a:ea typeface="Courier New"/>
              </a:rPr>
              <a:t>  </a:t>
            </a:r>
            <a:r>
              <a:rPr b="0" lang="en-US" sz="950" spc="-1" strike="noStrike">
                <a:solidFill>
                  <a:srgbClr val="e6edf3"/>
                </a:solidFill>
                <a:latin typeface="Courier New"/>
                <a:ea typeface="Courier New"/>
              </a:rPr>
              <a:t>Je veux créer des ordonnances électroniques sécurisées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4" name="Text 11"/>
          <p:cNvSpPr/>
          <p:nvPr/>
        </p:nvSpPr>
        <p:spPr>
          <a:xfrm>
            <a:off x="365760" y="1475280"/>
            <a:ext cx="8412120" cy="1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edf3"/>
                </a:solidFill>
                <a:latin typeface="Courier New"/>
                <a:ea typeface="Courier New"/>
              </a:rPr>
              <a:t>  </a:t>
            </a:r>
            <a:r>
              <a:rPr b="0" lang="en-US" sz="950" spc="-1" strike="noStrike">
                <a:solidFill>
                  <a:srgbClr val="e6edf3"/>
                </a:solidFill>
                <a:latin typeface="Courier New"/>
                <a:ea typeface="Courier New"/>
              </a:rPr>
              <a:t>Afin de garantir la sécurité médicamenteuse du patient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5" name="Text 12"/>
          <p:cNvSpPr/>
          <p:nvPr/>
        </p:nvSpPr>
        <p:spPr>
          <a:xfrm>
            <a:off x="365760" y="1739520"/>
            <a:ext cx="8412120" cy="1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e3b341"/>
                </a:solidFill>
                <a:latin typeface="Courier New"/>
                <a:ea typeface="Courier New"/>
              </a:rPr>
              <a:t>  </a:t>
            </a:r>
            <a:r>
              <a:rPr b="1" lang="en-US" sz="950" spc="-1" strike="noStrike">
                <a:solidFill>
                  <a:srgbClr val="e3b341"/>
                </a:solidFill>
                <a:latin typeface="Courier New"/>
                <a:ea typeface="Courier New"/>
              </a:rPr>
              <a:t>Background: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6" name="Text 13"/>
          <p:cNvSpPr/>
          <p:nvPr/>
        </p:nvSpPr>
        <p:spPr>
          <a:xfrm>
            <a:off x="365760" y="1871640"/>
            <a:ext cx="8412120" cy="1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7ee787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7ee787"/>
                </a:solidFill>
                <a:latin typeface="Courier New"/>
                <a:ea typeface="Courier New"/>
              </a:rPr>
              <a:t>Given je suis connecté en tant que "dr.dupont" avec rôle "MEDECIN"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7" name="Text 14"/>
          <p:cNvSpPr/>
          <p:nvPr/>
        </p:nvSpPr>
        <p:spPr>
          <a:xfrm>
            <a:off x="365760" y="2003400"/>
            <a:ext cx="8412120" cy="1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And le patient "Jean Martin" prend "Metformine 500mg/j"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8" name="Text 15"/>
          <p:cNvSpPr/>
          <p:nvPr/>
        </p:nvSpPr>
        <p:spPr>
          <a:xfrm>
            <a:off x="365760" y="2267640"/>
            <a:ext cx="8412120" cy="1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f85149"/>
                </a:solidFill>
                <a:latin typeface="Courier New"/>
                <a:ea typeface="Courier New"/>
              </a:rPr>
              <a:t>  </a:t>
            </a:r>
            <a:r>
              <a:rPr b="1" lang="en-US" sz="950" spc="-1" strike="noStrike">
                <a:solidFill>
                  <a:srgbClr val="f85149"/>
                </a:solidFill>
                <a:latin typeface="Courier New"/>
                <a:ea typeface="Courier New"/>
              </a:rPr>
              <a:t>@smoke @UC-06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9" name="Text 16"/>
          <p:cNvSpPr/>
          <p:nvPr/>
        </p:nvSpPr>
        <p:spPr>
          <a:xfrm>
            <a:off x="365760" y="2399760"/>
            <a:ext cx="8412120" cy="1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79c0ff"/>
                </a:solidFill>
                <a:latin typeface="Courier New"/>
                <a:ea typeface="Courier New"/>
              </a:rPr>
              <a:t>  </a:t>
            </a:r>
            <a:r>
              <a:rPr b="1" lang="en-US" sz="950" spc="-1" strike="noStrike">
                <a:solidFill>
                  <a:srgbClr val="79c0ff"/>
                </a:solidFill>
                <a:latin typeface="Courier New"/>
                <a:ea typeface="Courier New"/>
              </a:rPr>
              <a:t>Scenario: Création et signature d'une ordonnance sans interaction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0" name="Text 17"/>
          <p:cNvSpPr/>
          <p:nvPr/>
        </p:nvSpPr>
        <p:spPr>
          <a:xfrm>
            <a:off x="365760" y="2531880"/>
            <a:ext cx="8412120" cy="1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56d364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56d364"/>
                </a:solidFill>
                <a:latin typeface="Courier New"/>
                <a:ea typeface="Courier New"/>
              </a:rPr>
              <a:t>When je navigue vers "Nouvelle ordonnance" pour "Jean Martin"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1" name="Text 18"/>
          <p:cNvSpPr/>
          <p:nvPr/>
        </p:nvSpPr>
        <p:spPr>
          <a:xfrm>
            <a:off x="365760" y="2664000"/>
            <a:ext cx="8412120" cy="1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And j'ajoute le médicament "Lisinopril 5mg" avec la posologie "1cp/j matin"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2" name="Text 19"/>
          <p:cNvSpPr/>
          <p:nvPr/>
        </p:nvSpPr>
        <p:spPr>
          <a:xfrm>
            <a:off x="365760" y="2796120"/>
            <a:ext cx="8412120" cy="1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And je définis une durée de "30 jours"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3" name="Text 20"/>
          <p:cNvSpPr/>
          <p:nvPr/>
        </p:nvSpPr>
        <p:spPr>
          <a:xfrm>
            <a:off x="365760" y="2928240"/>
            <a:ext cx="8412120" cy="1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79c0ff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79c0ff"/>
                </a:solidFill>
                <a:latin typeface="Courier New"/>
                <a:ea typeface="Courier New"/>
              </a:rPr>
              <a:t>Then aucune interaction médicamenteuse n'est détectée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4" name="Text 21"/>
          <p:cNvSpPr/>
          <p:nvPr/>
        </p:nvSpPr>
        <p:spPr>
          <a:xfrm>
            <a:off x="365760" y="3060360"/>
            <a:ext cx="8412120" cy="1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56d364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56d364"/>
                </a:solidFill>
                <a:latin typeface="Courier New"/>
                <a:ea typeface="Courier New"/>
              </a:rPr>
              <a:t>When je clique sur "Signer l'ordonnance"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5" name="Text 22"/>
          <p:cNvSpPr/>
          <p:nvPr/>
        </p:nvSpPr>
        <p:spPr>
          <a:xfrm>
            <a:off x="365760" y="3192120"/>
            <a:ext cx="8412120" cy="1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79c0ff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79c0ff"/>
                </a:solidFill>
                <a:latin typeface="Courier New"/>
                <a:ea typeface="Courier New"/>
              </a:rPr>
              <a:t>Then l'ordonnance est signée avec mon certificat eIDAS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6" name="Text 23"/>
          <p:cNvSpPr/>
          <p:nvPr/>
        </p:nvSpPr>
        <p:spPr>
          <a:xfrm>
            <a:off x="365760" y="3324240"/>
            <a:ext cx="8412120" cy="1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And le statut passe à "signée"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7" name="Text 24"/>
          <p:cNvSpPr/>
          <p:nvPr/>
        </p:nvSpPr>
        <p:spPr>
          <a:xfrm>
            <a:off x="365760" y="3456360"/>
            <a:ext cx="8412120" cy="1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And l'ordonnance est archivée avec horodatage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8" name="Text 25"/>
          <p:cNvSpPr/>
          <p:nvPr/>
        </p:nvSpPr>
        <p:spPr>
          <a:xfrm>
            <a:off x="365760" y="3720600"/>
            <a:ext cx="8412120" cy="1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f85149"/>
                </a:solidFill>
                <a:latin typeface="Courier New"/>
                <a:ea typeface="Courier New"/>
              </a:rPr>
              <a:t>  </a:t>
            </a:r>
            <a:r>
              <a:rPr b="1" lang="en-US" sz="950" spc="-1" strike="noStrike">
                <a:solidFill>
                  <a:srgbClr val="f85149"/>
                </a:solidFill>
                <a:latin typeface="Courier New"/>
                <a:ea typeface="Courier New"/>
              </a:rPr>
              <a:t>@critical @UC-06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9" name="Text 26"/>
          <p:cNvSpPr/>
          <p:nvPr/>
        </p:nvSpPr>
        <p:spPr>
          <a:xfrm>
            <a:off x="365760" y="3852720"/>
            <a:ext cx="8412120" cy="1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79c0ff"/>
                </a:solidFill>
                <a:latin typeface="Courier New"/>
                <a:ea typeface="Courier New"/>
              </a:rPr>
              <a:t>  </a:t>
            </a:r>
            <a:r>
              <a:rPr b="1" lang="en-US" sz="950" spc="-1" strike="noStrike">
                <a:solidFill>
                  <a:srgbClr val="79c0ff"/>
                </a:solidFill>
                <a:latin typeface="Courier New"/>
                <a:ea typeface="Courier New"/>
              </a:rPr>
              <a:t>Scenario: Blocage ordonnance avec interaction critique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0" name="Text 27"/>
          <p:cNvSpPr/>
          <p:nvPr/>
        </p:nvSpPr>
        <p:spPr>
          <a:xfrm>
            <a:off x="365760" y="3984840"/>
            <a:ext cx="8412120" cy="1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56d364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56d364"/>
                </a:solidFill>
                <a:latin typeface="Courier New"/>
                <a:ea typeface="Courier New"/>
              </a:rPr>
              <a:t>When j'ajoute "Glibenclamide 5mg" à l'ordonnance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1" name="Text 28"/>
          <p:cNvSpPr/>
          <p:nvPr/>
        </p:nvSpPr>
        <p:spPr>
          <a:xfrm>
            <a:off x="365760" y="4116960"/>
            <a:ext cx="8412120" cy="1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79c0ff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79c0ff"/>
                </a:solidFill>
                <a:latin typeface="Courier New"/>
                <a:ea typeface="Courier New"/>
              </a:rPr>
              <a:t>Then une alerte "Interaction critique Metformine/Glibenclamide" apparaît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2" name="Text 29"/>
          <p:cNvSpPr/>
          <p:nvPr/>
        </p:nvSpPr>
        <p:spPr>
          <a:xfrm>
            <a:off x="365760" y="4249080"/>
            <a:ext cx="8412120" cy="1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And la prescription est bloquée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3" name="Text 30"/>
          <p:cNvSpPr/>
          <p:nvPr/>
        </p:nvSpPr>
        <p:spPr>
          <a:xfrm>
            <a:off x="365760" y="4380840"/>
            <a:ext cx="8412120" cy="1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And le message "Risque d'hypoglycémie sévère" est affiché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4" name="Text 31"/>
          <p:cNvSpPr/>
          <p:nvPr/>
        </p:nvSpPr>
        <p:spPr>
          <a:xfrm>
            <a:off x="365760" y="4512960"/>
            <a:ext cx="8412120" cy="1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And je dois confirmer ou annuler manuellement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Shape 0"/>
          <p:cNvSpPr/>
          <p:nvPr/>
        </p:nvSpPr>
        <p:spPr>
          <a:xfrm>
            <a:off x="0" y="0"/>
            <a:ext cx="9143640" cy="548280"/>
          </a:xfrm>
          <a:prstGeom prst="rect">
            <a:avLst/>
          </a:prstGeom>
          <a:solidFill>
            <a:srgbClr val="3a3a5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6" name="Text 1"/>
          <p:cNvSpPr/>
          <p:nvPr/>
        </p:nvSpPr>
        <p:spPr>
          <a:xfrm>
            <a:off x="274320" y="0"/>
            <a:ext cx="85950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⚡  </a:t>
            </a: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UC-06 · Scénarios alternatifs &amp; cas d'erreur</a:t>
            </a:r>
            <a:endParaRPr b="0" lang="fr-BE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7" name="Shape 2"/>
          <p:cNvSpPr/>
          <p:nvPr/>
        </p:nvSpPr>
        <p:spPr>
          <a:xfrm>
            <a:off x="228600" y="658440"/>
            <a:ext cx="4297320" cy="41144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8" name="Shape 3"/>
          <p:cNvSpPr/>
          <p:nvPr/>
        </p:nvSpPr>
        <p:spPr>
          <a:xfrm>
            <a:off x="228600" y="658440"/>
            <a:ext cx="4297320" cy="292320"/>
          </a:xfrm>
          <a:prstGeom prst="rect">
            <a:avLst/>
          </a:prstGeom>
          <a:solidFill>
            <a:srgbClr val="21262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9" name="Shape 4"/>
          <p:cNvSpPr/>
          <p:nvPr/>
        </p:nvSpPr>
        <p:spPr>
          <a:xfrm>
            <a:off x="411480" y="731520"/>
            <a:ext cx="127800" cy="12780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0" name="Shape 5"/>
          <p:cNvSpPr/>
          <p:nvPr/>
        </p:nvSpPr>
        <p:spPr>
          <a:xfrm>
            <a:off x="621720" y="731520"/>
            <a:ext cx="127800" cy="12780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1" name="Shape 6"/>
          <p:cNvSpPr/>
          <p:nvPr/>
        </p:nvSpPr>
        <p:spPr>
          <a:xfrm>
            <a:off x="831960" y="731520"/>
            <a:ext cx="127800" cy="12780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2" name="Text 7"/>
          <p:cNvSpPr/>
          <p:nvPr/>
        </p:nvSpPr>
        <p:spPr>
          <a:xfrm>
            <a:off x="365760" y="102420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85149"/>
                </a:solidFill>
                <a:latin typeface="Courier New"/>
                <a:ea typeface="Courier New"/>
              </a:rPr>
              <a:t>  </a:t>
            </a:r>
            <a:r>
              <a:rPr b="1" lang="en-US" sz="850" spc="-1" strike="noStrike">
                <a:solidFill>
                  <a:srgbClr val="f85149"/>
                </a:solidFill>
                <a:latin typeface="Courier New"/>
                <a:ea typeface="Courier New"/>
              </a:rPr>
              <a:t>@smoke @UC-06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3" name="Text 8"/>
          <p:cNvSpPr/>
          <p:nvPr/>
        </p:nvSpPr>
        <p:spPr>
          <a:xfrm>
            <a:off x="365760" y="122544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79c0ff"/>
                </a:solidFill>
                <a:latin typeface="Courier New"/>
                <a:ea typeface="Courier New"/>
              </a:rPr>
              <a:t>  </a:t>
            </a:r>
            <a:r>
              <a:rPr b="1" lang="en-US" sz="850" spc="-1" strike="noStrike">
                <a:solidFill>
                  <a:srgbClr val="79c0ff"/>
                </a:solidFill>
                <a:latin typeface="Courier New"/>
                <a:ea typeface="Courier New"/>
              </a:rPr>
              <a:t>Scenario: Transmission électronique à la pharmacie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4" name="Text 9"/>
          <p:cNvSpPr/>
          <p:nvPr/>
        </p:nvSpPr>
        <p:spPr>
          <a:xfrm>
            <a:off x="365760" y="142632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7ee787"/>
                </a:solidFill>
                <a:latin typeface="Courier New"/>
                <a:ea typeface="Courier New"/>
              </a:rPr>
              <a:t>    </a:t>
            </a:r>
            <a:r>
              <a:rPr b="0" lang="en-US" sz="850" spc="-1" strike="noStrike">
                <a:solidFill>
                  <a:srgbClr val="7ee787"/>
                </a:solidFill>
                <a:latin typeface="Courier New"/>
                <a:ea typeface="Courier New"/>
              </a:rPr>
              <a:t>Given l'ordonnance "ORD-2024-001" est signée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5" name="Text 10"/>
          <p:cNvSpPr/>
          <p:nvPr/>
        </p:nvSpPr>
        <p:spPr>
          <a:xfrm>
            <a:off x="365760" y="162756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d2a8ff"/>
                </a:solidFill>
                <a:latin typeface="Courier New"/>
                <a:ea typeface="Courier New"/>
              </a:rPr>
              <a:t>    </a:t>
            </a:r>
            <a:r>
              <a:rPr b="0" lang="en-US" sz="850" spc="-1" strike="noStrike">
                <a:solidFill>
                  <a:srgbClr val="d2a8ff"/>
                </a:solidFill>
                <a:latin typeface="Courier New"/>
                <a:ea typeface="Courier New"/>
              </a:rPr>
              <a:t>And la pharmacie "PharmaCenter" est partenaire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6" name="Text 11"/>
          <p:cNvSpPr/>
          <p:nvPr/>
        </p:nvSpPr>
        <p:spPr>
          <a:xfrm>
            <a:off x="365760" y="182880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56d364"/>
                </a:solidFill>
                <a:latin typeface="Courier New"/>
                <a:ea typeface="Courier New"/>
              </a:rPr>
              <a:t>    </a:t>
            </a:r>
            <a:r>
              <a:rPr b="0" lang="en-US" sz="850" spc="-1" strike="noStrike">
                <a:solidFill>
                  <a:srgbClr val="56d364"/>
                </a:solidFill>
                <a:latin typeface="Courier New"/>
                <a:ea typeface="Courier New"/>
              </a:rPr>
              <a:t>When je clique sur "Envoyer à la pharmacie"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7" name="Text 12"/>
          <p:cNvSpPr/>
          <p:nvPr/>
        </p:nvSpPr>
        <p:spPr>
          <a:xfrm>
            <a:off x="365760" y="203004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79c0ff"/>
                </a:solidFill>
                <a:latin typeface="Courier New"/>
                <a:ea typeface="Courier New"/>
              </a:rPr>
              <a:t>    </a:t>
            </a:r>
            <a:r>
              <a:rPr b="0" lang="en-US" sz="850" spc="-1" strike="noStrike">
                <a:solidFill>
                  <a:srgbClr val="79c0ff"/>
                </a:solidFill>
                <a:latin typeface="Courier New"/>
                <a:ea typeface="Courier New"/>
              </a:rPr>
              <a:t>Then l'ordonnance est transmise via eFarma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8" name="Text 13"/>
          <p:cNvSpPr/>
          <p:nvPr/>
        </p:nvSpPr>
        <p:spPr>
          <a:xfrm>
            <a:off x="365760" y="223128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d2a8ff"/>
                </a:solidFill>
                <a:latin typeface="Courier New"/>
                <a:ea typeface="Courier New"/>
              </a:rPr>
              <a:t>    </a:t>
            </a:r>
            <a:r>
              <a:rPr b="0" lang="en-US" sz="850" spc="-1" strike="noStrike">
                <a:solidFill>
                  <a:srgbClr val="d2a8ff"/>
                </a:solidFill>
                <a:latin typeface="Courier New"/>
                <a:ea typeface="Courier New"/>
              </a:rPr>
              <a:t>And le statut passe à "transmise"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9" name="Shape 14"/>
          <p:cNvSpPr/>
          <p:nvPr/>
        </p:nvSpPr>
        <p:spPr>
          <a:xfrm>
            <a:off x="4709160" y="658440"/>
            <a:ext cx="4297320" cy="41144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0" name="Shape 15"/>
          <p:cNvSpPr/>
          <p:nvPr/>
        </p:nvSpPr>
        <p:spPr>
          <a:xfrm>
            <a:off x="4709160" y="658440"/>
            <a:ext cx="4297320" cy="292320"/>
          </a:xfrm>
          <a:prstGeom prst="rect">
            <a:avLst/>
          </a:prstGeom>
          <a:solidFill>
            <a:srgbClr val="21262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1" name="Shape 16"/>
          <p:cNvSpPr/>
          <p:nvPr/>
        </p:nvSpPr>
        <p:spPr>
          <a:xfrm>
            <a:off x="4892040" y="731520"/>
            <a:ext cx="127800" cy="12780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2" name="Shape 17"/>
          <p:cNvSpPr/>
          <p:nvPr/>
        </p:nvSpPr>
        <p:spPr>
          <a:xfrm>
            <a:off x="5102280" y="731520"/>
            <a:ext cx="127800" cy="12780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3" name="Shape 18"/>
          <p:cNvSpPr/>
          <p:nvPr/>
        </p:nvSpPr>
        <p:spPr>
          <a:xfrm>
            <a:off x="5312520" y="731520"/>
            <a:ext cx="127800" cy="12780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4" name="Text 19"/>
          <p:cNvSpPr/>
          <p:nvPr/>
        </p:nvSpPr>
        <p:spPr>
          <a:xfrm>
            <a:off x="4846320" y="102420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85149"/>
                </a:solidFill>
                <a:latin typeface="Courier New"/>
                <a:ea typeface="Courier New"/>
              </a:rPr>
              <a:t>  </a:t>
            </a:r>
            <a:r>
              <a:rPr b="1" lang="en-US" sz="850" spc="-1" strike="noStrike">
                <a:solidFill>
                  <a:srgbClr val="f85149"/>
                </a:solidFill>
                <a:latin typeface="Courier New"/>
                <a:ea typeface="Courier New"/>
              </a:rPr>
              <a:t>@regression @UC-06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5" name="Text 20"/>
          <p:cNvSpPr/>
          <p:nvPr/>
        </p:nvSpPr>
        <p:spPr>
          <a:xfrm>
            <a:off x="4846320" y="122544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79c0ff"/>
                </a:solidFill>
                <a:latin typeface="Courier New"/>
                <a:ea typeface="Courier New"/>
              </a:rPr>
              <a:t>  </a:t>
            </a:r>
            <a:r>
              <a:rPr b="1" lang="en-US" sz="850" spc="-1" strike="noStrike">
                <a:solidFill>
                  <a:srgbClr val="79c0ff"/>
                </a:solidFill>
                <a:latin typeface="Courier New"/>
                <a:ea typeface="Courier New"/>
              </a:rPr>
              <a:t>Scenario: Renouvellement automatique avec confirmation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6" name="Text 21"/>
          <p:cNvSpPr/>
          <p:nvPr/>
        </p:nvSpPr>
        <p:spPr>
          <a:xfrm>
            <a:off x="4846320" y="142632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7ee787"/>
                </a:solidFill>
                <a:latin typeface="Courier New"/>
                <a:ea typeface="Courier New"/>
              </a:rPr>
              <a:t>    </a:t>
            </a:r>
            <a:r>
              <a:rPr b="0" lang="en-US" sz="850" spc="-1" strike="noStrike">
                <a:solidFill>
                  <a:srgbClr val="7ee787"/>
                </a:solidFill>
                <a:latin typeface="Courier New"/>
                <a:ea typeface="Courier New"/>
              </a:rPr>
              <a:t>Given l'ordonnance "Metformine 500mg" expire dans 3 jours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7" name="Text 22"/>
          <p:cNvSpPr/>
          <p:nvPr/>
        </p:nvSpPr>
        <p:spPr>
          <a:xfrm>
            <a:off x="4846320" y="162756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56d364"/>
                </a:solidFill>
                <a:latin typeface="Courier New"/>
                <a:ea typeface="Courier New"/>
              </a:rPr>
              <a:t>    </a:t>
            </a:r>
            <a:r>
              <a:rPr b="0" lang="en-US" sz="850" spc="-1" strike="noStrike">
                <a:solidFill>
                  <a:srgbClr val="56d364"/>
                </a:solidFill>
                <a:latin typeface="Courier New"/>
                <a:ea typeface="Courier New"/>
              </a:rPr>
              <a:t>When le planificateur de renouvellement s'exécute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8" name="Text 23"/>
          <p:cNvSpPr/>
          <p:nvPr/>
        </p:nvSpPr>
        <p:spPr>
          <a:xfrm>
            <a:off x="4846320" y="182880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79c0ff"/>
                </a:solidFill>
                <a:latin typeface="Courier New"/>
                <a:ea typeface="Courier New"/>
              </a:rPr>
              <a:t>    </a:t>
            </a:r>
            <a:r>
              <a:rPr b="0" lang="en-US" sz="850" spc="-1" strike="noStrike">
                <a:solidFill>
                  <a:srgbClr val="79c0ff"/>
                </a:solidFill>
                <a:latin typeface="Courier New"/>
                <a:ea typeface="Courier New"/>
              </a:rPr>
              <a:t>Then une demande de renouvellement est créée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9" name="Text 24"/>
          <p:cNvSpPr/>
          <p:nvPr/>
        </p:nvSpPr>
        <p:spPr>
          <a:xfrm>
            <a:off x="4846320" y="203004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d2a8ff"/>
                </a:solidFill>
                <a:latin typeface="Courier New"/>
                <a:ea typeface="Courier New"/>
              </a:rPr>
              <a:t>    </a:t>
            </a:r>
            <a:r>
              <a:rPr b="0" lang="en-US" sz="850" spc="-1" strike="noStrike">
                <a:solidFill>
                  <a:srgbClr val="d2a8ff"/>
                </a:solidFill>
                <a:latin typeface="Courier New"/>
                <a:ea typeface="Courier New"/>
              </a:rPr>
              <a:t>And "dr.dupont" reçoit une notification de confirmation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Shape 0"/>
          <p:cNvSpPr/>
          <p:nvPr/>
        </p:nvSpPr>
        <p:spPr>
          <a:xfrm>
            <a:off x="0" y="0"/>
            <a:ext cx="9143640" cy="685440"/>
          </a:xfrm>
          <a:prstGeom prst="rect">
            <a:avLst/>
          </a:prstGeom>
          <a:solidFill>
            <a:srgbClr val="7d3c9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1" name="Shape 1"/>
          <p:cNvSpPr/>
          <p:nvPr/>
        </p:nvSpPr>
        <p:spPr>
          <a:xfrm>
            <a:off x="0" y="685800"/>
            <a:ext cx="9143640" cy="45360"/>
          </a:xfrm>
          <a:prstGeom prst="rect">
            <a:avLst/>
          </a:prstGeom>
          <a:solidFill>
            <a:srgbClr val="f5ee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2" name="Text 2"/>
          <p:cNvSpPr/>
          <p:nvPr/>
        </p:nvSpPr>
        <p:spPr>
          <a:xfrm>
            <a:off x="320040" y="0"/>
            <a:ext cx="10054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a0c8df"/>
                </a:solidFill>
                <a:latin typeface="Calibri"/>
              </a:rPr>
              <a:t>UC-07</a:t>
            </a:r>
            <a:endParaRPr b="0" lang="fr-BE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3" name="Text 3"/>
          <p:cNvSpPr/>
          <p:nvPr/>
        </p:nvSpPr>
        <p:spPr>
          <a:xfrm>
            <a:off x="1371600" y="0"/>
            <a:ext cx="68576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Messagerie Sécurisée Inter-Professionnelle</a:t>
            </a:r>
            <a:endParaRPr b="0" lang="fr-BE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4" name="Shape 4"/>
          <p:cNvSpPr/>
          <p:nvPr/>
        </p:nvSpPr>
        <p:spPr>
          <a:xfrm>
            <a:off x="7863840" y="109800"/>
            <a:ext cx="1005480" cy="456840"/>
          </a:xfrm>
          <a:prstGeom prst="roundRect">
            <a:avLst>
              <a:gd name="adj" fmla="val 16000"/>
            </a:avLst>
          </a:prstGeom>
          <a:solidFill>
            <a:srgbClr val="ffffff">
              <a:alpha val="8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5" name="Text 5"/>
          <p:cNvSpPr/>
          <p:nvPr/>
        </p:nvSpPr>
        <p:spPr>
          <a:xfrm>
            <a:off x="7863840" y="109800"/>
            <a:ext cx="1005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</a:rPr>
              <a:t>Messagerie</a:t>
            </a:r>
            <a:endParaRPr b="0" lang="fr-B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6" name="Shape 6"/>
          <p:cNvSpPr/>
          <p:nvPr/>
        </p:nvSpPr>
        <p:spPr>
          <a:xfrm>
            <a:off x="274320" y="868680"/>
            <a:ext cx="8595000" cy="776880"/>
          </a:xfrm>
          <a:prstGeom prst="rect">
            <a:avLst/>
          </a:prstGeom>
          <a:solidFill>
            <a:srgbClr val="f5eef8"/>
          </a:solidFill>
          <a:ln w="12700">
            <a:solidFill>
              <a:srgbClr val="7d3c98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7" name="Text 7"/>
          <p:cNvSpPr/>
          <p:nvPr/>
        </p:nvSpPr>
        <p:spPr>
          <a:xfrm>
            <a:off x="457200" y="896040"/>
            <a:ext cx="8229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📋  </a:t>
            </a: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Les professionnels de santé échangent des messages chiffrés de bout en bout dans le cadre de la prise en charge d'un patient, en conformité MSSanté.</a:t>
            </a:r>
            <a:endParaRPr b="0" lang="fr-BE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8" name="Shape 8"/>
          <p:cNvSpPr/>
          <p:nvPr/>
        </p:nvSpPr>
        <p:spPr>
          <a:xfrm>
            <a:off x="274320" y="1783080"/>
            <a:ext cx="4114440" cy="1462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df2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9" name="Shape 9"/>
          <p:cNvSpPr/>
          <p:nvPr/>
        </p:nvSpPr>
        <p:spPr>
          <a:xfrm>
            <a:off x="274320" y="1783080"/>
            <a:ext cx="4114440" cy="347040"/>
          </a:xfrm>
          <a:prstGeom prst="rect">
            <a:avLst/>
          </a:prstGeom>
          <a:solidFill>
            <a:srgbClr val="7d3c9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0" name="Text 10"/>
          <p:cNvSpPr/>
          <p:nvPr/>
        </p:nvSpPr>
        <p:spPr>
          <a:xfrm>
            <a:off x="274320" y="1783080"/>
            <a:ext cx="41144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6320" rIns="76320" tIns="76320" bIns="7632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👤  </a:t>
            </a: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ACTEURS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1" name="Text 11"/>
          <p:cNvSpPr/>
          <p:nvPr/>
        </p:nvSpPr>
        <p:spPr>
          <a:xfrm>
            <a:off x="411480" y="2176200"/>
            <a:ext cx="384012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Médecin expéditeur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Infirmier / Pharmacien destinataire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Système de chiffrement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2" name="Shape 12"/>
          <p:cNvSpPr/>
          <p:nvPr/>
        </p:nvSpPr>
        <p:spPr>
          <a:xfrm>
            <a:off x="4754880" y="1783080"/>
            <a:ext cx="4114440" cy="1462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df2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3" name="Shape 13"/>
          <p:cNvSpPr/>
          <p:nvPr/>
        </p:nvSpPr>
        <p:spPr>
          <a:xfrm>
            <a:off x="4754880" y="1783080"/>
            <a:ext cx="4114440" cy="347040"/>
          </a:xfrm>
          <a:prstGeom prst="rect">
            <a:avLst/>
          </a:prstGeom>
          <a:solidFill>
            <a:srgbClr val="64748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4" name="Text 14"/>
          <p:cNvSpPr/>
          <p:nvPr/>
        </p:nvSpPr>
        <p:spPr>
          <a:xfrm>
            <a:off x="4754880" y="1783080"/>
            <a:ext cx="41144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6320" rIns="76320" tIns="76320" bIns="7632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⚙️  </a:t>
            </a: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PRÉCONDITIONS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5" name="Text 15"/>
          <p:cNvSpPr/>
          <p:nvPr/>
        </p:nvSpPr>
        <p:spPr>
          <a:xfrm>
            <a:off x="4892040" y="2176200"/>
            <a:ext cx="384012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Les deux professionnels sont dans la même équipe de soins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Chiffrement E2E activé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Conformité MSSanté vérifiée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6" name="Shape 16"/>
          <p:cNvSpPr/>
          <p:nvPr/>
        </p:nvSpPr>
        <p:spPr>
          <a:xfrm>
            <a:off x="274320" y="3364920"/>
            <a:ext cx="8595000" cy="319680"/>
          </a:xfrm>
          <a:prstGeom prst="rect">
            <a:avLst/>
          </a:prstGeom>
          <a:solidFill>
            <a:srgbClr val="1a1a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7" name="Text 17"/>
          <p:cNvSpPr/>
          <p:nvPr/>
        </p:nvSpPr>
        <p:spPr>
          <a:xfrm>
            <a:off x="274320" y="3364920"/>
            <a:ext cx="8595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rIns="101520" tIns="101520" bIns="10152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199" strike="noStrike">
                <a:solidFill>
                  <a:srgbClr val="ffffff"/>
                </a:solidFill>
                <a:latin typeface="Calibri"/>
              </a:rPr>
              <a:t>SCÉNARIOS BDD / GHERKIN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8" name="Shape 18"/>
          <p:cNvSpPr/>
          <p:nvPr/>
        </p:nvSpPr>
        <p:spPr>
          <a:xfrm>
            <a:off x="274320" y="3749040"/>
            <a:ext cx="8595000" cy="2556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9" name="Shape 19"/>
          <p:cNvSpPr/>
          <p:nvPr/>
        </p:nvSpPr>
        <p:spPr>
          <a:xfrm>
            <a:off x="320040" y="3785760"/>
            <a:ext cx="822600" cy="182520"/>
          </a:xfrm>
          <a:prstGeom prst="roundRect">
            <a:avLst>
              <a:gd name="adj" fmla="val 25000"/>
            </a:avLst>
          </a:prstGeom>
          <a:solidFill>
            <a:srgbClr val="1e844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0" name="Text 20"/>
          <p:cNvSpPr/>
          <p:nvPr/>
        </p:nvSpPr>
        <p:spPr>
          <a:xfrm>
            <a:off x="320040" y="3785760"/>
            <a:ext cx="822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ffffff"/>
                </a:solidFill>
                <a:latin typeface="Calibri"/>
              </a:rPr>
              <a:t>@smoke</a:t>
            </a:r>
            <a:endParaRPr b="0" lang="fr-BE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1" name="Text 21"/>
          <p:cNvSpPr/>
          <p:nvPr/>
        </p:nvSpPr>
        <p:spPr>
          <a:xfrm>
            <a:off x="1234440" y="3749040"/>
            <a:ext cx="74977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Envoi d'un message sécurisé à un collègue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2" name="Shape 22"/>
          <p:cNvSpPr/>
          <p:nvPr/>
        </p:nvSpPr>
        <p:spPr>
          <a:xfrm>
            <a:off x="274320" y="4060080"/>
            <a:ext cx="8595000" cy="255600"/>
          </a:xfrm>
          <a:prstGeom prst="roundRect">
            <a:avLst>
              <a:gd name="adj" fmla="val 14286"/>
            </a:avLst>
          </a:prstGeom>
          <a:solidFill>
            <a:srgbClr val="e8ed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3" name="Shape 23"/>
          <p:cNvSpPr/>
          <p:nvPr/>
        </p:nvSpPr>
        <p:spPr>
          <a:xfrm>
            <a:off x="320040" y="4096440"/>
            <a:ext cx="822600" cy="182520"/>
          </a:xfrm>
          <a:prstGeom prst="roundRect">
            <a:avLst>
              <a:gd name="adj" fmla="val 25000"/>
            </a:avLst>
          </a:prstGeom>
          <a:solidFill>
            <a:srgbClr val="c039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4" name="Text 24"/>
          <p:cNvSpPr/>
          <p:nvPr/>
        </p:nvSpPr>
        <p:spPr>
          <a:xfrm>
            <a:off x="320040" y="4096440"/>
            <a:ext cx="822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ffffff"/>
                </a:solidFill>
                <a:latin typeface="Calibri"/>
              </a:rPr>
              <a:t>@critical</a:t>
            </a:r>
            <a:endParaRPr b="0" lang="fr-BE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5" name="Text 25"/>
          <p:cNvSpPr/>
          <p:nvPr/>
        </p:nvSpPr>
        <p:spPr>
          <a:xfrm>
            <a:off x="1234440" y="4060080"/>
            <a:ext cx="74977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Notification temps réel du destinataire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6" name="Shape 26"/>
          <p:cNvSpPr/>
          <p:nvPr/>
        </p:nvSpPr>
        <p:spPr>
          <a:xfrm>
            <a:off x="274320" y="4370760"/>
            <a:ext cx="8595000" cy="2556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7" name="Shape 27"/>
          <p:cNvSpPr/>
          <p:nvPr/>
        </p:nvSpPr>
        <p:spPr>
          <a:xfrm>
            <a:off x="320040" y="4407480"/>
            <a:ext cx="822600" cy="182520"/>
          </a:xfrm>
          <a:prstGeom prst="roundRect">
            <a:avLst>
              <a:gd name="adj" fmla="val 25000"/>
            </a:avLst>
          </a:prstGeom>
          <a:solidFill>
            <a:srgbClr val="1e844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8" name="Text 28"/>
          <p:cNvSpPr/>
          <p:nvPr/>
        </p:nvSpPr>
        <p:spPr>
          <a:xfrm>
            <a:off x="320040" y="4407480"/>
            <a:ext cx="822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ffffff"/>
                </a:solidFill>
                <a:latin typeface="Calibri"/>
              </a:rPr>
              <a:t>@smoke</a:t>
            </a:r>
            <a:endParaRPr b="0" lang="fr-BE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9" name="Text 29"/>
          <p:cNvSpPr/>
          <p:nvPr/>
        </p:nvSpPr>
        <p:spPr>
          <a:xfrm>
            <a:off x="1234440" y="4370760"/>
            <a:ext cx="74977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Partage de document dans un fil de discussion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0" name="Shape 30"/>
          <p:cNvSpPr/>
          <p:nvPr/>
        </p:nvSpPr>
        <p:spPr>
          <a:xfrm>
            <a:off x="274320" y="4681800"/>
            <a:ext cx="8595000" cy="255600"/>
          </a:xfrm>
          <a:prstGeom prst="roundRect">
            <a:avLst>
              <a:gd name="adj" fmla="val 14286"/>
            </a:avLst>
          </a:prstGeom>
          <a:solidFill>
            <a:srgbClr val="e8ed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1" name="Shape 31"/>
          <p:cNvSpPr/>
          <p:nvPr/>
        </p:nvSpPr>
        <p:spPr>
          <a:xfrm>
            <a:off x="320040" y="4718160"/>
            <a:ext cx="822600" cy="182520"/>
          </a:xfrm>
          <a:prstGeom prst="roundRect">
            <a:avLst>
              <a:gd name="adj" fmla="val 25000"/>
            </a:avLst>
          </a:prstGeom>
          <a:solidFill>
            <a:srgbClr val="d354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2" name="Text 32"/>
          <p:cNvSpPr/>
          <p:nvPr/>
        </p:nvSpPr>
        <p:spPr>
          <a:xfrm>
            <a:off x="320040" y="4718160"/>
            <a:ext cx="822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ffffff"/>
                </a:solidFill>
                <a:latin typeface="Calibri"/>
              </a:rPr>
              <a:t>@regression</a:t>
            </a:r>
            <a:endParaRPr b="0" lang="fr-BE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3" name="Text 33"/>
          <p:cNvSpPr/>
          <p:nvPr/>
        </p:nvSpPr>
        <p:spPr>
          <a:xfrm>
            <a:off x="1234440" y="4681800"/>
            <a:ext cx="74977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Archivage automatique pour audit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Shape 0"/>
          <p:cNvSpPr/>
          <p:nvPr/>
        </p:nvSpPr>
        <p:spPr>
          <a:xfrm>
            <a:off x="0" y="0"/>
            <a:ext cx="9143640" cy="548280"/>
          </a:xfrm>
          <a:prstGeom prst="rect">
            <a:avLst/>
          </a:prstGeom>
          <a:solidFill>
            <a:srgbClr val="7d3c9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5" name="Text 1"/>
          <p:cNvSpPr/>
          <p:nvPr/>
        </p:nvSpPr>
        <p:spPr>
          <a:xfrm>
            <a:off x="274320" y="0"/>
            <a:ext cx="85950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🥒  </a:t>
            </a: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UC-07 · Scénario nominal — Gherkin / Cucumber</a:t>
            </a:r>
            <a:endParaRPr b="0" lang="fr-BE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6" name="Shape 2"/>
          <p:cNvSpPr/>
          <p:nvPr/>
        </p:nvSpPr>
        <p:spPr>
          <a:xfrm>
            <a:off x="228600" y="658440"/>
            <a:ext cx="8686440" cy="41144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7" name="Shape 3"/>
          <p:cNvSpPr/>
          <p:nvPr/>
        </p:nvSpPr>
        <p:spPr>
          <a:xfrm>
            <a:off x="228600" y="658440"/>
            <a:ext cx="8686440" cy="328680"/>
          </a:xfrm>
          <a:prstGeom prst="rect">
            <a:avLst/>
          </a:prstGeom>
          <a:solidFill>
            <a:srgbClr val="21262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8" name="Shape 4"/>
          <p:cNvSpPr/>
          <p:nvPr/>
        </p:nvSpPr>
        <p:spPr>
          <a:xfrm>
            <a:off x="457200" y="749880"/>
            <a:ext cx="145800" cy="14580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9" name="Shape 5"/>
          <p:cNvSpPr/>
          <p:nvPr/>
        </p:nvSpPr>
        <p:spPr>
          <a:xfrm>
            <a:off x="713160" y="749880"/>
            <a:ext cx="145800" cy="14580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0" name="Shape 6"/>
          <p:cNvSpPr/>
          <p:nvPr/>
        </p:nvSpPr>
        <p:spPr>
          <a:xfrm>
            <a:off x="969120" y="749880"/>
            <a:ext cx="145800" cy="14580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1" name="Text 7"/>
          <p:cNvSpPr/>
          <p:nvPr/>
        </p:nvSpPr>
        <p:spPr>
          <a:xfrm>
            <a:off x="1371600" y="658440"/>
            <a:ext cx="64004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8b949e"/>
                </a:solidFill>
                <a:latin typeface="Calibri"/>
              </a:rPr>
              <a:t>src/test/resources/features/messaging/messagerie-securisee.feature</a:t>
            </a:r>
            <a:endParaRPr b="0" lang="fr-BE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2" name="Text 8"/>
          <p:cNvSpPr/>
          <p:nvPr/>
        </p:nvSpPr>
        <p:spPr>
          <a:xfrm>
            <a:off x="365760" y="1078920"/>
            <a:ext cx="8412120" cy="1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Feature: Messagerie Sécurisée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3" name="Text 9"/>
          <p:cNvSpPr/>
          <p:nvPr/>
        </p:nvSpPr>
        <p:spPr>
          <a:xfrm>
            <a:off x="365760" y="1211040"/>
            <a:ext cx="8412120" cy="1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edf3"/>
                </a:solidFill>
                <a:latin typeface="Courier New"/>
                <a:ea typeface="Courier New"/>
              </a:rPr>
              <a:t>  </a:t>
            </a:r>
            <a:r>
              <a:rPr b="0" lang="en-US" sz="950" spc="-1" strike="noStrike">
                <a:solidFill>
                  <a:srgbClr val="e6edf3"/>
                </a:solidFill>
                <a:latin typeface="Courier New"/>
                <a:ea typeface="Courier New"/>
              </a:rPr>
              <a:t>En tant que professionnel de santé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4" name="Text 10"/>
          <p:cNvSpPr/>
          <p:nvPr/>
        </p:nvSpPr>
        <p:spPr>
          <a:xfrm>
            <a:off x="365760" y="1343160"/>
            <a:ext cx="8412120" cy="1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edf3"/>
                </a:solidFill>
                <a:latin typeface="Courier New"/>
                <a:ea typeface="Courier New"/>
              </a:rPr>
              <a:t>  </a:t>
            </a:r>
            <a:r>
              <a:rPr b="0" lang="en-US" sz="950" spc="-1" strike="noStrike">
                <a:solidFill>
                  <a:srgbClr val="e6edf3"/>
                </a:solidFill>
                <a:latin typeface="Courier New"/>
                <a:ea typeface="Courier New"/>
              </a:rPr>
              <a:t>Je veux envoyer des messages chiffrés à mes collègues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5" name="Text 11"/>
          <p:cNvSpPr/>
          <p:nvPr/>
        </p:nvSpPr>
        <p:spPr>
          <a:xfrm>
            <a:off x="365760" y="1475280"/>
            <a:ext cx="8412120" cy="1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edf3"/>
                </a:solidFill>
                <a:latin typeface="Courier New"/>
                <a:ea typeface="Courier New"/>
              </a:rPr>
              <a:t>  </a:t>
            </a:r>
            <a:r>
              <a:rPr b="0" lang="en-US" sz="950" spc="-1" strike="noStrike">
                <a:solidFill>
                  <a:srgbClr val="e6edf3"/>
                </a:solidFill>
                <a:latin typeface="Courier New"/>
                <a:ea typeface="Courier New"/>
              </a:rPr>
              <a:t>Afin de coordonner les soins de façon sécurisée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6" name="Text 12"/>
          <p:cNvSpPr/>
          <p:nvPr/>
        </p:nvSpPr>
        <p:spPr>
          <a:xfrm>
            <a:off x="365760" y="1739520"/>
            <a:ext cx="8412120" cy="1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e3b341"/>
                </a:solidFill>
                <a:latin typeface="Courier New"/>
                <a:ea typeface="Courier New"/>
              </a:rPr>
              <a:t>  </a:t>
            </a:r>
            <a:r>
              <a:rPr b="1" lang="en-US" sz="950" spc="-1" strike="noStrike">
                <a:solidFill>
                  <a:srgbClr val="e3b341"/>
                </a:solidFill>
                <a:latin typeface="Courier New"/>
                <a:ea typeface="Courier New"/>
              </a:rPr>
              <a:t>Background: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7" name="Text 13"/>
          <p:cNvSpPr/>
          <p:nvPr/>
        </p:nvSpPr>
        <p:spPr>
          <a:xfrm>
            <a:off x="365760" y="1871640"/>
            <a:ext cx="8412120" cy="1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7ee787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7ee787"/>
                </a:solidFill>
                <a:latin typeface="Courier New"/>
                <a:ea typeface="Courier New"/>
              </a:rPr>
              <a:t>Given "dr.dupont" et "inf.martin" sont dans la même équipe de soins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8" name="Text 14"/>
          <p:cNvSpPr/>
          <p:nvPr/>
        </p:nvSpPr>
        <p:spPr>
          <a:xfrm>
            <a:off x="365760" y="2003400"/>
            <a:ext cx="8412120" cy="1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And le chiffrement E2E est activé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9" name="Text 15"/>
          <p:cNvSpPr/>
          <p:nvPr/>
        </p:nvSpPr>
        <p:spPr>
          <a:xfrm>
            <a:off x="365760" y="2267640"/>
            <a:ext cx="8412120" cy="1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f85149"/>
                </a:solidFill>
                <a:latin typeface="Courier New"/>
                <a:ea typeface="Courier New"/>
              </a:rPr>
              <a:t>  </a:t>
            </a:r>
            <a:r>
              <a:rPr b="1" lang="en-US" sz="950" spc="-1" strike="noStrike">
                <a:solidFill>
                  <a:srgbClr val="f85149"/>
                </a:solidFill>
                <a:latin typeface="Courier New"/>
                <a:ea typeface="Courier New"/>
              </a:rPr>
              <a:t>@smoke @UC-07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0" name="Text 16"/>
          <p:cNvSpPr/>
          <p:nvPr/>
        </p:nvSpPr>
        <p:spPr>
          <a:xfrm>
            <a:off x="365760" y="2399760"/>
            <a:ext cx="8412120" cy="1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79c0ff"/>
                </a:solidFill>
                <a:latin typeface="Courier New"/>
                <a:ea typeface="Courier New"/>
              </a:rPr>
              <a:t>  </a:t>
            </a:r>
            <a:r>
              <a:rPr b="1" lang="en-US" sz="950" spc="-1" strike="noStrike">
                <a:solidFill>
                  <a:srgbClr val="79c0ff"/>
                </a:solidFill>
                <a:latin typeface="Courier New"/>
                <a:ea typeface="Courier New"/>
              </a:rPr>
              <a:t>Scenario: Envoi d'un message lié à un patient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1" name="Text 17"/>
          <p:cNvSpPr/>
          <p:nvPr/>
        </p:nvSpPr>
        <p:spPr>
          <a:xfrm>
            <a:off x="365760" y="2531880"/>
            <a:ext cx="8412120" cy="1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7ee787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7ee787"/>
                </a:solidFill>
                <a:latin typeface="Courier New"/>
                <a:ea typeface="Courier New"/>
              </a:rPr>
              <a:t>Given je suis connecté en tant que "dr.dupont"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2" name="Text 18"/>
          <p:cNvSpPr/>
          <p:nvPr/>
        </p:nvSpPr>
        <p:spPr>
          <a:xfrm>
            <a:off x="365760" y="2664000"/>
            <a:ext cx="8412120" cy="1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56d364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56d364"/>
                </a:solidFill>
                <a:latin typeface="Courier New"/>
                <a:ea typeface="Courier New"/>
              </a:rPr>
              <a:t>When je rédige un message pour "inf.martin"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3" name="Text 19"/>
          <p:cNvSpPr/>
          <p:nvPr/>
        </p:nvSpPr>
        <p:spPr>
          <a:xfrm>
            <a:off x="365760" y="2796120"/>
            <a:ext cx="8412120" cy="1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And j'associe le message au patient "Jean Martin"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4" name="Text 20"/>
          <p:cNvSpPr/>
          <p:nvPr/>
        </p:nvSpPr>
        <p:spPr>
          <a:xfrm>
            <a:off x="365760" y="2928240"/>
            <a:ext cx="8412120" cy="1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And je saisis "Merci de vérifier la glycémie ce soir"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5" name="Text 21"/>
          <p:cNvSpPr/>
          <p:nvPr/>
        </p:nvSpPr>
        <p:spPr>
          <a:xfrm>
            <a:off x="365760" y="3060360"/>
            <a:ext cx="8412120" cy="1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And je clique sur "Envoyer"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6" name="Text 22"/>
          <p:cNvSpPr/>
          <p:nvPr/>
        </p:nvSpPr>
        <p:spPr>
          <a:xfrm>
            <a:off x="365760" y="3192120"/>
            <a:ext cx="8412120" cy="1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79c0ff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79c0ff"/>
                </a:solidFill>
                <a:latin typeface="Courier New"/>
                <a:ea typeface="Courier New"/>
              </a:rPr>
              <a:t>Then le message est chiffré et stocké en base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7" name="Text 23"/>
          <p:cNvSpPr/>
          <p:nvPr/>
        </p:nvSpPr>
        <p:spPr>
          <a:xfrm>
            <a:off x="365760" y="3324240"/>
            <a:ext cx="8412120" cy="1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And "inf.martin" reçoit une notification en temps réel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8" name="Text 24"/>
          <p:cNvSpPr/>
          <p:nvPr/>
        </p:nvSpPr>
        <p:spPr>
          <a:xfrm>
            <a:off x="365760" y="3456360"/>
            <a:ext cx="8412120" cy="1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And le message est visible uniquement par les destinataires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9" name="Text 25"/>
          <p:cNvSpPr/>
          <p:nvPr/>
        </p:nvSpPr>
        <p:spPr>
          <a:xfrm>
            <a:off x="365760" y="3720600"/>
            <a:ext cx="8412120" cy="1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f85149"/>
                </a:solidFill>
                <a:latin typeface="Courier New"/>
                <a:ea typeface="Courier New"/>
              </a:rPr>
              <a:t>  </a:t>
            </a:r>
            <a:r>
              <a:rPr b="1" lang="en-US" sz="950" spc="-1" strike="noStrike">
                <a:solidFill>
                  <a:srgbClr val="f85149"/>
                </a:solidFill>
                <a:latin typeface="Courier New"/>
                <a:ea typeface="Courier New"/>
              </a:rPr>
              <a:t>@critical @UC-07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0" name="Text 26"/>
          <p:cNvSpPr/>
          <p:nvPr/>
        </p:nvSpPr>
        <p:spPr>
          <a:xfrm>
            <a:off x="365760" y="3852720"/>
            <a:ext cx="8412120" cy="1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79c0ff"/>
                </a:solidFill>
                <a:latin typeface="Courier New"/>
                <a:ea typeface="Courier New"/>
              </a:rPr>
              <a:t>  </a:t>
            </a:r>
            <a:r>
              <a:rPr b="1" lang="en-US" sz="950" spc="-1" strike="noStrike">
                <a:solidFill>
                  <a:srgbClr val="79c0ff"/>
                </a:solidFill>
                <a:latin typeface="Courier New"/>
                <a:ea typeface="Courier New"/>
              </a:rPr>
              <a:t>Scenario: Réception en temps réel via WebSocket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1" name="Text 27"/>
          <p:cNvSpPr/>
          <p:nvPr/>
        </p:nvSpPr>
        <p:spPr>
          <a:xfrm>
            <a:off x="365760" y="3984840"/>
            <a:ext cx="8412120" cy="1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7ee787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7ee787"/>
                </a:solidFill>
                <a:latin typeface="Courier New"/>
                <a:ea typeface="Courier New"/>
              </a:rPr>
              <a:t>Given "inf.martin" est connecté à CareSync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2" name="Text 28"/>
          <p:cNvSpPr/>
          <p:nvPr/>
        </p:nvSpPr>
        <p:spPr>
          <a:xfrm>
            <a:off x="365760" y="4116960"/>
            <a:ext cx="8412120" cy="1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56d364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56d364"/>
                </a:solidFill>
                <a:latin typeface="Courier New"/>
                <a:ea typeface="Courier New"/>
              </a:rPr>
              <a:t>When "dr.dupont" envoie un message à "inf.martin"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3" name="Text 29"/>
          <p:cNvSpPr/>
          <p:nvPr/>
        </p:nvSpPr>
        <p:spPr>
          <a:xfrm>
            <a:off x="365760" y="4249080"/>
            <a:ext cx="8412120" cy="1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79c0ff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79c0ff"/>
                </a:solidFill>
                <a:latin typeface="Courier New"/>
                <a:ea typeface="Courier New"/>
              </a:rPr>
              <a:t>Then "inf.martin" voit apparaître le message en moins de 2 secondes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4" name="Text 30"/>
          <p:cNvSpPr/>
          <p:nvPr/>
        </p:nvSpPr>
        <p:spPr>
          <a:xfrm>
            <a:off x="365760" y="4380840"/>
            <a:ext cx="8412120" cy="1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And la notification push est déclenchée sur son appareil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5" name="Text 31"/>
          <p:cNvSpPr/>
          <p:nvPr/>
        </p:nvSpPr>
        <p:spPr>
          <a:xfrm>
            <a:off x="365760" y="4512960"/>
            <a:ext cx="8412120" cy="1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And l'accusé de réception est enregistré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Shape 0"/>
          <p:cNvSpPr/>
          <p:nvPr/>
        </p:nvSpPr>
        <p:spPr>
          <a:xfrm>
            <a:off x="0" y="0"/>
            <a:ext cx="9143640" cy="548280"/>
          </a:xfrm>
          <a:prstGeom prst="rect">
            <a:avLst/>
          </a:prstGeom>
          <a:solidFill>
            <a:srgbClr val="3a3a5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7" name="Text 1"/>
          <p:cNvSpPr/>
          <p:nvPr/>
        </p:nvSpPr>
        <p:spPr>
          <a:xfrm>
            <a:off x="274320" y="0"/>
            <a:ext cx="85950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⚡  </a:t>
            </a: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UC-07 · Scénarios alternatifs &amp; cas d'erreur</a:t>
            </a:r>
            <a:endParaRPr b="0" lang="fr-BE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8" name="Shape 2"/>
          <p:cNvSpPr/>
          <p:nvPr/>
        </p:nvSpPr>
        <p:spPr>
          <a:xfrm>
            <a:off x="228600" y="658440"/>
            <a:ext cx="4297320" cy="41144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9" name="Shape 3"/>
          <p:cNvSpPr/>
          <p:nvPr/>
        </p:nvSpPr>
        <p:spPr>
          <a:xfrm>
            <a:off x="228600" y="658440"/>
            <a:ext cx="4297320" cy="292320"/>
          </a:xfrm>
          <a:prstGeom prst="rect">
            <a:avLst/>
          </a:prstGeom>
          <a:solidFill>
            <a:srgbClr val="21262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0" name="Shape 4"/>
          <p:cNvSpPr/>
          <p:nvPr/>
        </p:nvSpPr>
        <p:spPr>
          <a:xfrm>
            <a:off x="411480" y="731520"/>
            <a:ext cx="127800" cy="12780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1" name="Shape 5"/>
          <p:cNvSpPr/>
          <p:nvPr/>
        </p:nvSpPr>
        <p:spPr>
          <a:xfrm>
            <a:off x="621720" y="731520"/>
            <a:ext cx="127800" cy="12780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2" name="Shape 6"/>
          <p:cNvSpPr/>
          <p:nvPr/>
        </p:nvSpPr>
        <p:spPr>
          <a:xfrm>
            <a:off x="831960" y="731520"/>
            <a:ext cx="127800" cy="12780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3" name="Text 7"/>
          <p:cNvSpPr/>
          <p:nvPr/>
        </p:nvSpPr>
        <p:spPr>
          <a:xfrm>
            <a:off x="365760" y="102420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85149"/>
                </a:solidFill>
                <a:latin typeface="Courier New"/>
                <a:ea typeface="Courier New"/>
              </a:rPr>
              <a:t>  </a:t>
            </a:r>
            <a:r>
              <a:rPr b="1" lang="en-US" sz="850" spc="-1" strike="noStrike">
                <a:solidFill>
                  <a:srgbClr val="f85149"/>
                </a:solidFill>
                <a:latin typeface="Courier New"/>
                <a:ea typeface="Courier New"/>
              </a:rPr>
              <a:t>@smoke @UC-07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4" name="Text 8"/>
          <p:cNvSpPr/>
          <p:nvPr/>
        </p:nvSpPr>
        <p:spPr>
          <a:xfrm>
            <a:off x="365760" y="122544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79c0ff"/>
                </a:solidFill>
                <a:latin typeface="Courier New"/>
                <a:ea typeface="Courier New"/>
              </a:rPr>
              <a:t>  </a:t>
            </a:r>
            <a:r>
              <a:rPr b="1" lang="en-US" sz="850" spc="-1" strike="noStrike">
                <a:solidFill>
                  <a:srgbClr val="79c0ff"/>
                </a:solidFill>
                <a:latin typeface="Courier New"/>
                <a:ea typeface="Courier New"/>
              </a:rPr>
              <a:t>Scenario: Partage de document dans un message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5" name="Text 9"/>
          <p:cNvSpPr/>
          <p:nvPr/>
        </p:nvSpPr>
        <p:spPr>
          <a:xfrm>
            <a:off x="365760" y="142632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56d364"/>
                </a:solidFill>
                <a:latin typeface="Courier New"/>
                <a:ea typeface="Courier New"/>
              </a:rPr>
              <a:t>    </a:t>
            </a:r>
            <a:r>
              <a:rPr b="0" lang="en-US" sz="850" spc="-1" strike="noStrike">
                <a:solidFill>
                  <a:srgbClr val="56d364"/>
                </a:solidFill>
                <a:latin typeface="Courier New"/>
                <a:ea typeface="Courier New"/>
              </a:rPr>
              <a:t>When je joins le fichier "bilan-sanguin-martin.pdf" au message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6" name="Text 10"/>
          <p:cNvSpPr/>
          <p:nvPr/>
        </p:nvSpPr>
        <p:spPr>
          <a:xfrm>
            <a:off x="365760" y="162756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d2a8ff"/>
                </a:solidFill>
                <a:latin typeface="Courier New"/>
                <a:ea typeface="Courier New"/>
              </a:rPr>
              <a:t>    </a:t>
            </a:r>
            <a:r>
              <a:rPr b="0" lang="en-US" sz="850" spc="-1" strike="noStrike">
                <a:solidFill>
                  <a:srgbClr val="d2a8ff"/>
                </a:solidFill>
                <a:latin typeface="Courier New"/>
                <a:ea typeface="Courier New"/>
              </a:rPr>
              <a:t>And je clique sur "Envoyer"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7" name="Text 11"/>
          <p:cNvSpPr/>
          <p:nvPr/>
        </p:nvSpPr>
        <p:spPr>
          <a:xfrm>
            <a:off x="365760" y="182880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79c0ff"/>
                </a:solidFill>
                <a:latin typeface="Courier New"/>
                <a:ea typeface="Courier New"/>
              </a:rPr>
              <a:t>    </a:t>
            </a:r>
            <a:r>
              <a:rPr b="0" lang="en-US" sz="850" spc="-1" strike="noStrike">
                <a:solidFill>
                  <a:srgbClr val="79c0ff"/>
                </a:solidFill>
                <a:latin typeface="Courier New"/>
                <a:ea typeface="Courier New"/>
              </a:rPr>
              <a:t>Then le fichier est chiffré et stocké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8" name="Text 12"/>
          <p:cNvSpPr/>
          <p:nvPr/>
        </p:nvSpPr>
        <p:spPr>
          <a:xfrm>
            <a:off x="365760" y="203004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d2a8ff"/>
                </a:solidFill>
                <a:latin typeface="Courier New"/>
                <a:ea typeface="Courier New"/>
              </a:rPr>
              <a:t>    </a:t>
            </a:r>
            <a:r>
              <a:rPr b="0" lang="en-US" sz="850" spc="-1" strike="noStrike">
                <a:solidFill>
                  <a:srgbClr val="d2a8ff"/>
                </a:solidFill>
                <a:latin typeface="Courier New"/>
                <a:ea typeface="Courier New"/>
              </a:rPr>
              <a:t>And "inf.martin" peut le télécharger depuis le message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9" name="Shape 13"/>
          <p:cNvSpPr/>
          <p:nvPr/>
        </p:nvSpPr>
        <p:spPr>
          <a:xfrm>
            <a:off x="4709160" y="658440"/>
            <a:ext cx="4297320" cy="41144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0" name="Shape 14"/>
          <p:cNvSpPr/>
          <p:nvPr/>
        </p:nvSpPr>
        <p:spPr>
          <a:xfrm>
            <a:off x="4709160" y="658440"/>
            <a:ext cx="4297320" cy="292320"/>
          </a:xfrm>
          <a:prstGeom prst="rect">
            <a:avLst/>
          </a:prstGeom>
          <a:solidFill>
            <a:srgbClr val="21262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1" name="Shape 15"/>
          <p:cNvSpPr/>
          <p:nvPr/>
        </p:nvSpPr>
        <p:spPr>
          <a:xfrm>
            <a:off x="4892040" y="731520"/>
            <a:ext cx="127800" cy="12780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2" name="Shape 16"/>
          <p:cNvSpPr/>
          <p:nvPr/>
        </p:nvSpPr>
        <p:spPr>
          <a:xfrm>
            <a:off x="5102280" y="731520"/>
            <a:ext cx="127800" cy="12780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3" name="Shape 17"/>
          <p:cNvSpPr/>
          <p:nvPr/>
        </p:nvSpPr>
        <p:spPr>
          <a:xfrm>
            <a:off x="5312520" y="731520"/>
            <a:ext cx="127800" cy="12780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4" name="Text 18"/>
          <p:cNvSpPr/>
          <p:nvPr/>
        </p:nvSpPr>
        <p:spPr>
          <a:xfrm>
            <a:off x="4846320" y="102420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85149"/>
                </a:solidFill>
                <a:latin typeface="Courier New"/>
                <a:ea typeface="Courier New"/>
              </a:rPr>
              <a:t>  </a:t>
            </a:r>
            <a:r>
              <a:rPr b="1" lang="en-US" sz="850" spc="-1" strike="noStrike">
                <a:solidFill>
                  <a:srgbClr val="f85149"/>
                </a:solidFill>
                <a:latin typeface="Courier New"/>
                <a:ea typeface="Courier New"/>
              </a:rPr>
              <a:t>@regression @UC-07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5" name="Text 19"/>
          <p:cNvSpPr/>
          <p:nvPr/>
        </p:nvSpPr>
        <p:spPr>
          <a:xfrm>
            <a:off x="4846320" y="122544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79c0ff"/>
                </a:solidFill>
                <a:latin typeface="Courier New"/>
                <a:ea typeface="Courier New"/>
              </a:rPr>
              <a:t>  </a:t>
            </a:r>
            <a:r>
              <a:rPr b="1" lang="en-US" sz="850" spc="-1" strike="noStrike">
                <a:solidFill>
                  <a:srgbClr val="79c0ff"/>
                </a:solidFill>
                <a:latin typeface="Courier New"/>
                <a:ea typeface="Courier New"/>
              </a:rPr>
              <a:t>Scenario: Archivage pour audit RGPD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6" name="Text 20"/>
          <p:cNvSpPr/>
          <p:nvPr/>
        </p:nvSpPr>
        <p:spPr>
          <a:xfrm>
            <a:off x="4846320" y="142632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7ee787"/>
                </a:solidFill>
                <a:latin typeface="Courier New"/>
                <a:ea typeface="Courier New"/>
              </a:rPr>
              <a:t>    </a:t>
            </a:r>
            <a:r>
              <a:rPr b="0" lang="en-US" sz="850" spc="-1" strike="noStrike">
                <a:solidFill>
                  <a:srgbClr val="7ee787"/>
                </a:solidFill>
                <a:latin typeface="Courier New"/>
                <a:ea typeface="Courier New"/>
              </a:rPr>
              <a:t>Given le message "MSG-001" a été envoyé il y a 30 jours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7" name="Text 21"/>
          <p:cNvSpPr/>
          <p:nvPr/>
        </p:nvSpPr>
        <p:spPr>
          <a:xfrm>
            <a:off x="4846320" y="162756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56d364"/>
                </a:solidFill>
                <a:latin typeface="Courier New"/>
                <a:ea typeface="Courier New"/>
              </a:rPr>
              <a:t>    </a:t>
            </a:r>
            <a:r>
              <a:rPr b="0" lang="en-US" sz="850" spc="-1" strike="noStrike">
                <a:solidFill>
                  <a:srgbClr val="56d364"/>
                </a:solidFill>
                <a:latin typeface="Courier New"/>
                <a:ea typeface="Courier New"/>
              </a:rPr>
              <a:t>When l'auditeur consulte les logs du message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8" name="Text 22"/>
          <p:cNvSpPr/>
          <p:nvPr/>
        </p:nvSpPr>
        <p:spPr>
          <a:xfrm>
            <a:off x="4846320" y="182880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79c0ff"/>
                </a:solidFill>
                <a:latin typeface="Courier New"/>
                <a:ea typeface="Courier New"/>
              </a:rPr>
              <a:t>    </a:t>
            </a:r>
            <a:r>
              <a:rPr b="0" lang="en-US" sz="850" spc="-1" strike="noStrike">
                <a:solidFill>
                  <a:srgbClr val="79c0ff"/>
                </a:solidFill>
                <a:latin typeface="Courier New"/>
                <a:ea typeface="Courier New"/>
              </a:rPr>
              <a:t>Then les métadonnées (expéditeur, destinataire, date) sont visibles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9" name="Text 23"/>
          <p:cNvSpPr/>
          <p:nvPr/>
        </p:nvSpPr>
        <p:spPr>
          <a:xfrm>
            <a:off x="4846320" y="203004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d2a8ff"/>
                </a:solidFill>
                <a:latin typeface="Courier New"/>
                <a:ea typeface="Courier New"/>
              </a:rPr>
              <a:t>    </a:t>
            </a:r>
            <a:r>
              <a:rPr b="0" lang="en-US" sz="850" spc="-1" strike="noStrike">
                <a:solidFill>
                  <a:srgbClr val="d2a8ff"/>
                </a:solidFill>
                <a:latin typeface="Courier New"/>
                <a:ea typeface="Courier New"/>
              </a:rPr>
              <a:t>And le contenu reste chiffré dans l'audit log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Shape 0"/>
          <p:cNvSpPr/>
          <p:nvPr/>
        </p:nvSpPr>
        <p:spPr>
          <a:xfrm>
            <a:off x="0" y="0"/>
            <a:ext cx="9143640" cy="685440"/>
          </a:xfrm>
          <a:prstGeom prst="rect">
            <a:avLst/>
          </a:prstGeom>
          <a:solidFill>
            <a:srgbClr val="1a527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1" name="Shape 1"/>
          <p:cNvSpPr/>
          <p:nvPr/>
        </p:nvSpPr>
        <p:spPr>
          <a:xfrm>
            <a:off x="0" y="685800"/>
            <a:ext cx="9143640" cy="45360"/>
          </a:xfrm>
          <a:prstGeom prst="rect">
            <a:avLst/>
          </a:prstGeom>
          <a:solidFill>
            <a:srgbClr val="d6ea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2" name="Text 2"/>
          <p:cNvSpPr/>
          <p:nvPr/>
        </p:nvSpPr>
        <p:spPr>
          <a:xfrm>
            <a:off x="320040" y="0"/>
            <a:ext cx="10054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a0c8df"/>
                </a:solidFill>
                <a:latin typeface="Calibri"/>
              </a:rPr>
              <a:t>UC-08</a:t>
            </a:r>
            <a:endParaRPr b="0" lang="fr-BE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3" name="Text 3"/>
          <p:cNvSpPr/>
          <p:nvPr/>
        </p:nvSpPr>
        <p:spPr>
          <a:xfrm>
            <a:off x="1371600" y="0"/>
            <a:ext cx="68576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Tableaux de Bord Analytics</a:t>
            </a:r>
            <a:endParaRPr b="0" lang="fr-BE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4" name="Shape 4"/>
          <p:cNvSpPr/>
          <p:nvPr/>
        </p:nvSpPr>
        <p:spPr>
          <a:xfrm>
            <a:off x="7863840" y="109800"/>
            <a:ext cx="1005480" cy="456840"/>
          </a:xfrm>
          <a:prstGeom prst="roundRect">
            <a:avLst>
              <a:gd name="adj" fmla="val 16000"/>
            </a:avLst>
          </a:prstGeom>
          <a:solidFill>
            <a:srgbClr val="ffffff">
              <a:alpha val="8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5" name="Text 5"/>
          <p:cNvSpPr/>
          <p:nvPr/>
        </p:nvSpPr>
        <p:spPr>
          <a:xfrm>
            <a:off x="7863840" y="109800"/>
            <a:ext cx="1005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</a:rPr>
              <a:t>Analytics</a:t>
            </a:r>
            <a:endParaRPr b="0" lang="fr-B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6" name="Shape 6"/>
          <p:cNvSpPr/>
          <p:nvPr/>
        </p:nvSpPr>
        <p:spPr>
          <a:xfrm>
            <a:off x="274320" y="868680"/>
            <a:ext cx="8595000" cy="776880"/>
          </a:xfrm>
          <a:prstGeom prst="rect">
            <a:avLst/>
          </a:prstGeom>
          <a:solidFill>
            <a:srgbClr val="d6eaf8"/>
          </a:solidFill>
          <a:ln w="12700">
            <a:solidFill>
              <a:srgbClr val="1a527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7" name="Text 7"/>
          <p:cNvSpPr/>
          <p:nvPr/>
        </p:nvSpPr>
        <p:spPr>
          <a:xfrm>
            <a:off x="457200" y="896040"/>
            <a:ext cx="8229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📋  </a:t>
            </a: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Le directeur médical et les médecins accèdent à des tableaux de bord analytiques multi-niveaux : opérationnel (temps réel), tactique (hebdo) et stratégique (mensuel/annuel).</a:t>
            </a:r>
            <a:endParaRPr b="0" lang="fr-BE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8" name="Shape 8"/>
          <p:cNvSpPr/>
          <p:nvPr/>
        </p:nvSpPr>
        <p:spPr>
          <a:xfrm>
            <a:off x="274320" y="1783080"/>
            <a:ext cx="4114440" cy="1462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df2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9" name="Shape 9"/>
          <p:cNvSpPr/>
          <p:nvPr/>
        </p:nvSpPr>
        <p:spPr>
          <a:xfrm>
            <a:off x="274320" y="1783080"/>
            <a:ext cx="4114440" cy="347040"/>
          </a:xfrm>
          <a:prstGeom prst="rect">
            <a:avLst/>
          </a:prstGeom>
          <a:solidFill>
            <a:srgbClr val="1a527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0" name="Text 10"/>
          <p:cNvSpPr/>
          <p:nvPr/>
        </p:nvSpPr>
        <p:spPr>
          <a:xfrm>
            <a:off x="274320" y="1783080"/>
            <a:ext cx="41144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6320" rIns="76320" tIns="76320" bIns="7632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👤  </a:t>
            </a: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ACTEURS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1" name="Text 11"/>
          <p:cNvSpPr/>
          <p:nvPr/>
        </p:nvSpPr>
        <p:spPr>
          <a:xfrm>
            <a:off x="411480" y="2176200"/>
            <a:ext cx="384012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Directeur médical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Médecin DIM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Coordinateur qualité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2" name="Shape 12"/>
          <p:cNvSpPr/>
          <p:nvPr/>
        </p:nvSpPr>
        <p:spPr>
          <a:xfrm>
            <a:off x="4754880" y="1783080"/>
            <a:ext cx="4114440" cy="1462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df2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3" name="Shape 13"/>
          <p:cNvSpPr/>
          <p:nvPr/>
        </p:nvSpPr>
        <p:spPr>
          <a:xfrm>
            <a:off x="4754880" y="1783080"/>
            <a:ext cx="4114440" cy="347040"/>
          </a:xfrm>
          <a:prstGeom prst="rect">
            <a:avLst/>
          </a:prstGeom>
          <a:solidFill>
            <a:srgbClr val="64748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4" name="Text 14"/>
          <p:cNvSpPr/>
          <p:nvPr/>
        </p:nvSpPr>
        <p:spPr>
          <a:xfrm>
            <a:off x="4754880" y="1783080"/>
            <a:ext cx="41144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6320" rIns="76320" tIns="76320" bIns="7632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⚙️  </a:t>
            </a: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PRÉCONDITIONS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5" name="Text 15"/>
          <p:cNvSpPr/>
          <p:nvPr/>
        </p:nvSpPr>
        <p:spPr>
          <a:xfrm>
            <a:off x="4892040" y="2176200"/>
            <a:ext cx="384012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Données patients disponibles sur 30 jours minimum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Rôle ADMIN ou COORDINATEUR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Service analytics opérationnel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6" name="Shape 16"/>
          <p:cNvSpPr/>
          <p:nvPr/>
        </p:nvSpPr>
        <p:spPr>
          <a:xfrm>
            <a:off x="274320" y="3364920"/>
            <a:ext cx="8595000" cy="319680"/>
          </a:xfrm>
          <a:prstGeom prst="rect">
            <a:avLst/>
          </a:prstGeom>
          <a:solidFill>
            <a:srgbClr val="1a1a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7" name="Text 17"/>
          <p:cNvSpPr/>
          <p:nvPr/>
        </p:nvSpPr>
        <p:spPr>
          <a:xfrm>
            <a:off x="274320" y="3364920"/>
            <a:ext cx="8595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rIns="101520" tIns="101520" bIns="10152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199" strike="noStrike">
                <a:solidFill>
                  <a:srgbClr val="ffffff"/>
                </a:solidFill>
                <a:latin typeface="Calibri"/>
              </a:rPr>
              <a:t>SCÉNARIOS BDD / GHERKIN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8" name="Shape 18"/>
          <p:cNvSpPr/>
          <p:nvPr/>
        </p:nvSpPr>
        <p:spPr>
          <a:xfrm>
            <a:off x="274320" y="3749040"/>
            <a:ext cx="8595000" cy="2556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9" name="Shape 19"/>
          <p:cNvSpPr/>
          <p:nvPr/>
        </p:nvSpPr>
        <p:spPr>
          <a:xfrm>
            <a:off x="320040" y="3785760"/>
            <a:ext cx="822600" cy="182520"/>
          </a:xfrm>
          <a:prstGeom prst="roundRect">
            <a:avLst>
              <a:gd name="adj" fmla="val 25000"/>
            </a:avLst>
          </a:prstGeom>
          <a:solidFill>
            <a:srgbClr val="1e844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0" name="Text 20"/>
          <p:cNvSpPr/>
          <p:nvPr/>
        </p:nvSpPr>
        <p:spPr>
          <a:xfrm>
            <a:off x="320040" y="3785760"/>
            <a:ext cx="822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ffffff"/>
                </a:solidFill>
                <a:latin typeface="Calibri"/>
              </a:rPr>
              <a:t>@smoke</a:t>
            </a:r>
            <a:endParaRPr b="0" lang="fr-BE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1" name="Text 21"/>
          <p:cNvSpPr/>
          <p:nvPr/>
        </p:nvSpPr>
        <p:spPr>
          <a:xfrm>
            <a:off x="1234440" y="3749040"/>
            <a:ext cx="74977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Affichage du tableau de bord opérationnel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2" name="Shape 22"/>
          <p:cNvSpPr/>
          <p:nvPr/>
        </p:nvSpPr>
        <p:spPr>
          <a:xfrm>
            <a:off x="274320" y="4060080"/>
            <a:ext cx="8595000" cy="255600"/>
          </a:xfrm>
          <a:prstGeom prst="roundRect">
            <a:avLst>
              <a:gd name="adj" fmla="val 14286"/>
            </a:avLst>
          </a:prstGeom>
          <a:solidFill>
            <a:srgbClr val="e8ed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3" name="Shape 23"/>
          <p:cNvSpPr/>
          <p:nvPr/>
        </p:nvSpPr>
        <p:spPr>
          <a:xfrm>
            <a:off x="320040" y="4096440"/>
            <a:ext cx="822600" cy="182520"/>
          </a:xfrm>
          <a:prstGeom prst="roundRect">
            <a:avLst>
              <a:gd name="adj" fmla="val 25000"/>
            </a:avLst>
          </a:prstGeom>
          <a:solidFill>
            <a:srgbClr val="1e844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4" name="Text 24"/>
          <p:cNvSpPr/>
          <p:nvPr/>
        </p:nvSpPr>
        <p:spPr>
          <a:xfrm>
            <a:off x="320040" y="4096440"/>
            <a:ext cx="822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ffffff"/>
                </a:solidFill>
                <a:latin typeface="Calibri"/>
              </a:rPr>
              <a:t>@smoke</a:t>
            </a:r>
            <a:endParaRPr b="0" lang="fr-BE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5" name="Text 25"/>
          <p:cNvSpPr/>
          <p:nvPr/>
        </p:nvSpPr>
        <p:spPr>
          <a:xfrm>
            <a:off x="1234440" y="4060080"/>
            <a:ext cx="74977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Calcul du taux d'observance mensuel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6" name="Shape 26"/>
          <p:cNvSpPr/>
          <p:nvPr/>
        </p:nvSpPr>
        <p:spPr>
          <a:xfrm>
            <a:off x="274320" y="4370760"/>
            <a:ext cx="8595000" cy="2556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7" name="Shape 27"/>
          <p:cNvSpPr/>
          <p:nvPr/>
        </p:nvSpPr>
        <p:spPr>
          <a:xfrm>
            <a:off x="320040" y="4407480"/>
            <a:ext cx="822600" cy="182520"/>
          </a:xfrm>
          <a:prstGeom prst="roundRect">
            <a:avLst>
              <a:gd name="adj" fmla="val 25000"/>
            </a:avLst>
          </a:prstGeom>
          <a:solidFill>
            <a:srgbClr val="d354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8" name="Text 28"/>
          <p:cNvSpPr/>
          <p:nvPr/>
        </p:nvSpPr>
        <p:spPr>
          <a:xfrm>
            <a:off x="320040" y="4407480"/>
            <a:ext cx="822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ffffff"/>
                </a:solidFill>
                <a:latin typeface="Calibri"/>
              </a:rPr>
              <a:t>@regression</a:t>
            </a:r>
            <a:endParaRPr b="0" lang="fr-BE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9" name="Text 29"/>
          <p:cNvSpPr/>
          <p:nvPr/>
        </p:nvSpPr>
        <p:spPr>
          <a:xfrm>
            <a:off x="1234440" y="4370760"/>
            <a:ext cx="74977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Export rapport PDF indicateurs qualité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0" name="Shape 30"/>
          <p:cNvSpPr/>
          <p:nvPr/>
        </p:nvSpPr>
        <p:spPr>
          <a:xfrm>
            <a:off x="274320" y="4681800"/>
            <a:ext cx="8595000" cy="255600"/>
          </a:xfrm>
          <a:prstGeom prst="roundRect">
            <a:avLst>
              <a:gd name="adj" fmla="val 14286"/>
            </a:avLst>
          </a:prstGeom>
          <a:solidFill>
            <a:srgbClr val="e8ed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1" name="Shape 31"/>
          <p:cNvSpPr/>
          <p:nvPr/>
        </p:nvSpPr>
        <p:spPr>
          <a:xfrm>
            <a:off x="320040" y="4718160"/>
            <a:ext cx="822600" cy="182520"/>
          </a:xfrm>
          <a:prstGeom prst="roundRect">
            <a:avLst>
              <a:gd name="adj" fmla="val 25000"/>
            </a:avLst>
          </a:prstGeom>
          <a:solidFill>
            <a:srgbClr val="c039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2" name="Text 32"/>
          <p:cNvSpPr/>
          <p:nvPr/>
        </p:nvSpPr>
        <p:spPr>
          <a:xfrm>
            <a:off x="320040" y="4718160"/>
            <a:ext cx="822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ffffff"/>
                </a:solidFill>
                <a:latin typeface="Calibri"/>
              </a:rPr>
              <a:t>@critical</a:t>
            </a:r>
            <a:endParaRPr b="0" lang="fr-BE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3" name="Text 33"/>
          <p:cNvSpPr/>
          <p:nvPr/>
        </p:nvSpPr>
        <p:spPr>
          <a:xfrm>
            <a:off x="1234440" y="4681800"/>
            <a:ext cx="74977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Filtre par pathologie et période</a:t>
            </a:r>
            <a:endParaRPr b="0" lang="fr-BE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4" name="Shape 0"/>
          <p:cNvSpPr/>
          <p:nvPr/>
        </p:nvSpPr>
        <p:spPr>
          <a:xfrm>
            <a:off x="0" y="0"/>
            <a:ext cx="9143640" cy="548280"/>
          </a:xfrm>
          <a:prstGeom prst="rect">
            <a:avLst/>
          </a:prstGeom>
          <a:solidFill>
            <a:srgbClr val="1a527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5" name="Text 1"/>
          <p:cNvSpPr/>
          <p:nvPr/>
        </p:nvSpPr>
        <p:spPr>
          <a:xfrm>
            <a:off x="274320" y="0"/>
            <a:ext cx="85950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🥒  </a:t>
            </a: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UC-08 · Scénario nominal — Gherkin / Cucumber</a:t>
            </a:r>
            <a:endParaRPr b="0" lang="fr-BE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6" name="Shape 2"/>
          <p:cNvSpPr/>
          <p:nvPr/>
        </p:nvSpPr>
        <p:spPr>
          <a:xfrm>
            <a:off x="228600" y="658440"/>
            <a:ext cx="8686440" cy="41144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7" name="Shape 3"/>
          <p:cNvSpPr/>
          <p:nvPr/>
        </p:nvSpPr>
        <p:spPr>
          <a:xfrm>
            <a:off x="228600" y="658440"/>
            <a:ext cx="8686440" cy="328680"/>
          </a:xfrm>
          <a:prstGeom prst="rect">
            <a:avLst/>
          </a:prstGeom>
          <a:solidFill>
            <a:srgbClr val="21262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8" name="Shape 4"/>
          <p:cNvSpPr/>
          <p:nvPr/>
        </p:nvSpPr>
        <p:spPr>
          <a:xfrm>
            <a:off x="457200" y="749880"/>
            <a:ext cx="145800" cy="14580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9" name="Shape 5"/>
          <p:cNvSpPr/>
          <p:nvPr/>
        </p:nvSpPr>
        <p:spPr>
          <a:xfrm>
            <a:off x="713160" y="749880"/>
            <a:ext cx="145800" cy="14580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0" name="Shape 6"/>
          <p:cNvSpPr/>
          <p:nvPr/>
        </p:nvSpPr>
        <p:spPr>
          <a:xfrm>
            <a:off x="969120" y="749880"/>
            <a:ext cx="145800" cy="14580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1" name="Text 7"/>
          <p:cNvSpPr/>
          <p:nvPr/>
        </p:nvSpPr>
        <p:spPr>
          <a:xfrm>
            <a:off x="1371600" y="658440"/>
            <a:ext cx="64004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8b949e"/>
                </a:solidFill>
                <a:latin typeface="Calibri"/>
              </a:rPr>
              <a:t>src/test/resources/features/analytics/dashboard.feature</a:t>
            </a:r>
            <a:endParaRPr b="0" lang="fr-BE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2" name="Text 8"/>
          <p:cNvSpPr/>
          <p:nvPr/>
        </p:nvSpPr>
        <p:spPr>
          <a:xfrm>
            <a:off x="365760" y="1078920"/>
            <a:ext cx="8412120" cy="14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Feature: Tableaux de Bord Analytics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3" name="Text 9"/>
          <p:cNvSpPr/>
          <p:nvPr/>
        </p:nvSpPr>
        <p:spPr>
          <a:xfrm>
            <a:off x="365760" y="1227600"/>
            <a:ext cx="8412120" cy="14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edf3"/>
                </a:solidFill>
                <a:latin typeface="Courier New"/>
                <a:ea typeface="Courier New"/>
              </a:rPr>
              <a:t>  </a:t>
            </a:r>
            <a:r>
              <a:rPr b="0" lang="en-US" sz="950" spc="-1" strike="noStrike">
                <a:solidFill>
                  <a:srgbClr val="e6edf3"/>
                </a:solidFill>
                <a:latin typeface="Courier New"/>
                <a:ea typeface="Courier New"/>
              </a:rPr>
              <a:t>En tant que directeur médical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4" name="Text 10"/>
          <p:cNvSpPr/>
          <p:nvPr/>
        </p:nvSpPr>
        <p:spPr>
          <a:xfrm>
            <a:off x="365760" y="1376280"/>
            <a:ext cx="8412120" cy="14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edf3"/>
                </a:solidFill>
                <a:latin typeface="Courier New"/>
                <a:ea typeface="Courier New"/>
              </a:rPr>
              <a:t>  </a:t>
            </a:r>
            <a:r>
              <a:rPr b="0" lang="en-US" sz="950" spc="-1" strike="noStrike">
                <a:solidFill>
                  <a:srgbClr val="e6edf3"/>
                </a:solidFill>
                <a:latin typeface="Courier New"/>
                <a:ea typeface="Courier New"/>
              </a:rPr>
              <a:t>Je veux visualiser les indicateurs de qualité de soins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5" name="Text 11"/>
          <p:cNvSpPr/>
          <p:nvPr/>
        </p:nvSpPr>
        <p:spPr>
          <a:xfrm>
            <a:off x="365760" y="1524600"/>
            <a:ext cx="8412120" cy="14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edf3"/>
                </a:solidFill>
                <a:latin typeface="Courier New"/>
                <a:ea typeface="Courier New"/>
              </a:rPr>
              <a:t>  </a:t>
            </a:r>
            <a:r>
              <a:rPr b="0" lang="en-US" sz="950" spc="-1" strike="noStrike">
                <a:solidFill>
                  <a:srgbClr val="e6edf3"/>
                </a:solidFill>
                <a:latin typeface="Courier New"/>
                <a:ea typeface="Courier New"/>
              </a:rPr>
              <a:t>Afin de piloter l'activité et améliorer les pratiques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6" name="Text 12"/>
          <p:cNvSpPr/>
          <p:nvPr/>
        </p:nvSpPr>
        <p:spPr>
          <a:xfrm>
            <a:off x="365760" y="1821960"/>
            <a:ext cx="8412120" cy="14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e3b341"/>
                </a:solidFill>
                <a:latin typeface="Courier New"/>
                <a:ea typeface="Courier New"/>
              </a:rPr>
              <a:t>  </a:t>
            </a:r>
            <a:r>
              <a:rPr b="1" lang="en-US" sz="950" spc="-1" strike="noStrike">
                <a:solidFill>
                  <a:srgbClr val="e3b341"/>
                </a:solidFill>
                <a:latin typeface="Courier New"/>
                <a:ea typeface="Courier New"/>
              </a:rPr>
              <a:t>Background: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7" name="Text 13"/>
          <p:cNvSpPr/>
          <p:nvPr/>
        </p:nvSpPr>
        <p:spPr>
          <a:xfrm>
            <a:off x="365760" y="1970640"/>
            <a:ext cx="8412120" cy="14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7ee787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7ee787"/>
                </a:solidFill>
                <a:latin typeface="Courier New"/>
                <a:ea typeface="Courier New"/>
              </a:rPr>
              <a:t>Given je suis connecté avec le rôle "ADMIN"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8" name="Text 14"/>
          <p:cNvSpPr/>
          <p:nvPr/>
        </p:nvSpPr>
        <p:spPr>
          <a:xfrm>
            <a:off x="365760" y="2118960"/>
            <a:ext cx="8412120" cy="14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And des données existent pour les 30 derniers jours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9" name="Text 15"/>
          <p:cNvSpPr/>
          <p:nvPr/>
        </p:nvSpPr>
        <p:spPr>
          <a:xfrm>
            <a:off x="365760" y="2416320"/>
            <a:ext cx="8412120" cy="14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f85149"/>
                </a:solidFill>
                <a:latin typeface="Courier New"/>
                <a:ea typeface="Courier New"/>
              </a:rPr>
              <a:t>  </a:t>
            </a:r>
            <a:r>
              <a:rPr b="1" lang="en-US" sz="950" spc="-1" strike="noStrike">
                <a:solidFill>
                  <a:srgbClr val="f85149"/>
                </a:solidFill>
                <a:latin typeface="Courier New"/>
                <a:ea typeface="Courier New"/>
              </a:rPr>
              <a:t>@smoke @UC-08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0" name="Text 16"/>
          <p:cNvSpPr/>
          <p:nvPr/>
        </p:nvSpPr>
        <p:spPr>
          <a:xfrm>
            <a:off x="365760" y="2565000"/>
            <a:ext cx="8412120" cy="14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79c0ff"/>
                </a:solidFill>
                <a:latin typeface="Courier New"/>
                <a:ea typeface="Courier New"/>
              </a:rPr>
              <a:t>  </a:t>
            </a:r>
            <a:r>
              <a:rPr b="1" lang="en-US" sz="950" spc="-1" strike="noStrike">
                <a:solidFill>
                  <a:srgbClr val="79c0ff"/>
                </a:solidFill>
                <a:latin typeface="Courier New"/>
                <a:ea typeface="Courier New"/>
              </a:rPr>
              <a:t>Scenario: Affichage du dashboard opérationnel temps réel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1" name="Text 17"/>
          <p:cNvSpPr/>
          <p:nvPr/>
        </p:nvSpPr>
        <p:spPr>
          <a:xfrm>
            <a:off x="365760" y="2713320"/>
            <a:ext cx="8412120" cy="14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56d364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56d364"/>
                </a:solidFill>
                <a:latin typeface="Courier New"/>
                <a:ea typeface="Courier New"/>
              </a:rPr>
              <a:t>When je navigue vers "Tableau de bord &gt; Opérationnel"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2" name="Text 18"/>
          <p:cNvSpPr/>
          <p:nvPr/>
        </p:nvSpPr>
        <p:spPr>
          <a:xfrm>
            <a:off x="365760" y="2862000"/>
            <a:ext cx="8412120" cy="14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79c0ff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79c0ff"/>
                </a:solidFill>
                <a:latin typeface="Courier New"/>
                <a:ea typeface="Courier New"/>
              </a:rPr>
              <a:t>Then je vois le nombre de patients actifs aujourd'hui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3" name="Text 19"/>
          <p:cNvSpPr/>
          <p:nvPr/>
        </p:nvSpPr>
        <p:spPr>
          <a:xfrm>
            <a:off x="365760" y="3010680"/>
            <a:ext cx="8412120" cy="14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And je vois les alertes non acquittées des dernières 24h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4" name="Text 20"/>
          <p:cNvSpPr/>
          <p:nvPr/>
        </p:nvSpPr>
        <p:spPr>
          <a:xfrm>
            <a:off x="365760" y="3159360"/>
            <a:ext cx="8412120" cy="14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And je vois la charge de travail par professionnel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5" name="Text 21"/>
          <p:cNvSpPr/>
          <p:nvPr/>
        </p:nvSpPr>
        <p:spPr>
          <a:xfrm>
            <a:off x="365760" y="3307680"/>
            <a:ext cx="8412120" cy="14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And les données sont rafraîchies toutes les 30 secondes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6" name="Text 22"/>
          <p:cNvSpPr/>
          <p:nvPr/>
        </p:nvSpPr>
        <p:spPr>
          <a:xfrm>
            <a:off x="365760" y="3605040"/>
            <a:ext cx="8412120" cy="14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f85149"/>
                </a:solidFill>
                <a:latin typeface="Courier New"/>
                <a:ea typeface="Courier New"/>
              </a:rPr>
              <a:t>  </a:t>
            </a:r>
            <a:r>
              <a:rPr b="1" lang="en-US" sz="950" spc="-1" strike="noStrike">
                <a:solidFill>
                  <a:srgbClr val="f85149"/>
                </a:solidFill>
                <a:latin typeface="Courier New"/>
                <a:ea typeface="Courier New"/>
              </a:rPr>
              <a:t>@smoke @UC-08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7" name="Text 23"/>
          <p:cNvSpPr/>
          <p:nvPr/>
        </p:nvSpPr>
        <p:spPr>
          <a:xfrm>
            <a:off x="365760" y="3753720"/>
            <a:ext cx="8412120" cy="14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79c0ff"/>
                </a:solidFill>
                <a:latin typeface="Courier New"/>
                <a:ea typeface="Courier New"/>
              </a:rPr>
              <a:t>  </a:t>
            </a:r>
            <a:r>
              <a:rPr b="1" lang="en-US" sz="950" spc="-1" strike="noStrike">
                <a:solidFill>
                  <a:srgbClr val="79c0ff"/>
                </a:solidFill>
                <a:latin typeface="Courier New"/>
                <a:ea typeface="Courier New"/>
              </a:rPr>
              <a:t>Scenario: Calcul du taux d'observance sur 30 jours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8" name="Text 24"/>
          <p:cNvSpPr/>
          <p:nvPr/>
        </p:nvSpPr>
        <p:spPr>
          <a:xfrm>
            <a:off x="365760" y="3902040"/>
            <a:ext cx="8412120" cy="14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56d364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56d364"/>
                </a:solidFill>
                <a:latin typeface="Courier New"/>
                <a:ea typeface="Courier New"/>
              </a:rPr>
              <a:t>When je sélectionne "Rapport Mensuel" pour le mois en cours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9" name="Text 25"/>
          <p:cNvSpPr/>
          <p:nvPr/>
        </p:nvSpPr>
        <p:spPr>
          <a:xfrm>
            <a:off x="365760" y="4050720"/>
            <a:ext cx="8412120" cy="14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And je filtre par pathologie "Diabète type 2"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0" name="Text 26"/>
          <p:cNvSpPr/>
          <p:nvPr/>
        </p:nvSpPr>
        <p:spPr>
          <a:xfrm>
            <a:off x="365760" y="4199400"/>
            <a:ext cx="8412120" cy="14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79c0ff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79c0ff"/>
                </a:solidFill>
                <a:latin typeface="Courier New"/>
                <a:ea typeface="Courier New"/>
              </a:rPr>
              <a:t>Then le taux d'observance global est affiché en pourcentage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1" name="Text 27"/>
          <p:cNvSpPr/>
          <p:nvPr/>
        </p:nvSpPr>
        <p:spPr>
          <a:xfrm>
            <a:off x="365760" y="4348080"/>
            <a:ext cx="8412120" cy="14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And le graphique d'évolution sur 12 mois est visible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2" name="Text 28"/>
          <p:cNvSpPr/>
          <p:nvPr/>
        </p:nvSpPr>
        <p:spPr>
          <a:xfrm>
            <a:off x="365760" y="4496400"/>
            <a:ext cx="8412120" cy="14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    </a:t>
            </a:r>
            <a:r>
              <a:rPr b="0" lang="en-US" sz="950" spc="-1" strike="noStrike">
                <a:solidFill>
                  <a:srgbClr val="d2a8ff"/>
                </a:solidFill>
                <a:latin typeface="Courier New"/>
                <a:ea typeface="Courier New"/>
              </a:rPr>
              <a:t>And les patients avec observance &lt; 70% sont mis en évidence</a:t>
            </a:r>
            <a:endParaRPr b="0" lang="fr-BE" sz="9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Shape 0"/>
          <p:cNvSpPr/>
          <p:nvPr/>
        </p:nvSpPr>
        <p:spPr>
          <a:xfrm>
            <a:off x="0" y="0"/>
            <a:ext cx="9143640" cy="548280"/>
          </a:xfrm>
          <a:prstGeom prst="rect">
            <a:avLst/>
          </a:prstGeom>
          <a:solidFill>
            <a:srgbClr val="3a3a5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4" name="Text 1"/>
          <p:cNvSpPr/>
          <p:nvPr/>
        </p:nvSpPr>
        <p:spPr>
          <a:xfrm>
            <a:off x="274320" y="0"/>
            <a:ext cx="85950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⚡  </a:t>
            </a: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UC-08 · Scénarios alternatifs &amp; cas d'erreur</a:t>
            </a:r>
            <a:endParaRPr b="0" lang="fr-BE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5" name="Shape 2"/>
          <p:cNvSpPr/>
          <p:nvPr/>
        </p:nvSpPr>
        <p:spPr>
          <a:xfrm>
            <a:off x="228600" y="658440"/>
            <a:ext cx="4297320" cy="41144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6" name="Shape 3"/>
          <p:cNvSpPr/>
          <p:nvPr/>
        </p:nvSpPr>
        <p:spPr>
          <a:xfrm>
            <a:off x="228600" y="658440"/>
            <a:ext cx="4297320" cy="292320"/>
          </a:xfrm>
          <a:prstGeom prst="rect">
            <a:avLst/>
          </a:prstGeom>
          <a:solidFill>
            <a:srgbClr val="21262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7" name="Shape 4"/>
          <p:cNvSpPr/>
          <p:nvPr/>
        </p:nvSpPr>
        <p:spPr>
          <a:xfrm>
            <a:off x="411480" y="731520"/>
            <a:ext cx="127800" cy="12780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8" name="Shape 5"/>
          <p:cNvSpPr/>
          <p:nvPr/>
        </p:nvSpPr>
        <p:spPr>
          <a:xfrm>
            <a:off x="621720" y="731520"/>
            <a:ext cx="127800" cy="12780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9" name="Shape 6"/>
          <p:cNvSpPr/>
          <p:nvPr/>
        </p:nvSpPr>
        <p:spPr>
          <a:xfrm>
            <a:off x="831960" y="731520"/>
            <a:ext cx="127800" cy="12780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0" name="Text 7"/>
          <p:cNvSpPr/>
          <p:nvPr/>
        </p:nvSpPr>
        <p:spPr>
          <a:xfrm>
            <a:off x="365760" y="102420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85149"/>
                </a:solidFill>
                <a:latin typeface="Courier New"/>
                <a:ea typeface="Courier New"/>
              </a:rPr>
              <a:t>  </a:t>
            </a:r>
            <a:r>
              <a:rPr b="1" lang="en-US" sz="850" spc="-1" strike="noStrike">
                <a:solidFill>
                  <a:srgbClr val="f85149"/>
                </a:solidFill>
                <a:latin typeface="Courier New"/>
                <a:ea typeface="Courier New"/>
              </a:rPr>
              <a:t>@critical @UC-08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1" name="Text 8"/>
          <p:cNvSpPr/>
          <p:nvPr/>
        </p:nvSpPr>
        <p:spPr>
          <a:xfrm>
            <a:off x="365760" y="122544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79c0ff"/>
                </a:solidFill>
                <a:latin typeface="Courier New"/>
                <a:ea typeface="Courier New"/>
              </a:rPr>
              <a:t>  </a:t>
            </a:r>
            <a:r>
              <a:rPr b="1" lang="en-US" sz="850" spc="-1" strike="noStrike">
                <a:solidFill>
                  <a:srgbClr val="79c0ff"/>
                </a:solidFill>
                <a:latin typeface="Courier New"/>
                <a:ea typeface="Courier New"/>
              </a:rPr>
              <a:t>Scenario: Filtrage multi-critères du dashboard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2" name="Text 9"/>
          <p:cNvSpPr/>
          <p:nvPr/>
        </p:nvSpPr>
        <p:spPr>
          <a:xfrm>
            <a:off x="365760" y="142632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56d364"/>
                </a:solidFill>
                <a:latin typeface="Courier New"/>
                <a:ea typeface="Courier New"/>
              </a:rPr>
              <a:t>    </a:t>
            </a:r>
            <a:r>
              <a:rPr b="0" lang="en-US" sz="850" spc="-1" strike="noStrike">
                <a:solidFill>
                  <a:srgbClr val="56d364"/>
                </a:solidFill>
                <a:latin typeface="Courier New"/>
                <a:ea typeface="Courier New"/>
              </a:rPr>
              <a:t>When je filtre par pathologie "Insuffisance cardiaque"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3" name="Text 10"/>
          <p:cNvSpPr/>
          <p:nvPr/>
        </p:nvSpPr>
        <p:spPr>
          <a:xfrm>
            <a:off x="365760" y="162756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d2a8ff"/>
                </a:solidFill>
                <a:latin typeface="Courier New"/>
                <a:ea typeface="Courier New"/>
              </a:rPr>
              <a:t>    </a:t>
            </a:r>
            <a:r>
              <a:rPr b="0" lang="en-US" sz="850" spc="-1" strike="noStrike">
                <a:solidFill>
                  <a:srgbClr val="d2a8ff"/>
                </a:solidFill>
                <a:latin typeface="Courier New"/>
                <a:ea typeface="Courier New"/>
              </a:rPr>
              <a:t>And je filtre par période "Janvier 2025 - Mars 2025"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4" name="Text 11"/>
          <p:cNvSpPr/>
          <p:nvPr/>
        </p:nvSpPr>
        <p:spPr>
          <a:xfrm>
            <a:off x="365760" y="182880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79c0ff"/>
                </a:solidFill>
                <a:latin typeface="Courier New"/>
                <a:ea typeface="Courier New"/>
              </a:rPr>
              <a:t>    </a:t>
            </a:r>
            <a:r>
              <a:rPr b="0" lang="en-US" sz="850" spc="-1" strike="noStrike">
                <a:solidFill>
                  <a:srgbClr val="79c0ff"/>
                </a:solidFill>
                <a:latin typeface="Courier New"/>
                <a:ea typeface="Courier New"/>
              </a:rPr>
              <a:t>Then seuls les patients correspondants sont inclus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5" name="Text 12"/>
          <p:cNvSpPr/>
          <p:nvPr/>
        </p:nvSpPr>
        <p:spPr>
          <a:xfrm>
            <a:off x="365760" y="203004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d2a8ff"/>
                </a:solidFill>
                <a:latin typeface="Courier New"/>
                <a:ea typeface="Courier New"/>
              </a:rPr>
              <a:t>    </a:t>
            </a:r>
            <a:r>
              <a:rPr b="0" lang="en-US" sz="850" spc="-1" strike="noStrike">
                <a:solidFill>
                  <a:srgbClr val="d2a8ff"/>
                </a:solidFill>
                <a:latin typeface="Courier New"/>
                <a:ea typeface="Courier New"/>
              </a:rPr>
              <a:t>And les KPIs sont recalculés dynamiquement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6" name="Shape 13"/>
          <p:cNvSpPr/>
          <p:nvPr/>
        </p:nvSpPr>
        <p:spPr>
          <a:xfrm>
            <a:off x="4709160" y="658440"/>
            <a:ext cx="4297320" cy="41144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7" name="Shape 14"/>
          <p:cNvSpPr/>
          <p:nvPr/>
        </p:nvSpPr>
        <p:spPr>
          <a:xfrm>
            <a:off x="4709160" y="658440"/>
            <a:ext cx="4297320" cy="292320"/>
          </a:xfrm>
          <a:prstGeom prst="rect">
            <a:avLst/>
          </a:prstGeom>
          <a:solidFill>
            <a:srgbClr val="21262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8" name="Shape 15"/>
          <p:cNvSpPr/>
          <p:nvPr/>
        </p:nvSpPr>
        <p:spPr>
          <a:xfrm>
            <a:off x="4892040" y="731520"/>
            <a:ext cx="127800" cy="12780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9" name="Shape 16"/>
          <p:cNvSpPr/>
          <p:nvPr/>
        </p:nvSpPr>
        <p:spPr>
          <a:xfrm>
            <a:off x="5102280" y="731520"/>
            <a:ext cx="127800" cy="12780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0" name="Shape 17"/>
          <p:cNvSpPr/>
          <p:nvPr/>
        </p:nvSpPr>
        <p:spPr>
          <a:xfrm>
            <a:off x="5312520" y="731520"/>
            <a:ext cx="127800" cy="12780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1" name="Text 18"/>
          <p:cNvSpPr/>
          <p:nvPr/>
        </p:nvSpPr>
        <p:spPr>
          <a:xfrm>
            <a:off x="4846320" y="102420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85149"/>
                </a:solidFill>
                <a:latin typeface="Courier New"/>
                <a:ea typeface="Courier New"/>
              </a:rPr>
              <a:t>  </a:t>
            </a:r>
            <a:r>
              <a:rPr b="1" lang="en-US" sz="850" spc="-1" strike="noStrike">
                <a:solidFill>
                  <a:srgbClr val="f85149"/>
                </a:solidFill>
                <a:latin typeface="Courier New"/>
                <a:ea typeface="Courier New"/>
              </a:rPr>
              <a:t>@regression @UC-08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2" name="Text 19"/>
          <p:cNvSpPr/>
          <p:nvPr/>
        </p:nvSpPr>
        <p:spPr>
          <a:xfrm>
            <a:off x="4846320" y="122544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79c0ff"/>
                </a:solidFill>
                <a:latin typeface="Courier New"/>
                <a:ea typeface="Courier New"/>
              </a:rPr>
              <a:t>  </a:t>
            </a:r>
            <a:r>
              <a:rPr b="1" lang="en-US" sz="850" spc="-1" strike="noStrike">
                <a:solidFill>
                  <a:srgbClr val="79c0ff"/>
                </a:solidFill>
                <a:latin typeface="Courier New"/>
                <a:ea typeface="Courier New"/>
              </a:rPr>
              <a:t>Scenario: Export rapport PDF indicateurs IPAQSS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3" name="Text 20"/>
          <p:cNvSpPr/>
          <p:nvPr/>
        </p:nvSpPr>
        <p:spPr>
          <a:xfrm>
            <a:off x="4846320" y="142632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7ee787"/>
                </a:solidFill>
                <a:latin typeface="Courier New"/>
                <a:ea typeface="Courier New"/>
              </a:rPr>
              <a:t>    </a:t>
            </a:r>
            <a:r>
              <a:rPr b="0" lang="en-US" sz="850" spc="-1" strike="noStrike">
                <a:solidFill>
                  <a:srgbClr val="7ee787"/>
                </a:solidFill>
                <a:latin typeface="Courier New"/>
                <a:ea typeface="Courier New"/>
              </a:rPr>
              <a:t>Given le rapport mensuel Mars 2025 est disponible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4" name="Text 21"/>
          <p:cNvSpPr/>
          <p:nvPr/>
        </p:nvSpPr>
        <p:spPr>
          <a:xfrm>
            <a:off x="4846320" y="162756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56d364"/>
                </a:solidFill>
                <a:latin typeface="Courier New"/>
                <a:ea typeface="Courier New"/>
              </a:rPr>
              <a:t>    </a:t>
            </a:r>
            <a:r>
              <a:rPr b="0" lang="en-US" sz="850" spc="-1" strike="noStrike">
                <a:solidFill>
                  <a:srgbClr val="56d364"/>
                </a:solidFill>
                <a:latin typeface="Courier New"/>
                <a:ea typeface="Courier New"/>
              </a:rPr>
              <a:t>When je clique sur "Exporter en PDF"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5" name="Text 22"/>
          <p:cNvSpPr/>
          <p:nvPr/>
        </p:nvSpPr>
        <p:spPr>
          <a:xfrm>
            <a:off x="4846320" y="182880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79c0ff"/>
                </a:solidFill>
                <a:latin typeface="Courier New"/>
                <a:ea typeface="Courier New"/>
              </a:rPr>
              <a:t>    </a:t>
            </a:r>
            <a:r>
              <a:rPr b="0" lang="en-US" sz="850" spc="-1" strike="noStrike">
                <a:solidFill>
                  <a:srgbClr val="79c0ff"/>
                </a:solidFill>
                <a:latin typeface="Courier New"/>
                <a:ea typeface="Courier New"/>
              </a:rPr>
              <a:t>Then un fichier PDF est généré avec les indicateurs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6" name="Text 23"/>
          <p:cNvSpPr/>
          <p:nvPr/>
        </p:nvSpPr>
        <p:spPr>
          <a:xfrm>
            <a:off x="4846320" y="203004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d2a8ff"/>
                </a:solidFill>
                <a:latin typeface="Courier New"/>
                <a:ea typeface="Courier New"/>
              </a:rPr>
              <a:t>    </a:t>
            </a:r>
            <a:r>
              <a:rPr b="0" lang="en-US" sz="850" spc="-1" strike="noStrike">
                <a:solidFill>
                  <a:srgbClr val="d2a8ff"/>
                </a:solidFill>
                <a:latin typeface="Courier New"/>
                <a:ea typeface="Courier New"/>
              </a:rPr>
              <a:t>And il contient le logo CareSync et la date d'export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7" name="Text 24"/>
          <p:cNvSpPr/>
          <p:nvPr/>
        </p:nvSpPr>
        <p:spPr>
          <a:xfrm>
            <a:off x="4846320" y="2231280"/>
            <a:ext cx="4023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d2a8ff"/>
                </a:solidFill>
                <a:latin typeface="Courier New"/>
                <a:ea typeface="Courier New"/>
              </a:rPr>
              <a:t>    </a:t>
            </a:r>
            <a:r>
              <a:rPr b="0" lang="en-US" sz="850" spc="-1" strike="noStrike">
                <a:solidFill>
                  <a:srgbClr val="d2a8ff"/>
                </a:solidFill>
                <a:latin typeface="Courier New"/>
                <a:ea typeface="Courier New"/>
              </a:rPr>
              <a:t>And le téléchargement démarre automatiquement</a:t>
            </a:r>
            <a:endParaRPr b="0" lang="fr-BE" sz="8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2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Shape 0"/>
          <p:cNvSpPr/>
          <p:nvPr/>
        </p:nvSpPr>
        <p:spPr>
          <a:xfrm>
            <a:off x="0" y="0"/>
            <a:ext cx="9143640" cy="72720"/>
          </a:xfrm>
          <a:prstGeom prst="rect">
            <a:avLst/>
          </a:prstGeom>
          <a:solidFill>
            <a:srgbClr val="02c39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9" name="Shape 1"/>
          <p:cNvSpPr/>
          <p:nvPr/>
        </p:nvSpPr>
        <p:spPr>
          <a:xfrm>
            <a:off x="0" y="5070240"/>
            <a:ext cx="9143640" cy="72720"/>
          </a:xfrm>
          <a:prstGeom prst="rect">
            <a:avLst/>
          </a:prstGeom>
          <a:solidFill>
            <a:srgbClr val="0e7c7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0" name="Text 2"/>
          <p:cNvSpPr/>
          <p:nvPr/>
        </p:nvSpPr>
        <p:spPr>
          <a:xfrm>
            <a:off x="731520" y="548640"/>
            <a:ext cx="76806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5000" spc="-1" strike="noStrike">
                <a:solidFill>
                  <a:srgbClr val="ffffff"/>
                </a:solidFill>
                <a:latin typeface="Calibri"/>
                <a:ea typeface="Calibri"/>
              </a:rPr>
              <a:t>CareSync</a:t>
            </a:r>
            <a:endParaRPr b="0" lang="fr-BE" sz="5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1" name="Text 3"/>
          <p:cNvSpPr/>
          <p:nvPr/>
        </p:nvSpPr>
        <p:spPr>
          <a:xfrm>
            <a:off x="731520" y="1463040"/>
            <a:ext cx="76806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a0c8e0"/>
                </a:solidFill>
                <a:latin typeface="Calibri"/>
              </a:rPr>
              <a:t>8 Use Cases · 32 Scénarios BDD · Stack Java 21 / Angular 18</a:t>
            </a:r>
            <a:endParaRPr b="0" lang="fr-BE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2" name="Shape 4"/>
          <p:cNvSpPr/>
          <p:nvPr/>
        </p:nvSpPr>
        <p:spPr>
          <a:xfrm>
            <a:off x="731520" y="2057400"/>
            <a:ext cx="1828440" cy="1371240"/>
          </a:xfrm>
          <a:prstGeom prst="rect">
            <a:avLst/>
          </a:prstGeom>
          <a:solidFill>
            <a:srgbClr val="132030"/>
          </a:solidFill>
          <a:ln w="12700">
            <a:solidFill>
              <a:srgbClr val="0e7c7b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3" name="Text 5"/>
          <p:cNvSpPr/>
          <p:nvPr/>
        </p:nvSpPr>
        <p:spPr>
          <a:xfrm>
            <a:off x="731520" y="2103120"/>
            <a:ext cx="18284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200" spc="-1" strike="noStrike">
                <a:solidFill>
                  <a:srgbClr val="02c39a"/>
                </a:solidFill>
                <a:latin typeface="Calibri"/>
              </a:rPr>
              <a:t>8</a:t>
            </a:r>
            <a:endParaRPr b="0" lang="fr-BE" sz="4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4" name="Text 6"/>
          <p:cNvSpPr/>
          <p:nvPr/>
        </p:nvSpPr>
        <p:spPr>
          <a:xfrm>
            <a:off x="731520" y="2834640"/>
            <a:ext cx="18284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7eb8c8"/>
                </a:solidFill>
                <a:latin typeface="Calibri"/>
              </a:rPr>
              <a:t>Use Cases</a:t>
            </a:r>
            <a:endParaRPr b="0" lang="fr-BE" sz="10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7eb8c8"/>
                </a:solidFill>
                <a:latin typeface="Calibri"/>
              </a:rPr>
              <a:t>détaillés</a:t>
            </a:r>
            <a:endParaRPr b="0" lang="fr-BE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5" name="Shape 7"/>
          <p:cNvSpPr/>
          <p:nvPr/>
        </p:nvSpPr>
        <p:spPr>
          <a:xfrm>
            <a:off x="2743200" y="2057400"/>
            <a:ext cx="1828440" cy="1371240"/>
          </a:xfrm>
          <a:prstGeom prst="rect">
            <a:avLst/>
          </a:prstGeom>
          <a:solidFill>
            <a:srgbClr val="132030"/>
          </a:solidFill>
          <a:ln w="12700">
            <a:solidFill>
              <a:srgbClr val="0e7c7b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6" name="Text 8"/>
          <p:cNvSpPr/>
          <p:nvPr/>
        </p:nvSpPr>
        <p:spPr>
          <a:xfrm>
            <a:off x="2743200" y="2103120"/>
            <a:ext cx="18284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200" spc="-1" strike="noStrike">
                <a:solidFill>
                  <a:srgbClr val="02c39a"/>
                </a:solidFill>
                <a:latin typeface="Calibri"/>
              </a:rPr>
              <a:t>32</a:t>
            </a:r>
            <a:endParaRPr b="0" lang="fr-BE" sz="4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7" name="Text 9"/>
          <p:cNvSpPr/>
          <p:nvPr/>
        </p:nvSpPr>
        <p:spPr>
          <a:xfrm>
            <a:off x="2743200" y="2834640"/>
            <a:ext cx="18284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7eb8c8"/>
                </a:solidFill>
                <a:latin typeface="Calibri"/>
              </a:rPr>
              <a:t>Scénarios</a:t>
            </a:r>
            <a:endParaRPr b="0" lang="fr-BE" sz="10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7eb8c8"/>
                </a:solidFill>
                <a:latin typeface="Calibri"/>
              </a:rPr>
              <a:t>Gherkin</a:t>
            </a:r>
            <a:endParaRPr b="0" lang="fr-BE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8" name="Shape 10"/>
          <p:cNvSpPr/>
          <p:nvPr/>
        </p:nvSpPr>
        <p:spPr>
          <a:xfrm>
            <a:off x="4754880" y="2057400"/>
            <a:ext cx="1828440" cy="1371240"/>
          </a:xfrm>
          <a:prstGeom prst="rect">
            <a:avLst/>
          </a:prstGeom>
          <a:solidFill>
            <a:srgbClr val="132030"/>
          </a:solidFill>
          <a:ln w="12700">
            <a:solidFill>
              <a:srgbClr val="0e7c7b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9" name="Text 11"/>
          <p:cNvSpPr/>
          <p:nvPr/>
        </p:nvSpPr>
        <p:spPr>
          <a:xfrm>
            <a:off x="4754880" y="2103120"/>
            <a:ext cx="18284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200" spc="-1" strike="noStrike">
                <a:solidFill>
                  <a:srgbClr val="02c39a"/>
                </a:solidFill>
                <a:latin typeface="Calibri"/>
              </a:rPr>
              <a:t>3</a:t>
            </a:r>
            <a:endParaRPr b="0" lang="fr-BE" sz="4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0" name="Text 12"/>
          <p:cNvSpPr/>
          <p:nvPr/>
        </p:nvSpPr>
        <p:spPr>
          <a:xfrm>
            <a:off x="4754880" y="2834640"/>
            <a:ext cx="18284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7eb8c8"/>
                </a:solidFill>
                <a:latin typeface="Calibri"/>
              </a:rPr>
              <a:t>Tags de</a:t>
            </a:r>
            <a:endParaRPr b="0" lang="fr-BE" sz="10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7eb8c8"/>
                </a:solidFill>
                <a:latin typeface="Calibri"/>
              </a:rPr>
              <a:t>priorité</a:t>
            </a:r>
            <a:endParaRPr b="0" lang="fr-BE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1" name="Shape 13"/>
          <p:cNvSpPr/>
          <p:nvPr/>
        </p:nvSpPr>
        <p:spPr>
          <a:xfrm>
            <a:off x="6766560" y="2057400"/>
            <a:ext cx="1828440" cy="1371240"/>
          </a:xfrm>
          <a:prstGeom prst="rect">
            <a:avLst/>
          </a:prstGeom>
          <a:solidFill>
            <a:srgbClr val="132030"/>
          </a:solidFill>
          <a:ln w="12700">
            <a:solidFill>
              <a:srgbClr val="0e7c7b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2" name="Text 14"/>
          <p:cNvSpPr/>
          <p:nvPr/>
        </p:nvSpPr>
        <p:spPr>
          <a:xfrm>
            <a:off x="6766560" y="2103120"/>
            <a:ext cx="18284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200" spc="-1" strike="noStrike">
                <a:solidFill>
                  <a:srgbClr val="02c39a"/>
                </a:solidFill>
                <a:latin typeface="Calibri"/>
              </a:rPr>
              <a:t>16</a:t>
            </a:r>
            <a:endParaRPr b="0" lang="fr-BE" sz="4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3" name="Text 15"/>
          <p:cNvSpPr/>
          <p:nvPr/>
        </p:nvSpPr>
        <p:spPr>
          <a:xfrm>
            <a:off x="6766560" y="2834640"/>
            <a:ext cx="18284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7eb8c8"/>
                </a:solidFill>
                <a:latin typeface="Calibri"/>
              </a:rPr>
              <a:t>Feature</a:t>
            </a:r>
            <a:endParaRPr b="0" lang="fr-BE" sz="10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7eb8c8"/>
                </a:solidFill>
                <a:latin typeface="Calibri"/>
              </a:rPr>
              <a:t>Files</a:t>
            </a:r>
            <a:endParaRPr b="0" lang="fr-BE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4" name="Text 16"/>
          <p:cNvSpPr/>
          <p:nvPr/>
        </p:nvSpPr>
        <p:spPr>
          <a:xfrm>
            <a:off x="731520" y="3703320"/>
            <a:ext cx="76806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60a8c0"/>
                </a:solidFill>
                <a:latin typeface="Calibri"/>
              </a:rPr>
              <a:t>Prochaine étape : implémentation des Step Definitions Java + Testcontainers</a:t>
            </a:r>
            <a:endParaRPr b="0" lang="fr-BE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5" name="Shape 17"/>
          <p:cNvSpPr/>
          <p:nvPr/>
        </p:nvSpPr>
        <p:spPr>
          <a:xfrm>
            <a:off x="2743200" y="4160520"/>
            <a:ext cx="3657240" cy="36360"/>
          </a:xfrm>
          <a:prstGeom prst="rect">
            <a:avLst/>
          </a:prstGeom>
          <a:solidFill>
            <a:srgbClr val="0e7c7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8280" bIns="-8280" anchor="t">
            <a:noAutofit/>
          </a:bodyPr>
          <a:p>
            <a:endParaRPr b="0" lang="fr-B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6" name="Text 18"/>
          <p:cNvSpPr/>
          <p:nvPr/>
        </p:nvSpPr>
        <p:spPr>
          <a:xfrm>
            <a:off x="457200" y="4434840"/>
            <a:ext cx="8229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3a6a7a"/>
                </a:solidFill>
                <a:latin typeface="Calibri"/>
              </a:rPr>
              <a:t>♥  </a:t>
            </a:r>
            <a:r>
              <a:rPr b="0" lang="en-US" sz="1100" spc="-1" strike="noStrike">
                <a:solidFill>
                  <a:srgbClr val="3a6a7a"/>
                </a:solidFill>
                <a:latin typeface="Calibri"/>
              </a:rPr>
              <a:t>CareSync — Coordination des Soins · v1.0</a:t>
            </a:r>
            <a:endParaRPr b="0" lang="fr-BE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</TotalTime>
  <Application>LibreOffice/24.2.7.2$Linux_X86_64 LibreOffice_project/420$Build-2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2026-04-24T07:04:18Z</dcterms:created>
  <dc:creator>CareSync Product Team</dc:creator>
  <dc:description/>
  <dc:language>fr-BE</dc:language>
  <cp:lastModifiedBy/>
  <dcterms:modified xsi:type="dcterms:W3CDTF">2026-06-08T14:52:19Z</dcterms:modified>
  <cp:revision>2</cp:revision>
  <dc:subject>PptxGenJS Presentation</dc:subject>
  <dc:title>CareSync — Use Cases &amp; BDD Cucumber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28</vt:i4>
  </property>
  <property fmtid="{D5CDD505-2E9C-101B-9397-08002B2CF9AE}" pid="3" name="PresentationFormat">
    <vt:lpwstr>On-screen Show (16:9)</vt:lpwstr>
  </property>
  <property fmtid="{D5CDD505-2E9C-101B-9397-08002B2CF9AE}" pid="4" name="Slides">
    <vt:i4>28</vt:i4>
  </property>
</Properties>
</file>